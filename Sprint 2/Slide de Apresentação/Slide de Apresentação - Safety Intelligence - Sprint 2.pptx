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8288000" cy="10287000"/>
  <p:notesSz cx="6858000" cy="9144000"/>
  <p:embeddedFontLst>
    <p:embeddedFont>
      <p:font typeface="Montserrat Bold" charset="1" panose="00000800000000000000"/>
      <p:regular r:id="rId37"/>
    </p:embeddedFont>
    <p:embeddedFont>
      <p:font typeface="Montserrat" charset="1" panose="00000500000000000000"/>
      <p:regular r:id="rId38"/>
    </p:embeddedFont>
    <p:embeddedFont>
      <p:font typeface="Open Sans Bold" charset="1" panose="020B0806030504020204"/>
      <p:regular r:id="rId39"/>
    </p:embeddedFont>
    <p:embeddedFont>
      <p:font typeface="Open Sans" charset="1" panose="020B0606030504020204"/>
      <p:regular r:id="rId40"/>
    </p:embeddedFont>
    <p:embeddedFont>
      <p:font typeface="Montserrat Italics" charset="1" panose="00000500000000000000"/>
      <p:regular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fonts/font37.fntdata" Type="http://schemas.openxmlformats.org/officeDocument/2006/relationships/font"/><Relationship Id="rId38" Target="fonts/font38.fntdata" Type="http://schemas.openxmlformats.org/officeDocument/2006/relationships/font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40" Target="fonts/font40.fntdata" Type="http://schemas.openxmlformats.org/officeDocument/2006/relationships/font"/><Relationship Id="rId41" Target="fonts/font41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3.jpeg" Type="http://schemas.openxmlformats.org/officeDocument/2006/relationships/image"/><Relationship Id="rId4" Target="../media/image4.jpeg" Type="http://schemas.openxmlformats.org/officeDocument/2006/relationships/image"/><Relationship Id="rId5" Target="../media/image5.jpeg" Type="http://schemas.openxmlformats.org/officeDocument/2006/relationships/image"/><Relationship Id="rId6" Target="../media/image6.jpeg" Type="http://schemas.openxmlformats.org/officeDocument/2006/relationships/image"/><Relationship Id="rId7" Target="../media/image7.jpeg" Type="http://schemas.openxmlformats.org/officeDocument/2006/relationships/image"/><Relationship Id="rId8" Target="../media/image8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pn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12.pn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1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1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16.pn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1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3.png" Type="http://schemas.openxmlformats.org/officeDocument/2006/relationships/image"/><Relationship Id="rId4" Target="../media/image24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26.png" Type="http://schemas.openxmlformats.org/officeDocument/2006/relationships/image"/><Relationship Id="rId4" Target="../media/image27.png" Type="http://schemas.openxmlformats.org/officeDocument/2006/relationships/image"/><Relationship Id="rId5" Target="../media/image8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8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9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7.svg" Type="http://schemas.openxmlformats.org/officeDocument/2006/relationships/image"/><Relationship Id="rId11" Target="../media/image38.png" Type="http://schemas.openxmlformats.org/officeDocument/2006/relationships/image"/><Relationship Id="rId12" Target="../media/image39.png" Type="http://schemas.openxmlformats.org/officeDocument/2006/relationships/image"/><Relationship Id="rId13" Target="../media/image40.png" Type="http://schemas.openxmlformats.org/officeDocument/2006/relationships/image"/><Relationship Id="rId14" Target="../media/image41.svg" Type="http://schemas.openxmlformats.org/officeDocument/2006/relationships/image"/><Relationship Id="rId15" Target="../media/image42.png" Type="http://schemas.openxmlformats.org/officeDocument/2006/relationships/image"/><Relationship Id="rId16" Target="../media/image43.png" Type="http://schemas.openxmlformats.org/officeDocument/2006/relationships/image"/><Relationship Id="rId17" Target="../media/image44.svg" Type="http://schemas.openxmlformats.org/officeDocument/2006/relationships/image"/><Relationship Id="rId18" Target="../media/image45.png" Type="http://schemas.openxmlformats.org/officeDocument/2006/relationships/image"/><Relationship Id="rId19" Target="../media/image46.png" Type="http://schemas.openxmlformats.org/officeDocument/2006/relationships/image"/><Relationship Id="rId2" Target="../media/image8.png" Type="http://schemas.openxmlformats.org/officeDocument/2006/relationships/image"/><Relationship Id="rId20" Target="../media/image47.svg" Type="http://schemas.openxmlformats.org/officeDocument/2006/relationships/image"/><Relationship Id="rId21" Target="../media/image48.png" Type="http://schemas.openxmlformats.org/officeDocument/2006/relationships/image"/><Relationship Id="rId22" Target="../media/image49.png" Type="http://schemas.openxmlformats.org/officeDocument/2006/relationships/image"/><Relationship Id="rId23" Target="../media/image50.svg" Type="http://schemas.openxmlformats.org/officeDocument/2006/relationships/image"/><Relationship Id="rId24" Target="../media/image51.png" Type="http://schemas.openxmlformats.org/officeDocument/2006/relationships/image"/><Relationship Id="rId25" Target="../media/image52.png" Type="http://schemas.openxmlformats.org/officeDocument/2006/relationships/image"/><Relationship Id="rId26" Target="../media/image53.png" Type="http://schemas.openxmlformats.org/officeDocument/2006/relationships/image"/><Relationship Id="rId27" Target="../media/image54.png" Type="http://schemas.openxmlformats.org/officeDocument/2006/relationships/image"/><Relationship Id="rId3" Target="../media/image30.pn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33.png" Type="http://schemas.openxmlformats.org/officeDocument/2006/relationships/image"/><Relationship Id="rId7" Target="../media/image34.png" Type="http://schemas.openxmlformats.org/officeDocument/2006/relationships/image"/><Relationship Id="rId8" Target="../media/image35.png" Type="http://schemas.openxmlformats.org/officeDocument/2006/relationships/image"/><Relationship Id="rId9" Target="../media/image36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5.jpeg" Type="http://schemas.openxmlformats.org/officeDocument/2006/relationships/image"/><Relationship Id="rId3" Target="../media/image8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56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7.png" Type="http://schemas.openxmlformats.org/officeDocument/2006/relationships/image"/><Relationship Id="rId3" Target="../media/image8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8.png" Type="http://schemas.openxmlformats.org/officeDocument/2006/relationships/image"/><Relationship Id="rId3" Target="../media/image8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9.png" Type="http://schemas.openxmlformats.org/officeDocument/2006/relationships/image"/><Relationship Id="rId3" Target="../media/image8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0.png" Type="http://schemas.openxmlformats.org/officeDocument/2006/relationships/image"/><Relationship Id="rId3" Target="../media/image8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61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62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63.png" Type="http://schemas.openxmlformats.org/officeDocument/2006/relationships/image"/><Relationship Id="rId4" Target="../media/image64.png" Type="http://schemas.openxmlformats.org/officeDocument/2006/relationships/image"/><Relationship Id="rId5" Target="../media/image65.png" Type="http://schemas.openxmlformats.org/officeDocument/2006/relationships/image"/><Relationship Id="rId6" Target="../media/image66.png" Type="http://schemas.openxmlformats.org/officeDocument/2006/relationships/image"/><Relationship Id="rId7" Target="../media/image67.png" Type="http://schemas.openxmlformats.org/officeDocument/2006/relationships/image"/><Relationship Id="rId8" Target="../media/image68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944399" y="0"/>
            <a:ext cx="13343601" cy="10287000"/>
            <a:chOff x="0" y="0"/>
            <a:chExt cx="2067273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67273" cy="1593725"/>
            </a:xfrm>
            <a:custGeom>
              <a:avLst/>
              <a:gdLst/>
              <a:ahLst/>
              <a:cxnLst/>
              <a:rect r="r" b="b" t="t" l="l"/>
              <a:pathLst>
                <a:path h="1593725" w="2067273">
                  <a:moveTo>
                    <a:pt x="0" y="0"/>
                  </a:moveTo>
                  <a:lnTo>
                    <a:pt x="2067273" y="0"/>
                  </a:lnTo>
                  <a:lnTo>
                    <a:pt x="2067273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14856" r="0" b="-14856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13041" y="4245478"/>
            <a:ext cx="2581173" cy="3542970"/>
            <a:chOff x="0" y="0"/>
            <a:chExt cx="550551" cy="75569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50551" cy="755697"/>
            </a:xfrm>
            <a:custGeom>
              <a:avLst/>
              <a:gdLst/>
              <a:ahLst/>
              <a:cxnLst/>
              <a:rect r="r" b="b" t="t" l="l"/>
              <a:pathLst>
                <a:path h="755697" w="550551">
                  <a:moveTo>
                    <a:pt x="0" y="0"/>
                  </a:moveTo>
                  <a:lnTo>
                    <a:pt x="550551" y="0"/>
                  </a:lnTo>
                  <a:lnTo>
                    <a:pt x="550551" y="755697"/>
                  </a:lnTo>
                  <a:lnTo>
                    <a:pt x="0" y="755697"/>
                  </a:lnTo>
                  <a:close/>
                </a:path>
              </a:pathLst>
            </a:custGeom>
            <a:blipFill>
              <a:blip r:embed="rId2"/>
              <a:stretch>
                <a:fillRect l="-7525" t="0" r="-7525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3508568" y="4245478"/>
            <a:ext cx="2581173" cy="3542970"/>
            <a:chOff x="0" y="0"/>
            <a:chExt cx="550551" cy="75569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50551" cy="755697"/>
            </a:xfrm>
            <a:custGeom>
              <a:avLst/>
              <a:gdLst/>
              <a:ahLst/>
              <a:cxnLst/>
              <a:rect r="r" b="b" t="t" l="l"/>
              <a:pathLst>
                <a:path h="755697" w="550551">
                  <a:moveTo>
                    <a:pt x="0" y="0"/>
                  </a:moveTo>
                  <a:lnTo>
                    <a:pt x="550551" y="0"/>
                  </a:lnTo>
                  <a:lnTo>
                    <a:pt x="550551" y="755697"/>
                  </a:lnTo>
                  <a:lnTo>
                    <a:pt x="0" y="755697"/>
                  </a:lnTo>
                  <a:close/>
                </a:path>
              </a:pathLst>
            </a:custGeom>
            <a:blipFill>
              <a:blip r:embed="rId3"/>
              <a:stretch>
                <a:fillRect l="-7525" t="0" r="-7525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6407645" y="4245478"/>
            <a:ext cx="2581173" cy="3542970"/>
            <a:chOff x="0" y="0"/>
            <a:chExt cx="550551" cy="75569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50551" cy="755697"/>
            </a:xfrm>
            <a:custGeom>
              <a:avLst/>
              <a:gdLst/>
              <a:ahLst/>
              <a:cxnLst/>
              <a:rect r="r" b="b" t="t" l="l"/>
              <a:pathLst>
                <a:path h="755697" w="550551">
                  <a:moveTo>
                    <a:pt x="0" y="0"/>
                  </a:moveTo>
                  <a:lnTo>
                    <a:pt x="550551" y="0"/>
                  </a:lnTo>
                  <a:lnTo>
                    <a:pt x="550551" y="755697"/>
                  </a:lnTo>
                  <a:lnTo>
                    <a:pt x="0" y="755697"/>
                  </a:lnTo>
                  <a:close/>
                </a:path>
              </a:pathLst>
            </a:custGeom>
            <a:blipFill>
              <a:blip r:embed="rId4"/>
              <a:stretch>
                <a:fillRect l="-7774" t="0" r="-7774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303172" y="4245478"/>
            <a:ext cx="2581173" cy="3542970"/>
            <a:chOff x="0" y="0"/>
            <a:chExt cx="550551" cy="7556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50551" cy="755697"/>
            </a:xfrm>
            <a:custGeom>
              <a:avLst/>
              <a:gdLst/>
              <a:ahLst/>
              <a:cxnLst/>
              <a:rect r="r" b="b" t="t" l="l"/>
              <a:pathLst>
                <a:path h="755697" w="550551">
                  <a:moveTo>
                    <a:pt x="0" y="0"/>
                  </a:moveTo>
                  <a:lnTo>
                    <a:pt x="550551" y="0"/>
                  </a:lnTo>
                  <a:lnTo>
                    <a:pt x="550551" y="755697"/>
                  </a:lnTo>
                  <a:lnTo>
                    <a:pt x="0" y="755697"/>
                  </a:lnTo>
                  <a:close/>
                </a:path>
              </a:pathLst>
            </a:custGeom>
            <a:blipFill>
              <a:blip r:embed="rId5"/>
              <a:stretch>
                <a:fillRect l="0" t="-1370" r="0" b="-137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3509751" y="7770570"/>
            <a:ext cx="2581173" cy="884412"/>
            <a:chOff x="0" y="0"/>
            <a:chExt cx="131217" cy="449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1217" cy="44960"/>
            </a:xfrm>
            <a:custGeom>
              <a:avLst/>
              <a:gdLst/>
              <a:ahLst/>
              <a:cxnLst/>
              <a:rect r="r" b="b" t="t" l="l"/>
              <a:pathLst>
                <a:path h="44960" w="131217">
                  <a:moveTo>
                    <a:pt x="0" y="0"/>
                  </a:moveTo>
                  <a:lnTo>
                    <a:pt x="131217" y="0"/>
                  </a:lnTo>
                  <a:lnTo>
                    <a:pt x="131217" y="44960"/>
                  </a:lnTo>
                  <a:lnTo>
                    <a:pt x="0" y="44960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31217" cy="83060"/>
            </a:xfrm>
            <a:prstGeom prst="rect">
              <a:avLst/>
            </a:prstGeom>
          </p:spPr>
          <p:txBody>
            <a:bodyPr anchor="ctr" rtlCol="false" tIns="362344" lIns="362344" bIns="362344" rIns="36234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13041" y="7770570"/>
            <a:ext cx="2581173" cy="884412"/>
            <a:chOff x="0" y="0"/>
            <a:chExt cx="131217" cy="449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1217" cy="44960"/>
            </a:xfrm>
            <a:custGeom>
              <a:avLst/>
              <a:gdLst/>
              <a:ahLst/>
              <a:cxnLst/>
              <a:rect r="r" b="b" t="t" l="l"/>
              <a:pathLst>
                <a:path h="44960" w="131217">
                  <a:moveTo>
                    <a:pt x="0" y="0"/>
                  </a:moveTo>
                  <a:lnTo>
                    <a:pt x="131217" y="0"/>
                  </a:lnTo>
                  <a:lnTo>
                    <a:pt x="131217" y="44960"/>
                  </a:lnTo>
                  <a:lnTo>
                    <a:pt x="0" y="44960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31217" cy="83060"/>
            </a:xfrm>
            <a:prstGeom prst="rect">
              <a:avLst/>
            </a:prstGeom>
          </p:spPr>
          <p:txBody>
            <a:bodyPr anchor="ctr" rtlCol="false" tIns="362344" lIns="362344" bIns="362344" rIns="36234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303172" y="7770570"/>
            <a:ext cx="2581173" cy="884412"/>
            <a:chOff x="0" y="0"/>
            <a:chExt cx="131217" cy="4496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31217" cy="44960"/>
            </a:xfrm>
            <a:custGeom>
              <a:avLst/>
              <a:gdLst/>
              <a:ahLst/>
              <a:cxnLst/>
              <a:rect r="r" b="b" t="t" l="l"/>
              <a:pathLst>
                <a:path h="44960" w="131217">
                  <a:moveTo>
                    <a:pt x="0" y="0"/>
                  </a:moveTo>
                  <a:lnTo>
                    <a:pt x="131217" y="0"/>
                  </a:lnTo>
                  <a:lnTo>
                    <a:pt x="131217" y="44960"/>
                  </a:lnTo>
                  <a:lnTo>
                    <a:pt x="0" y="44960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31217" cy="83060"/>
            </a:xfrm>
            <a:prstGeom prst="rect">
              <a:avLst/>
            </a:prstGeom>
          </p:spPr>
          <p:txBody>
            <a:bodyPr anchor="ctr" rtlCol="false" tIns="362344" lIns="362344" bIns="362344" rIns="36234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406462" y="7770570"/>
            <a:ext cx="2581173" cy="884412"/>
            <a:chOff x="0" y="0"/>
            <a:chExt cx="131217" cy="449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31217" cy="44960"/>
            </a:xfrm>
            <a:custGeom>
              <a:avLst/>
              <a:gdLst/>
              <a:ahLst/>
              <a:cxnLst/>
              <a:rect r="r" b="b" t="t" l="l"/>
              <a:pathLst>
                <a:path h="44960" w="131217">
                  <a:moveTo>
                    <a:pt x="0" y="0"/>
                  </a:moveTo>
                  <a:lnTo>
                    <a:pt x="131217" y="0"/>
                  </a:lnTo>
                  <a:lnTo>
                    <a:pt x="131217" y="44960"/>
                  </a:lnTo>
                  <a:lnTo>
                    <a:pt x="0" y="44960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31217" cy="83060"/>
            </a:xfrm>
            <a:prstGeom prst="rect">
              <a:avLst/>
            </a:prstGeom>
          </p:spPr>
          <p:txBody>
            <a:bodyPr anchor="ctr" rtlCol="false" tIns="362344" lIns="362344" bIns="362344" rIns="36234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2197076" y="4245478"/>
            <a:ext cx="2581173" cy="3542970"/>
            <a:chOff x="0" y="0"/>
            <a:chExt cx="550551" cy="75569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50551" cy="755697"/>
            </a:xfrm>
            <a:custGeom>
              <a:avLst/>
              <a:gdLst/>
              <a:ahLst/>
              <a:cxnLst/>
              <a:rect r="r" b="b" t="t" l="l"/>
              <a:pathLst>
                <a:path h="755697" w="550551">
                  <a:moveTo>
                    <a:pt x="0" y="0"/>
                  </a:moveTo>
                  <a:lnTo>
                    <a:pt x="550551" y="0"/>
                  </a:lnTo>
                  <a:lnTo>
                    <a:pt x="550551" y="755697"/>
                  </a:lnTo>
                  <a:lnTo>
                    <a:pt x="0" y="755697"/>
                  </a:lnTo>
                  <a:close/>
                </a:path>
              </a:pathLst>
            </a:custGeom>
            <a:blipFill>
              <a:blip r:embed="rId6"/>
              <a:stretch>
                <a:fillRect l="0" t="-849" r="0" b="-849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5092603" y="4245478"/>
            <a:ext cx="2581173" cy="3542970"/>
            <a:chOff x="0" y="0"/>
            <a:chExt cx="550551" cy="75569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50551" cy="755697"/>
            </a:xfrm>
            <a:custGeom>
              <a:avLst/>
              <a:gdLst/>
              <a:ahLst/>
              <a:cxnLst/>
              <a:rect r="r" b="b" t="t" l="l"/>
              <a:pathLst>
                <a:path h="755697" w="550551">
                  <a:moveTo>
                    <a:pt x="0" y="0"/>
                  </a:moveTo>
                  <a:lnTo>
                    <a:pt x="550551" y="0"/>
                  </a:lnTo>
                  <a:lnTo>
                    <a:pt x="550551" y="755697"/>
                  </a:lnTo>
                  <a:lnTo>
                    <a:pt x="0" y="755697"/>
                  </a:lnTo>
                  <a:close/>
                </a:path>
              </a:pathLst>
            </a:custGeom>
            <a:blipFill>
              <a:blip r:embed="rId7"/>
              <a:stretch>
                <a:fillRect l="0" t="-978" r="0" b="-978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5093786" y="7770570"/>
            <a:ext cx="2581173" cy="884412"/>
            <a:chOff x="0" y="0"/>
            <a:chExt cx="131217" cy="449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31217" cy="44960"/>
            </a:xfrm>
            <a:custGeom>
              <a:avLst/>
              <a:gdLst/>
              <a:ahLst/>
              <a:cxnLst/>
              <a:rect r="r" b="b" t="t" l="l"/>
              <a:pathLst>
                <a:path h="44960" w="131217">
                  <a:moveTo>
                    <a:pt x="0" y="0"/>
                  </a:moveTo>
                  <a:lnTo>
                    <a:pt x="131217" y="0"/>
                  </a:lnTo>
                  <a:lnTo>
                    <a:pt x="131217" y="44960"/>
                  </a:lnTo>
                  <a:lnTo>
                    <a:pt x="0" y="44960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31217" cy="83060"/>
            </a:xfrm>
            <a:prstGeom prst="rect">
              <a:avLst/>
            </a:prstGeom>
          </p:spPr>
          <p:txBody>
            <a:bodyPr anchor="ctr" rtlCol="false" tIns="362344" lIns="362344" bIns="362344" rIns="36234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2197076" y="7770570"/>
            <a:ext cx="2581173" cy="884412"/>
            <a:chOff x="0" y="0"/>
            <a:chExt cx="131217" cy="4496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31217" cy="44960"/>
            </a:xfrm>
            <a:custGeom>
              <a:avLst/>
              <a:gdLst/>
              <a:ahLst/>
              <a:cxnLst/>
              <a:rect r="r" b="b" t="t" l="l"/>
              <a:pathLst>
                <a:path h="44960" w="131217">
                  <a:moveTo>
                    <a:pt x="0" y="0"/>
                  </a:moveTo>
                  <a:lnTo>
                    <a:pt x="131217" y="0"/>
                  </a:lnTo>
                  <a:lnTo>
                    <a:pt x="131217" y="44960"/>
                  </a:lnTo>
                  <a:lnTo>
                    <a:pt x="0" y="44960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131217" cy="83060"/>
            </a:xfrm>
            <a:prstGeom prst="rect">
              <a:avLst/>
            </a:prstGeom>
          </p:spPr>
          <p:txBody>
            <a:bodyPr anchor="ctr" rtlCol="false" tIns="362344" lIns="362344" bIns="362344" rIns="36234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32" id="3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9897" t="-62971" r="-134602" b="-72731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5484946" y="1823251"/>
            <a:ext cx="7318108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NOSSA </a:t>
            </a:r>
            <a:r>
              <a:rPr lang="en-US" b="true" sz="6999">
                <a:solidFill>
                  <a:srgbClr val="D2454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EQUIPE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30497" y="8219446"/>
            <a:ext cx="1746260" cy="259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145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Bozetti Santiago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64000" y="7994242"/>
            <a:ext cx="2479254" cy="229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b="true" sz="181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Gustavo Rucaglia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795428" y="8219446"/>
            <a:ext cx="2009818" cy="259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145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Silva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632667" y="7994242"/>
            <a:ext cx="2335342" cy="229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b="true" sz="181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Kayke Rodrigues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711120" y="8219446"/>
            <a:ext cx="1971856" cy="259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145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Feitosa da Silva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524758" y="7994242"/>
            <a:ext cx="2344580" cy="229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b="true" sz="181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Leonardo Tomas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720629" y="8219446"/>
            <a:ext cx="1746260" cy="259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145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Aranega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720629" y="7994242"/>
            <a:ext cx="1746260" cy="229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b="true" sz="181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Luana Tejon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614533" y="8219446"/>
            <a:ext cx="1746260" cy="259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145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Bambino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248035" y="7994242"/>
            <a:ext cx="2479254" cy="229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b="true" sz="181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Paulo Henrique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5379464" y="8219446"/>
            <a:ext cx="2009818" cy="259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145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 Silva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5216702" y="7994242"/>
            <a:ext cx="2335342" cy="229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b="true" sz="181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Rafael Alexandre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47392" y="505458"/>
            <a:ext cx="1033274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 strike="noStrike" u="non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CONTEXTUALIZAÇÃO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47392" y="1518887"/>
            <a:ext cx="17371483" cy="3092644"/>
            <a:chOff x="0" y="0"/>
            <a:chExt cx="641266" cy="11416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1266" cy="114165"/>
            </a:xfrm>
            <a:custGeom>
              <a:avLst/>
              <a:gdLst/>
              <a:ahLst/>
              <a:cxnLst/>
              <a:rect r="r" b="b" t="t" l="l"/>
              <a:pathLst>
                <a:path h="114165" w="641266">
                  <a:moveTo>
                    <a:pt x="0" y="0"/>
                  </a:moveTo>
                  <a:lnTo>
                    <a:pt x="641266" y="0"/>
                  </a:lnTo>
                  <a:lnTo>
                    <a:pt x="641266" y="114165"/>
                  </a:lnTo>
                  <a:lnTo>
                    <a:pt x="0" y="114165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641266" cy="152265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33450" y="1927716"/>
            <a:ext cx="331608" cy="333848"/>
            <a:chOff x="0" y="0"/>
            <a:chExt cx="807344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07344" cy="812800"/>
            </a:xfrm>
            <a:custGeom>
              <a:avLst/>
              <a:gdLst/>
              <a:ahLst/>
              <a:cxnLst/>
              <a:rect r="r" b="b" t="t" l="l"/>
              <a:pathLst>
                <a:path h="812800" w="807344">
                  <a:moveTo>
                    <a:pt x="403672" y="0"/>
                  </a:moveTo>
                  <a:cubicBezTo>
                    <a:pt x="180730" y="0"/>
                    <a:pt x="0" y="181951"/>
                    <a:pt x="0" y="406400"/>
                  </a:cubicBezTo>
                  <a:cubicBezTo>
                    <a:pt x="0" y="630849"/>
                    <a:pt x="180730" y="812800"/>
                    <a:pt x="403672" y="812800"/>
                  </a:cubicBezTo>
                  <a:cubicBezTo>
                    <a:pt x="626614" y="812800"/>
                    <a:pt x="807344" y="630849"/>
                    <a:pt x="807344" y="406400"/>
                  </a:cubicBezTo>
                  <a:cubicBezTo>
                    <a:pt x="807344" y="181951"/>
                    <a:pt x="626614" y="0"/>
                    <a:pt x="403672" y="0"/>
                  </a:cubicBez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5689" y="38100"/>
              <a:ext cx="655967" cy="698500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506143" y="1933860"/>
            <a:ext cx="15844480" cy="2899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360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Setor Imobiliário e sua relação direta com IDHM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  <a:r>
              <a:rPr lang="en-US" sz="3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regiões com IDH baixo podem enfrentar maiores dificuldades em atrair investidores e compradores fator crucial levado em conta por construtoras, segundo dados da  fipzap.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</a:p>
        </p:txBody>
      </p:sp>
      <p:grpSp>
        <p:nvGrpSpPr>
          <p:cNvPr name="Group 10" id="10"/>
          <p:cNvGrpSpPr/>
          <p:nvPr/>
        </p:nvGrpSpPr>
        <p:grpSpPr>
          <a:xfrm rot="0">
            <a:off x="647392" y="4976907"/>
            <a:ext cx="17371483" cy="4397216"/>
            <a:chOff x="0" y="0"/>
            <a:chExt cx="641223" cy="16235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1223" cy="162352"/>
            </a:xfrm>
            <a:custGeom>
              <a:avLst/>
              <a:gdLst/>
              <a:ahLst/>
              <a:cxnLst/>
              <a:rect r="r" b="b" t="t" l="l"/>
              <a:pathLst>
                <a:path h="162352" w="641223">
                  <a:moveTo>
                    <a:pt x="641223" y="0"/>
                  </a:moveTo>
                  <a:lnTo>
                    <a:pt x="641223" y="162352"/>
                  </a:lnTo>
                  <a:lnTo>
                    <a:pt x="0" y="1623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41223" cy="200452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461317" y="4938045"/>
            <a:ext cx="16367982" cy="4947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  <a:r>
              <a:rPr lang="en-US" sz="360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segurança como fator de desenvolvimento regional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  <a:r>
              <a:rPr lang="en-US" sz="3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Imóveis em áreas de alta criminalidade podem sofrer</a:t>
            </a:r>
            <a:r>
              <a:rPr lang="en-US" sz="360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desvalorização</a:t>
            </a:r>
            <a:r>
              <a:rPr lang="en-US" sz="3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de até </a:t>
            </a:r>
            <a:r>
              <a:rPr lang="en-US" sz="360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~30%</a:t>
            </a:r>
            <a:r>
              <a:rPr lang="en-US" sz="3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, segundo dados do Fórum Brasileiro de Segurança Pública e IPEA.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  <a:r>
              <a:rPr lang="en-US" sz="36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Bayer &amp; Dantas analisaram bairos no RN em que área com altas taxas de roubos e furtos, as pessoas buscam solucionar o problema com morádias em côndominios.</a:t>
            </a:r>
          </a:p>
          <a:p>
            <a:pPr algn="l">
              <a:lnSpc>
                <a:spcPts val="3240"/>
              </a:lnSpc>
            </a:pPr>
          </a:p>
          <a:p>
            <a:pPr algn="l">
              <a:lnSpc>
                <a:spcPts val="3240"/>
              </a:lnSpc>
            </a:pPr>
          </a:p>
        </p:txBody>
      </p:sp>
      <p:grpSp>
        <p:nvGrpSpPr>
          <p:cNvPr name="Group 15" id="15"/>
          <p:cNvGrpSpPr/>
          <p:nvPr/>
        </p:nvGrpSpPr>
        <p:grpSpPr>
          <a:xfrm rot="0">
            <a:off x="933450" y="5348955"/>
            <a:ext cx="331608" cy="333848"/>
            <a:chOff x="0" y="0"/>
            <a:chExt cx="807344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07344" cy="812800"/>
            </a:xfrm>
            <a:custGeom>
              <a:avLst/>
              <a:gdLst/>
              <a:ahLst/>
              <a:cxnLst/>
              <a:rect r="r" b="b" t="t" l="l"/>
              <a:pathLst>
                <a:path h="812800" w="807344">
                  <a:moveTo>
                    <a:pt x="403672" y="0"/>
                  </a:moveTo>
                  <a:cubicBezTo>
                    <a:pt x="180730" y="0"/>
                    <a:pt x="0" y="181951"/>
                    <a:pt x="0" y="406400"/>
                  </a:cubicBezTo>
                  <a:cubicBezTo>
                    <a:pt x="0" y="630849"/>
                    <a:pt x="180730" y="812800"/>
                    <a:pt x="403672" y="812800"/>
                  </a:cubicBezTo>
                  <a:cubicBezTo>
                    <a:pt x="626614" y="812800"/>
                    <a:pt x="807344" y="630849"/>
                    <a:pt x="807344" y="406400"/>
                  </a:cubicBezTo>
                  <a:cubicBezTo>
                    <a:pt x="807344" y="181951"/>
                    <a:pt x="626614" y="0"/>
                    <a:pt x="403672" y="0"/>
                  </a:cubicBez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5689" y="38100"/>
              <a:ext cx="655967" cy="698500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73380" y="1497649"/>
            <a:ext cx="5640950" cy="8233532"/>
          </a:xfrm>
          <a:custGeom>
            <a:avLst/>
            <a:gdLst/>
            <a:ahLst/>
            <a:cxnLst/>
            <a:rect r="r" b="b" t="t" l="l"/>
            <a:pathLst>
              <a:path h="8233532" w="5640950">
                <a:moveTo>
                  <a:pt x="0" y="0"/>
                </a:moveTo>
                <a:lnTo>
                  <a:pt x="5640950" y="0"/>
                </a:lnTo>
                <a:lnTo>
                  <a:pt x="5640950" y="8233531"/>
                </a:lnTo>
                <a:lnTo>
                  <a:pt x="0" y="823353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4958" r="0" b="-83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295323" y="5219358"/>
            <a:ext cx="1934493" cy="561003"/>
          </a:xfrm>
          <a:custGeom>
            <a:avLst/>
            <a:gdLst/>
            <a:ahLst/>
            <a:cxnLst/>
            <a:rect r="r" b="b" t="t" l="l"/>
            <a:pathLst>
              <a:path h="561003" w="1934493">
                <a:moveTo>
                  <a:pt x="0" y="0"/>
                </a:moveTo>
                <a:lnTo>
                  <a:pt x="1934493" y="0"/>
                </a:lnTo>
                <a:lnTo>
                  <a:pt x="1934493" y="561003"/>
                </a:lnTo>
                <a:lnTo>
                  <a:pt x="0" y="56100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73380" y="369251"/>
            <a:ext cx="2188270" cy="105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79"/>
              </a:lnSpc>
              <a:spcBef>
                <a:spcPct val="0"/>
              </a:spcBef>
            </a:pPr>
            <a:r>
              <a:rPr lang="en-US" b="true" sz="6199">
                <a:solidFill>
                  <a:srgbClr val="FEFE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IDHM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107373" y="435926"/>
            <a:ext cx="5372596" cy="105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79"/>
              </a:lnSpc>
              <a:spcBef>
                <a:spcPct val="0"/>
              </a:spcBef>
            </a:pPr>
            <a:r>
              <a:rPr lang="en-US" b="true" sz="6199">
                <a:solidFill>
                  <a:srgbClr val="FEFE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preço / metro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0035366" y="1741970"/>
            <a:ext cx="7103857" cy="7703962"/>
          </a:xfrm>
          <a:custGeom>
            <a:avLst/>
            <a:gdLst/>
            <a:ahLst/>
            <a:cxnLst/>
            <a:rect r="r" b="b" t="t" l="l"/>
            <a:pathLst>
              <a:path h="7703962" w="7103857">
                <a:moveTo>
                  <a:pt x="0" y="0"/>
                </a:moveTo>
                <a:lnTo>
                  <a:pt x="7103857" y="0"/>
                </a:lnTo>
                <a:lnTo>
                  <a:pt x="7103857" y="7703962"/>
                </a:lnTo>
                <a:lnTo>
                  <a:pt x="0" y="770396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30694" t="0" r="-10540" b="-539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035366" y="1796600"/>
            <a:ext cx="7103857" cy="7649332"/>
          </a:xfrm>
          <a:custGeom>
            <a:avLst/>
            <a:gdLst/>
            <a:ahLst/>
            <a:cxnLst/>
            <a:rect r="r" b="b" t="t" l="l"/>
            <a:pathLst>
              <a:path h="7649332" w="7103857">
                <a:moveTo>
                  <a:pt x="0" y="0"/>
                </a:moveTo>
                <a:lnTo>
                  <a:pt x="7103857" y="0"/>
                </a:lnTo>
                <a:lnTo>
                  <a:pt x="7103857" y="7649332"/>
                </a:lnTo>
                <a:lnTo>
                  <a:pt x="0" y="76493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0121" t="0" r="-10111" b="-539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377072" y="5246948"/>
            <a:ext cx="1934493" cy="561003"/>
          </a:xfrm>
          <a:custGeom>
            <a:avLst/>
            <a:gdLst/>
            <a:ahLst/>
            <a:cxnLst/>
            <a:rect r="r" b="b" t="t" l="l"/>
            <a:pathLst>
              <a:path h="561003" w="1934493">
                <a:moveTo>
                  <a:pt x="0" y="0"/>
                </a:moveTo>
                <a:lnTo>
                  <a:pt x="1934493" y="0"/>
                </a:lnTo>
                <a:lnTo>
                  <a:pt x="1934493" y="561003"/>
                </a:lnTo>
                <a:lnTo>
                  <a:pt x="0" y="56100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73380" y="1553787"/>
            <a:ext cx="5755580" cy="7892145"/>
          </a:xfrm>
          <a:custGeom>
            <a:avLst/>
            <a:gdLst/>
            <a:ahLst/>
            <a:cxnLst/>
            <a:rect r="r" b="b" t="t" l="l"/>
            <a:pathLst>
              <a:path h="7892145" w="5755580">
                <a:moveTo>
                  <a:pt x="0" y="0"/>
                </a:moveTo>
                <a:lnTo>
                  <a:pt x="5755580" y="0"/>
                </a:lnTo>
                <a:lnTo>
                  <a:pt x="5755580" y="7892145"/>
                </a:lnTo>
                <a:lnTo>
                  <a:pt x="0" y="789214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5014" r="-5366" b="-239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0" y="369251"/>
            <a:ext cx="6228960" cy="105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79"/>
              </a:lnSpc>
              <a:spcBef>
                <a:spcPct val="0"/>
              </a:spcBef>
            </a:pPr>
            <a:r>
              <a:rPr lang="en-US" b="true" sz="6199">
                <a:solidFill>
                  <a:srgbClr val="FEFE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criminalidade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107373" y="445451"/>
            <a:ext cx="5372596" cy="105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79"/>
              </a:lnSpc>
              <a:spcBef>
                <a:spcPct val="0"/>
              </a:spcBef>
            </a:pPr>
            <a:r>
              <a:rPr lang="en-US" b="true" sz="6199">
                <a:solidFill>
                  <a:srgbClr val="FEFE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preço / metro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47392" y="534033"/>
            <a:ext cx="12213170" cy="164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ENTREVISTA COM PROFISSIONAL DA ÁREA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3554482" y="3202252"/>
            <a:ext cx="4999272" cy="6056048"/>
            <a:chOff x="0" y="0"/>
            <a:chExt cx="184547" cy="2235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883498" y="5401601"/>
            <a:ext cx="4341241" cy="2428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Profissional com experiência na á</a:t>
            </a:r>
            <a:r>
              <a:rPr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</a:t>
            </a:r>
            <a:r>
              <a:rPr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d</a:t>
            </a:r>
            <a:r>
              <a:rPr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 </a:t>
            </a:r>
            <a:r>
              <a:rPr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corretagem de imóveis e atuação atual como advogada no segmento imobiliário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734246" y="3202252"/>
            <a:ext cx="4999272" cy="6056048"/>
            <a:chOff x="0" y="0"/>
            <a:chExt cx="184547" cy="22355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770271" y="3471241"/>
            <a:ext cx="2567694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  <a:spcBef>
                <a:spcPct val="0"/>
              </a:spcBef>
            </a:pPr>
            <a:r>
              <a:rPr lang="en-US" b="true" sz="30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ELISÂNGELA</a:t>
            </a:r>
            <a:r>
              <a:rPr lang="en-US" b="true" sz="30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ARANEGA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0736827" y="3385516"/>
            <a:ext cx="2994110" cy="5689521"/>
          </a:xfrm>
          <a:custGeom>
            <a:avLst/>
            <a:gdLst/>
            <a:ahLst/>
            <a:cxnLst/>
            <a:rect r="r" b="b" t="t" l="l"/>
            <a:pathLst>
              <a:path h="5689521" w="2994110">
                <a:moveTo>
                  <a:pt x="0" y="0"/>
                </a:moveTo>
                <a:lnTo>
                  <a:pt x="2994110" y="0"/>
                </a:lnTo>
                <a:lnTo>
                  <a:pt x="2994110" y="5689521"/>
                </a:lnTo>
                <a:lnTo>
                  <a:pt x="0" y="56895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47392" y="1658836"/>
            <a:ext cx="16741890" cy="8370945"/>
          </a:xfrm>
          <a:custGeom>
            <a:avLst/>
            <a:gdLst/>
            <a:ahLst/>
            <a:cxnLst/>
            <a:rect r="r" b="b" t="t" l="l"/>
            <a:pathLst>
              <a:path h="8370945" w="16741890">
                <a:moveTo>
                  <a:pt x="0" y="0"/>
                </a:moveTo>
                <a:lnTo>
                  <a:pt x="16741890" y="0"/>
                </a:lnTo>
                <a:lnTo>
                  <a:pt x="16741890" y="8370946"/>
                </a:lnTo>
                <a:lnTo>
                  <a:pt x="0" y="83709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w="95250" cap="sq">
            <a:solidFill>
              <a:srgbClr val="05254A"/>
            </a:solidFill>
            <a:prstDash val="solid"/>
            <a:miter/>
          </a:ln>
        </p:spPr>
      </p:sp>
      <p:sp>
        <p:nvSpPr>
          <p:cNvPr name="TextBox 4" id="4"/>
          <p:cNvSpPr txBox="true"/>
          <p:nvPr/>
        </p:nvSpPr>
        <p:spPr>
          <a:xfrm rot="0">
            <a:off x="647392" y="534033"/>
            <a:ext cx="11706416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0525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METODOLOGIA SCRUM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47392" y="534033"/>
            <a:ext cx="74485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FERRAMENTAS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464600" y="3202252"/>
            <a:ext cx="4999272" cy="6056048"/>
            <a:chOff x="0" y="0"/>
            <a:chExt cx="184547" cy="2235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644364" y="3202252"/>
            <a:ext cx="4999272" cy="6056048"/>
            <a:chOff x="0" y="0"/>
            <a:chExt cx="184547" cy="22355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824128" y="3202252"/>
            <a:ext cx="4999272" cy="6056048"/>
            <a:chOff x="0" y="0"/>
            <a:chExt cx="184547" cy="22355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912873" y="5252486"/>
            <a:ext cx="2093066" cy="2093066"/>
          </a:xfrm>
          <a:custGeom>
            <a:avLst/>
            <a:gdLst/>
            <a:ahLst/>
            <a:cxnLst/>
            <a:rect r="r" b="b" t="t" l="l"/>
            <a:pathLst>
              <a:path h="2093066" w="2093066">
                <a:moveTo>
                  <a:pt x="0" y="0"/>
                </a:moveTo>
                <a:lnTo>
                  <a:pt x="2093066" y="0"/>
                </a:lnTo>
                <a:lnTo>
                  <a:pt x="2093066" y="2093066"/>
                </a:lnTo>
                <a:lnTo>
                  <a:pt x="0" y="20930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8095941" y="5252486"/>
            <a:ext cx="2092676" cy="2092676"/>
          </a:xfrm>
          <a:custGeom>
            <a:avLst/>
            <a:gdLst/>
            <a:ahLst/>
            <a:cxnLst/>
            <a:rect r="r" b="b" t="t" l="l"/>
            <a:pathLst>
              <a:path h="2092676" w="2092676">
                <a:moveTo>
                  <a:pt x="0" y="0"/>
                </a:moveTo>
                <a:lnTo>
                  <a:pt x="2092675" y="0"/>
                </a:lnTo>
                <a:lnTo>
                  <a:pt x="2092675" y="2092676"/>
                </a:lnTo>
                <a:lnTo>
                  <a:pt x="0" y="20926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14273788" y="5252486"/>
            <a:ext cx="2099952" cy="1955580"/>
          </a:xfrm>
          <a:custGeom>
            <a:avLst/>
            <a:gdLst/>
            <a:ahLst/>
            <a:cxnLst/>
            <a:rect r="r" b="b" t="t" l="l"/>
            <a:pathLst>
              <a:path h="1955580" w="2099952">
                <a:moveTo>
                  <a:pt x="0" y="0"/>
                </a:moveTo>
                <a:lnTo>
                  <a:pt x="2099952" y="0"/>
                </a:lnTo>
                <a:lnTo>
                  <a:pt x="2099952" y="1955580"/>
                </a:lnTo>
                <a:lnTo>
                  <a:pt x="0" y="19555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806010" y="1245109"/>
            <a:ext cx="14775939" cy="8129014"/>
          </a:xfrm>
          <a:custGeom>
            <a:avLst/>
            <a:gdLst/>
            <a:ahLst/>
            <a:cxnLst/>
            <a:rect r="r" b="b" t="t" l="l"/>
            <a:pathLst>
              <a:path h="8129014" w="14775939">
                <a:moveTo>
                  <a:pt x="0" y="0"/>
                </a:moveTo>
                <a:lnTo>
                  <a:pt x="14775940" y="0"/>
                </a:lnTo>
                <a:lnTo>
                  <a:pt x="14775940" y="8129014"/>
                </a:lnTo>
                <a:lnTo>
                  <a:pt x="0" y="81290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998" t="-2261" r="0" b="-2261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060610" y="534033"/>
            <a:ext cx="74485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GITHUB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940239" y="1532881"/>
            <a:ext cx="15052683" cy="8090817"/>
          </a:xfrm>
          <a:custGeom>
            <a:avLst/>
            <a:gdLst/>
            <a:ahLst/>
            <a:cxnLst/>
            <a:rect r="r" b="b" t="t" l="l"/>
            <a:pathLst>
              <a:path h="8090817" w="15052683">
                <a:moveTo>
                  <a:pt x="0" y="0"/>
                </a:moveTo>
                <a:lnTo>
                  <a:pt x="15052684" y="0"/>
                </a:lnTo>
                <a:lnTo>
                  <a:pt x="15052684" y="8090817"/>
                </a:lnTo>
                <a:lnTo>
                  <a:pt x="0" y="80908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940239" y="675631"/>
            <a:ext cx="74485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PLANNER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2494661"/>
            <a:ext cx="18269317" cy="4096889"/>
          </a:xfrm>
          <a:custGeom>
            <a:avLst/>
            <a:gdLst/>
            <a:ahLst/>
            <a:cxnLst/>
            <a:rect r="r" b="b" t="t" l="l"/>
            <a:pathLst>
              <a:path h="4096889" w="18269317">
                <a:moveTo>
                  <a:pt x="0" y="0"/>
                </a:moveTo>
                <a:lnTo>
                  <a:pt x="18269317" y="0"/>
                </a:lnTo>
                <a:lnTo>
                  <a:pt x="18269317" y="4096890"/>
                </a:lnTo>
                <a:lnTo>
                  <a:pt x="0" y="40968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891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45912" y="846836"/>
            <a:ext cx="7448549" cy="164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PRODUCT BACKLOG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44364" y="3202252"/>
            <a:ext cx="4999272" cy="6056048"/>
            <a:chOff x="0" y="0"/>
            <a:chExt cx="184547" cy="22355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963947" y="5050223"/>
            <a:ext cx="2360107" cy="2360107"/>
          </a:xfrm>
          <a:custGeom>
            <a:avLst/>
            <a:gdLst/>
            <a:ahLst/>
            <a:cxnLst/>
            <a:rect r="r" b="b" t="t" l="l"/>
            <a:pathLst>
              <a:path h="2360107" w="2360107">
                <a:moveTo>
                  <a:pt x="0" y="0"/>
                </a:moveTo>
                <a:lnTo>
                  <a:pt x="2360106" y="0"/>
                </a:lnTo>
                <a:lnTo>
                  <a:pt x="2360106" y="2360107"/>
                </a:lnTo>
                <a:lnTo>
                  <a:pt x="0" y="23601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47392" y="534033"/>
            <a:ext cx="959133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MER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058441" y="1644161"/>
            <a:ext cx="12171118" cy="4621735"/>
          </a:xfrm>
          <a:custGeom>
            <a:avLst/>
            <a:gdLst/>
            <a:ahLst/>
            <a:cxnLst/>
            <a:rect r="r" b="b" t="t" l="l"/>
            <a:pathLst>
              <a:path h="4621735" w="12171118">
                <a:moveTo>
                  <a:pt x="0" y="0"/>
                </a:moveTo>
                <a:lnTo>
                  <a:pt x="12171118" y="0"/>
                </a:lnTo>
                <a:lnTo>
                  <a:pt x="12171118" y="4621736"/>
                </a:lnTo>
                <a:lnTo>
                  <a:pt x="0" y="46217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058441" y="6538932"/>
            <a:ext cx="12171118" cy="3563919"/>
          </a:xfrm>
          <a:custGeom>
            <a:avLst/>
            <a:gdLst/>
            <a:ahLst/>
            <a:cxnLst/>
            <a:rect r="r" b="b" t="t" l="l"/>
            <a:pathLst>
              <a:path h="3563919" w="12171118">
                <a:moveTo>
                  <a:pt x="0" y="0"/>
                </a:moveTo>
                <a:lnTo>
                  <a:pt x="12171118" y="0"/>
                </a:lnTo>
                <a:lnTo>
                  <a:pt x="12171118" y="3563918"/>
                </a:lnTo>
                <a:lnTo>
                  <a:pt x="0" y="356391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28914" y="285750"/>
            <a:ext cx="17840403" cy="760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6200" b="true">
                <a:solidFill>
                  <a:srgbClr val="0B2E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Lista de dados </a:t>
            </a:r>
            <a:r>
              <a:rPr lang="en-US" b="true" sz="6200">
                <a:solidFill>
                  <a:srgbClr val="0B2E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- DICIONÁRIO DE DADOS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2887" y="1749236"/>
            <a:ext cx="8955483" cy="8359279"/>
          </a:xfrm>
          <a:custGeom>
            <a:avLst/>
            <a:gdLst/>
            <a:ahLst/>
            <a:cxnLst/>
            <a:rect r="r" b="b" t="t" l="l"/>
            <a:pathLst>
              <a:path h="8359279" w="8955483">
                <a:moveTo>
                  <a:pt x="0" y="0"/>
                </a:moveTo>
                <a:lnTo>
                  <a:pt x="8955483" y="0"/>
                </a:lnTo>
                <a:lnTo>
                  <a:pt x="8955483" y="8359279"/>
                </a:lnTo>
                <a:lnTo>
                  <a:pt x="0" y="83592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04095" y="253462"/>
            <a:ext cx="8685299" cy="7029814"/>
          </a:xfrm>
          <a:custGeom>
            <a:avLst/>
            <a:gdLst/>
            <a:ahLst/>
            <a:cxnLst/>
            <a:rect r="r" b="b" t="t" l="l"/>
            <a:pathLst>
              <a:path h="7029814" w="8685299">
                <a:moveTo>
                  <a:pt x="0" y="0"/>
                </a:moveTo>
                <a:lnTo>
                  <a:pt x="8685299" y="0"/>
                </a:lnTo>
                <a:lnTo>
                  <a:pt x="8685299" y="7029814"/>
                </a:lnTo>
                <a:lnTo>
                  <a:pt x="0" y="70298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555795" y="7283276"/>
            <a:ext cx="8581900" cy="2856666"/>
          </a:xfrm>
          <a:custGeom>
            <a:avLst/>
            <a:gdLst/>
            <a:ahLst/>
            <a:cxnLst/>
            <a:rect r="r" b="b" t="t" l="l"/>
            <a:pathLst>
              <a:path h="2856666" w="8581900">
                <a:moveTo>
                  <a:pt x="0" y="0"/>
                </a:moveTo>
                <a:lnTo>
                  <a:pt x="8581900" y="0"/>
                </a:lnTo>
                <a:lnTo>
                  <a:pt x="8581900" y="2856666"/>
                </a:lnTo>
                <a:lnTo>
                  <a:pt x="0" y="28566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9897" t="-62971" r="-134602" b="-72731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462887" y="160020"/>
            <a:ext cx="8955483" cy="1295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9"/>
              </a:lnSpc>
            </a:pPr>
            <a:r>
              <a:rPr lang="en-US" sz="5499" b="true">
                <a:solidFill>
                  <a:srgbClr val="0B2E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Lista de dados</a:t>
            </a:r>
            <a:r>
              <a:rPr lang="en-US" b="true" sz="5499">
                <a:solidFill>
                  <a:srgbClr val="0B2E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- DICIONÁRIO DE DADOS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805923" y="2198911"/>
            <a:ext cx="14676154" cy="6520492"/>
          </a:xfrm>
          <a:custGeom>
            <a:avLst/>
            <a:gdLst/>
            <a:ahLst/>
            <a:cxnLst/>
            <a:rect r="r" b="b" t="t" l="l"/>
            <a:pathLst>
              <a:path h="6520492" w="14676154">
                <a:moveTo>
                  <a:pt x="0" y="0"/>
                </a:moveTo>
                <a:lnTo>
                  <a:pt x="14676154" y="0"/>
                </a:lnTo>
                <a:lnTo>
                  <a:pt x="14676154" y="6520492"/>
                </a:lnTo>
                <a:lnTo>
                  <a:pt x="0" y="65204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28914" y="285750"/>
            <a:ext cx="17840403" cy="760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6200" b="true">
                <a:solidFill>
                  <a:srgbClr val="0B2E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Lista de dados </a:t>
            </a:r>
            <a:r>
              <a:rPr lang="en-US" b="true" sz="6200">
                <a:solidFill>
                  <a:srgbClr val="0B2E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- DICIONÁRIO DE DADOS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44364" y="3202252"/>
            <a:ext cx="4999272" cy="6056048"/>
            <a:chOff x="0" y="0"/>
            <a:chExt cx="184547" cy="2235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647392" y="534033"/>
            <a:ext cx="148780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BPMN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7965364" y="5051641"/>
            <a:ext cx="2357271" cy="2357271"/>
          </a:xfrm>
          <a:custGeom>
            <a:avLst/>
            <a:gdLst/>
            <a:ahLst/>
            <a:cxnLst/>
            <a:rect r="r" b="b" t="t" l="l"/>
            <a:pathLst>
              <a:path h="2357271" w="2357271">
                <a:moveTo>
                  <a:pt x="0" y="0"/>
                </a:moveTo>
                <a:lnTo>
                  <a:pt x="2357272" y="0"/>
                </a:lnTo>
                <a:lnTo>
                  <a:pt x="2357272" y="2357271"/>
                </a:lnTo>
                <a:lnTo>
                  <a:pt x="0" y="23572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88939" y="2005739"/>
            <a:ext cx="3566578" cy="3488325"/>
            <a:chOff x="0" y="0"/>
            <a:chExt cx="1973623" cy="193032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973623" cy="1930321"/>
            </a:xfrm>
            <a:custGeom>
              <a:avLst/>
              <a:gdLst/>
              <a:ahLst/>
              <a:cxnLst/>
              <a:rect r="r" b="b" t="t" l="l"/>
              <a:pathLst>
                <a:path h="1930321" w="1973623">
                  <a:moveTo>
                    <a:pt x="0" y="0"/>
                  </a:moveTo>
                  <a:lnTo>
                    <a:pt x="1973623" y="0"/>
                  </a:lnTo>
                  <a:lnTo>
                    <a:pt x="1973623" y="1930321"/>
                  </a:lnTo>
                  <a:lnTo>
                    <a:pt x="0" y="1930321"/>
                  </a:ln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973623" cy="196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016757" y="3697827"/>
            <a:ext cx="1029032" cy="1781874"/>
          </a:xfrm>
          <a:custGeom>
            <a:avLst/>
            <a:gdLst/>
            <a:ahLst/>
            <a:cxnLst/>
            <a:rect r="r" b="b" t="t" l="l"/>
            <a:pathLst>
              <a:path h="1781874" w="1029032">
                <a:moveTo>
                  <a:pt x="0" y="0"/>
                </a:moveTo>
                <a:lnTo>
                  <a:pt x="1029032" y="0"/>
                </a:lnTo>
                <a:lnTo>
                  <a:pt x="1029032" y="1781874"/>
                </a:lnTo>
                <a:lnTo>
                  <a:pt x="0" y="17818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61196" y="2381574"/>
            <a:ext cx="2274522" cy="1728637"/>
          </a:xfrm>
          <a:custGeom>
            <a:avLst/>
            <a:gdLst/>
            <a:ahLst/>
            <a:cxnLst/>
            <a:rect r="r" b="b" t="t" l="l"/>
            <a:pathLst>
              <a:path h="1728637" w="2274522">
                <a:moveTo>
                  <a:pt x="0" y="0"/>
                </a:moveTo>
                <a:lnTo>
                  <a:pt x="2274522" y="0"/>
                </a:lnTo>
                <a:lnTo>
                  <a:pt x="2274522" y="1728637"/>
                </a:lnTo>
                <a:lnTo>
                  <a:pt x="0" y="17286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7360097" y="2005739"/>
            <a:ext cx="3566578" cy="3488325"/>
            <a:chOff x="0" y="0"/>
            <a:chExt cx="1973623" cy="193032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73623" cy="1930321"/>
            </a:xfrm>
            <a:custGeom>
              <a:avLst/>
              <a:gdLst/>
              <a:ahLst/>
              <a:cxnLst/>
              <a:rect r="r" b="b" t="t" l="l"/>
              <a:pathLst>
                <a:path h="1930321" w="1973623">
                  <a:moveTo>
                    <a:pt x="0" y="0"/>
                  </a:moveTo>
                  <a:lnTo>
                    <a:pt x="1973623" y="0"/>
                  </a:lnTo>
                  <a:lnTo>
                    <a:pt x="1973623" y="1930321"/>
                  </a:lnTo>
                  <a:lnTo>
                    <a:pt x="0" y="1930321"/>
                  </a:ln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973623" cy="196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773903" y="2005739"/>
            <a:ext cx="3566578" cy="3488325"/>
            <a:chOff x="0" y="0"/>
            <a:chExt cx="1973623" cy="193032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973623" cy="1930321"/>
            </a:xfrm>
            <a:custGeom>
              <a:avLst/>
              <a:gdLst/>
              <a:ahLst/>
              <a:cxnLst/>
              <a:rect r="r" b="b" t="t" l="l"/>
              <a:pathLst>
                <a:path h="1930321" w="1973623">
                  <a:moveTo>
                    <a:pt x="0" y="0"/>
                  </a:moveTo>
                  <a:lnTo>
                    <a:pt x="1973623" y="0"/>
                  </a:lnTo>
                  <a:lnTo>
                    <a:pt x="1973623" y="1930321"/>
                  </a:lnTo>
                  <a:lnTo>
                    <a:pt x="0" y="1930321"/>
                  </a:ln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973623" cy="196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946290" y="2005739"/>
            <a:ext cx="3566578" cy="3488325"/>
            <a:chOff x="0" y="0"/>
            <a:chExt cx="1973623" cy="193032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73623" cy="1930321"/>
            </a:xfrm>
            <a:custGeom>
              <a:avLst/>
              <a:gdLst/>
              <a:ahLst/>
              <a:cxnLst/>
              <a:rect r="r" b="b" t="t" l="l"/>
              <a:pathLst>
                <a:path h="1930321" w="1973623">
                  <a:moveTo>
                    <a:pt x="0" y="0"/>
                  </a:moveTo>
                  <a:lnTo>
                    <a:pt x="1973623" y="0"/>
                  </a:lnTo>
                  <a:lnTo>
                    <a:pt x="1973623" y="1930321"/>
                  </a:lnTo>
                  <a:lnTo>
                    <a:pt x="0" y="1930321"/>
                  </a:ln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973623" cy="196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88939" y="5503872"/>
            <a:ext cx="3566578" cy="3488325"/>
            <a:chOff x="0" y="0"/>
            <a:chExt cx="1973623" cy="193032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73623" cy="1930321"/>
            </a:xfrm>
            <a:custGeom>
              <a:avLst/>
              <a:gdLst/>
              <a:ahLst/>
              <a:cxnLst/>
              <a:rect r="r" b="b" t="t" l="l"/>
              <a:pathLst>
                <a:path h="1930321" w="1973623">
                  <a:moveTo>
                    <a:pt x="0" y="0"/>
                  </a:moveTo>
                  <a:lnTo>
                    <a:pt x="1973623" y="0"/>
                  </a:lnTo>
                  <a:lnTo>
                    <a:pt x="1973623" y="1930321"/>
                  </a:lnTo>
                  <a:lnTo>
                    <a:pt x="0" y="1930321"/>
                  </a:ln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973623" cy="196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4532483" y="2005739"/>
            <a:ext cx="3566578" cy="3488325"/>
            <a:chOff x="0" y="0"/>
            <a:chExt cx="1973623" cy="193032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73623" cy="1930321"/>
            </a:xfrm>
            <a:custGeom>
              <a:avLst/>
              <a:gdLst/>
              <a:ahLst/>
              <a:cxnLst/>
              <a:rect r="r" b="b" t="t" l="l"/>
              <a:pathLst>
                <a:path h="1930321" w="1973623">
                  <a:moveTo>
                    <a:pt x="0" y="0"/>
                  </a:moveTo>
                  <a:lnTo>
                    <a:pt x="1973623" y="0"/>
                  </a:lnTo>
                  <a:lnTo>
                    <a:pt x="1973623" y="1930321"/>
                  </a:lnTo>
                  <a:lnTo>
                    <a:pt x="0" y="1930321"/>
                  </a:ln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973623" cy="196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773903" y="5503872"/>
            <a:ext cx="3566578" cy="3488325"/>
            <a:chOff x="0" y="0"/>
            <a:chExt cx="1973623" cy="193032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973623" cy="1930321"/>
            </a:xfrm>
            <a:custGeom>
              <a:avLst/>
              <a:gdLst/>
              <a:ahLst/>
              <a:cxnLst/>
              <a:rect r="r" b="b" t="t" l="l"/>
              <a:pathLst>
                <a:path h="1930321" w="1973623">
                  <a:moveTo>
                    <a:pt x="0" y="0"/>
                  </a:moveTo>
                  <a:lnTo>
                    <a:pt x="1973623" y="0"/>
                  </a:lnTo>
                  <a:lnTo>
                    <a:pt x="1973623" y="1930321"/>
                  </a:lnTo>
                  <a:lnTo>
                    <a:pt x="0" y="1930321"/>
                  </a:ln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973623" cy="196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7360097" y="5503872"/>
            <a:ext cx="3566578" cy="3488325"/>
            <a:chOff x="0" y="0"/>
            <a:chExt cx="1973623" cy="193032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973623" cy="1930321"/>
            </a:xfrm>
            <a:custGeom>
              <a:avLst/>
              <a:gdLst/>
              <a:ahLst/>
              <a:cxnLst/>
              <a:rect r="r" b="b" t="t" l="l"/>
              <a:pathLst>
                <a:path h="1930321" w="1973623">
                  <a:moveTo>
                    <a:pt x="0" y="0"/>
                  </a:moveTo>
                  <a:lnTo>
                    <a:pt x="1973623" y="0"/>
                  </a:lnTo>
                  <a:lnTo>
                    <a:pt x="1973623" y="1930321"/>
                  </a:lnTo>
                  <a:lnTo>
                    <a:pt x="0" y="1930321"/>
                  </a:ln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973623" cy="196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0946290" y="5503872"/>
            <a:ext cx="3566578" cy="3488325"/>
            <a:chOff x="0" y="0"/>
            <a:chExt cx="1973623" cy="193032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973623" cy="1930321"/>
            </a:xfrm>
            <a:custGeom>
              <a:avLst/>
              <a:gdLst/>
              <a:ahLst/>
              <a:cxnLst/>
              <a:rect r="r" b="b" t="t" l="l"/>
              <a:pathLst>
                <a:path h="1930321" w="1973623">
                  <a:moveTo>
                    <a:pt x="0" y="0"/>
                  </a:moveTo>
                  <a:lnTo>
                    <a:pt x="1973623" y="0"/>
                  </a:lnTo>
                  <a:lnTo>
                    <a:pt x="1973623" y="1930321"/>
                  </a:lnTo>
                  <a:lnTo>
                    <a:pt x="0" y="1930321"/>
                  </a:ln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1973623" cy="196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4532483" y="5503872"/>
            <a:ext cx="3566578" cy="3488325"/>
            <a:chOff x="0" y="0"/>
            <a:chExt cx="1973623" cy="193032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973623" cy="1930321"/>
            </a:xfrm>
            <a:custGeom>
              <a:avLst/>
              <a:gdLst/>
              <a:ahLst/>
              <a:cxnLst/>
              <a:rect r="r" b="b" t="t" l="l"/>
              <a:pathLst>
                <a:path h="1930321" w="1973623">
                  <a:moveTo>
                    <a:pt x="0" y="0"/>
                  </a:moveTo>
                  <a:lnTo>
                    <a:pt x="1973623" y="0"/>
                  </a:lnTo>
                  <a:lnTo>
                    <a:pt x="1973623" y="1930321"/>
                  </a:lnTo>
                  <a:lnTo>
                    <a:pt x="0" y="1930321"/>
                  </a:ln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973623" cy="196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35" id="35"/>
          <p:cNvSpPr/>
          <p:nvPr/>
        </p:nvSpPr>
        <p:spPr>
          <a:xfrm flipH="false" flipV="false" rot="0">
            <a:off x="253976" y="5565032"/>
            <a:ext cx="2358093" cy="2144882"/>
          </a:xfrm>
          <a:custGeom>
            <a:avLst/>
            <a:gdLst/>
            <a:ahLst/>
            <a:cxnLst/>
            <a:rect r="r" b="b" t="t" l="l"/>
            <a:pathLst>
              <a:path h="2144882" w="2358093">
                <a:moveTo>
                  <a:pt x="0" y="0"/>
                </a:moveTo>
                <a:lnTo>
                  <a:pt x="2358093" y="0"/>
                </a:lnTo>
                <a:lnTo>
                  <a:pt x="2358093" y="2144882"/>
                </a:lnTo>
                <a:lnTo>
                  <a:pt x="0" y="21448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1088672" y="7680918"/>
            <a:ext cx="1175570" cy="1259086"/>
          </a:xfrm>
          <a:custGeom>
            <a:avLst/>
            <a:gdLst/>
            <a:ahLst/>
            <a:cxnLst/>
            <a:rect r="r" b="b" t="t" l="l"/>
            <a:pathLst>
              <a:path h="1259086" w="1175570">
                <a:moveTo>
                  <a:pt x="0" y="0"/>
                </a:moveTo>
                <a:lnTo>
                  <a:pt x="1175570" y="0"/>
                </a:lnTo>
                <a:lnTo>
                  <a:pt x="1175570" y="1259086"/>
                </a:lnTo>
                <a:lnTo>
                  <a:pt x="0" y="125908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-89425" b="0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1250313" y="7780882"/>
            <a:ext cx="302640" cy="295584"/>
          </a:xfrm>
          <a:custGeom>
            <a:avLst/>
            <a:gdLst/>
            <a:ahLst/>
            <a:cxnLst/>
            <a:rect r="r" b="b" t="t" l="l"/>
            <a:pathLst>
              <a:path h="295584" w="302640">
                <a:moveTo>
                  <a:pt x="0" y="0"/>
                </a:moveTo>
                <a:lnTo>
                  <a:pt x="302640" y="0"/>
                </a:lnTo>
                <a:lnTo>
                  <a:pt x="302640" y="295584"/>
                </a:lnTo>
                <a:lnTo>
                  <a:pt x="0" y="2955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154" t="-73136" r="-135933" b="-78825"/>
            </a:stretch>
          </a:blipFill>
        </p:spPr>
      </p:sp>
      <p:sp>
        <p:nvSpPr>
          <p:cNvPr name="Freeform 38" id="38"/>
          <p:cNvSpPr/>
          <p:nvPr/>
        </p:nvSpPr>
        <p:spPr>
          <a:xfrm flipH="false" flipV="false" rot="0">
            <a:off x="1530993" y="8135001"/>
            <a:ext cx="638761" cy="284577"/>
          </a:xfrm>
          <a:custGeom>
            <a:avLst/>
            <a:gdLst/>
            <a:ahLst/>
            <a:cxnLst/>
            <a:rect r="r" b="b" t="t" l="l"/>
            <a:pathLst>
              <a:path h="284577" w="638761">
                <a:moveTo>
                  <a:pt x="0" y="0"/>
                </a:moveTo>
                <a:lnTo>
                  <a:pt x="638761" y="0"/>
                </a:lnTo>
                <a:lnTo>
                  <a:pt x="638761" y="284577"/>
                </a:lnTo>
                <a:lnTo>
                  <a:pt x="0" y="2845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2748" t="-152197" r="-2910" b="-16453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4118701" y="6917686"/>
            <a:ext cx="2634489" cy="2021975"/>
          </a:xfrm>
          <a:custGeom>
            <a:avLst/>
            <a:gdLst/>
            <a:ahLst/>
            <a:cxnLst/>
            <a:rect r="r" b="b" t="t" l="l"/>
            <a:pathLst>
              <a:path h="2021975" w="2634489">
                <a:moveTo>
                  <a:pt x="0" y="0"/>
                </a:moveTo>
                <a:lnTo>
                  <a:pt x="2634489" y="0"/>
                </a:lnTo>
                <a:lnTo>
                  <a:pt x="2634489" y="2021975"/>
                </a:lnTo>
                <a:lnTo>
                  <a:pt x="0" y="202197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162" r="0" b="-162"/>
            </a:stretch>
          </a:blipFill>
        </p:spPr>
      </p:sp>
      <p:sp>
        <p:nvSpPr>
          <p:cNvPr name="Freeform 40" id="40"/>
          <p:cNvSpPr/>
          <p:nvPr/>
        </p:nvSpPr>
        <p:spPr>
          <a:xfrm flipH="false" flipV="false" rot="0">
            <a:off x="11510861" y="5899197"/>
            <a:ext cx="2286398" cy="1346896"/>
          </a:xfrm>
          <a:custGeom>
            <a:avLst/>
            <a:gdLst/>
            <a:ahLst/>
            <a:cxnLst/>
            <a:rect r="r" b="b" t="t" l="l"/>
            <a:pathLst>
              <a:path h="1346896" w="2286398">
                <a:moveTo>
                  <a:pt x="0" y="0"/>
                </a:moveTo>
                <a:lnTo>
                  <a:pt x="2286398" y="0"/>
                </a:lnTo>
                <a:lnTo>
                  <a:pt x="2286398" y="1346896"/>
                </a:lnTo>
                <a:lnTo>
                  <a:pt x="0" y="134689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11052345" y="7250040"/>
            <a:ext cx="2990608" cy="1677233"/>
          </a:xfrm>
          <a:custGeom>
            <a:avLst/>
            <a:gdLst/>
            <a:ahLst/>
            <a:cxnLst/>
            <a:rect r="r" b="b" t="t" l="l"/>
            <a:pathLst>
              <a:path h="1677233" w="2990608">
                <a:moveTo>
                  <a:pt x="0" y="0"/>
                </a:moveTo>
                <a:lnTo>
                  <a:pt x="2990608" y="0"/>
                </a:lnTo>
                <a:lnTo>
                  <a:pt x="2990608" y="1677233"/>
                </a:lnTo>
                <a:lnTo>
                  <a:pt x="0" y="167723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42" id="42"/>
          <p:cNvSpPr/>
          <p:nvPr/>
        </p:nvSpPr>
        <p:spPr>
          <a:xfrm flipH="false" flipV="false" rot="0">
            <a:off x="8230855" y="6763285"/>
            <a:ext cx="2004394" cy="2163988"/>
          </a:xfrm>
          <a:custGeom>
            <a:avLst/>
            <a:gdLst/>
            <a:ahLst/>
            <a:cxnLst/>
            <a:rect r="r" b="b" t="t" l="l"/>
            <a:pathLst>
              <a:path h="2163988" w="2004394">
                <a:moveTo>
                  <a:pt x="0" y="0"/>
                </a:moveTo>
                <a:lnTo>
                  <a:pt x="2004393" y="0"/>
                </a:lnTo>
                <a:lnTo>
                  <a:pt x="2004393" y="2163988"/>
                </a:lnTo>
                <a:lnTo>
                  <a:pt x="0" y="216398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8051523" y="5692153"/>
            <a:ext cx="2144883" cy="896951"/>
          </a:xfrm>
          <a:custGeom>
            <a:avLst/>
            <a:gdLst/>
            <a:ahLst/>
            <a:cxnLst/>
            <a:rect r="r" b="b" t="t" l="l"/>
            <a:pathLst>
              <a:path h="896951" w="2144883">
                <a:moveTo>
                  <a:pt x="0" y="0"/>
                </a:moveTo>
                <a:lnTo>
                  <a:pt x="2144883" y="0"/>
                </a:lnTo>
                <a:lnTo>
                  <a:pt x="2144883" y="896951"/>
                </a:lnTo>
                <a:lnTo>
                  <a:pt x="0" y="89695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4145987" y="5639501"/>
            <a:ext cx="2493349" cy="1042673"/>
          </a:xfrm>
          <a:custGeom>
            <a:avLst/>
            <a:gdLst/>
            <a:ahLst/>
            <a:cxnLst/>
            <a:rect r="r" b="b" t="t" l="l"/>
            <a:pathLst>
              <a:path h="1042673" w="2493349">
                <a:moveTo>
                  <a:pt x="0" y="0"/>
                </a:moveTo>
                <a:lnTo>
                  <a:pt x="2493349" y="0"/>
                </a:lnTo>
                <a:lnTo>
                  <a:pt x="2493349" y="1042674"/>
                </a:lnTo>
                <a:lnTo>
                  <a:pt x="0" y="104267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5" id="45"/>
          <p:cNvSpPr/>
          <p:nvPr/>
        </p:nvSpPr>
        <p:spPr>
          <a:xfrm flipH="false" flipV="false" rot="0">
            <a:off x="14675867" y="7042257"/>
            <a:ext cx="2650287" cy="1885017"/>
          </a:xfrm>
          <a:custGeom>
            <a:avLst/>
            <a:gdLst/>
            <a:ahLst/>
            <a:cxnLst/>
            <a:rect r="r" b="b" t="t" l="l"/>
            <a:pathLst>
              <a:path h="1885017" w="2650287">
                <a:moveTo>
                  <a:pt x="0" y="0"/>
                </a:moveTo>
                <a:lnTo>
                  <a:pt x="2650287" y="0"/>
                </a:lnTo>
                <a:lnTo>
                  <a:pt x="2650287" y="1885016"/>
                </a:lnTo>
                <a:lnTo>
                  <a:pt x="0" y="188501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46" id="46"/>
          <p:cNvSpPr/>
          <p:nvPr/>
        </p:nvSpPr>
        <p:spPr>
          <a:xfrm flipH="false" flipV="false" rot="0">
            <a:off x="15304754" y="5973627"/>
            <a:ext cx="2725581" cy="1377693"/>
          </a:xfrm>
          <a:custGeom>
            <a:avLst/>
            <a:gdLst/>
            <a:ahLst/>
            <a:cxnLst/>
            <a:rect r="r" b="b" t="t" l="l"/>
            <a:pathLst>
              <a:path h="1377693" w="2725581">
                <a:moveTo>
                  <a:pt x="0" y="0"/>
                </a:moveTo>
                <a:lnTo>
                  <a:pt x="2725581" y="0"/>
                </a:lnTo>
                <a:lnTo>
                  <a:pt x="2725581" y="1377693"/>
                </a:lnTo>
                <a:lnTo>
                  <a:pt x="0" y="137769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7" id="47"/>
          <p:cNvSpPr/>
          <p:nvPr/>
        </p:nvSpPr>
        <p:spPr>
          <a:xfrm flipH="false" flipV="false" rot="0">
            <a:off x="4118701" y="2172637"/>
            <a:ext cx="2844397" cy="1437751"/>
          </a:xfrm>
          <a:custGeom>
            <a:avLst/>
            <a:gdLst/>
            <a:ahLst/>
            <a:cxnLst/>
            <a:rect r="r" b="b" t="t" l="l"/>
            <a:pathLst>
              <a:path h="1437751" w="2844397">
                <a:moveTo>
                  <a:pt x="0" y="0"/>
                </a:moveTo>
                <a:lnTo>
                  <a:pt x="2844397" y="0"/>
                </a:lnTo>
                <a:lnTo>
                  <a:pt x="2844397" y="1437750"/>
                </a:lnTo>
                <a:lnTo>
                  <a:pt x="0" y="143775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8" id="48"/>
          <p:cNvSpPr/>
          <p:nvPr/>
        </p:nvSpPr>
        <p:spPr>
          <a:xfrm flipH="false" flipV="false" rot="0">
            <a:off x="4478189" y="3464538"/>
            <a:ext cx="2082332" cy="1970407"/>
          </a:xfrm>
          <a:custGeom>
            <a:avLst/>
            <a:gdLst/>
            <a:ahLst/>
            <a:cxnLst/>
            <a:rect r="r" b="b" t="t" l="l"/>
            <a:pathLst>
              <a:path h="1970407" w="2082332">
                <a:moveTo>
                  <a:pt x="0" y="0"/>
                </a:moveTo>
                <a:lnTo>
                  <a:pt x="2082332" y="0"/>
                </a:lnTo>
                <a:lnTo>
                  <a:pt x="2082332" y="1970406"/>
                </a:lnTo>
                <a:lnTo>
                  <a:pt x="0" y="1970406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49" id="49"/>
          <p:cNvSpPr/>
          <p:nvPr/>
        </p:nvSpPr>
        <p:spPr>
          <a:xfrm flipH="false" flipV="false" rot="0">
            <a:off x="6552551" y="3367206"/>
            <a:ext cx="410547" cy="410547"/>
          </a:xfrm>
          <a:custGeom>
            <a:avLst/>
            <a:gdLst/>
            <a:ahLst/>
            <a:cxnLst/>
            <a:rect r="r" b="b" t="t" l="l"/>
            <a:pathLst>
              <a:path h="410547" w="410547">
                <a:moveTo>
                  <a:pt x="0" y="0"/>
                </a:moveTo>
                <a:lnTo>
                  <a:pt x="410547" y="0"/>
                </a:lnTo>
                <a:lnTo>
                  <a:pt x="410547" y="410547"/>
                </a:lnTo>
                <a:lnTo>
                  <a:pt x="0" y="410547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0" id="50"/>
          <p:cNvSpPr/>
          <p:nvPr/>
        </p:nvSpPr>
        <p:spPr>
          <a:xfrm flipH="false" flipV="false" rot="0">
            <a:off x="7487357" y="3525167"/>
            <a:ext cx="2264440" cy="1917226"/>
          </a:xfrm>
          <a:custGeom>
            <a:avLst/>
            <a:gdLst/>
            <a:ahLst/>
            <a:cxnLst/>
            <a:rect r="r" b="b" t="t" l="l"/>
            <a:pathLst>
              <a:path h="1917226" w="2264440">
                <a:moveTo>
                  <a:pt x="0" y="0"/>
                </a:moveTo>
                <a:lnTo>
                  <a:pt x="2264440" y="0"/>
                </a:lnTo>
                <a:lnTo>
                  <a:pt x="2264440" y="1917226"/>
                </a:lnTo>
                <a:lnTo>
                  <a:pt x="0" y="1917226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51" id="51"/>
          <p:cNvSpPr/>
          <p:nvPr/>
        </p:nvSpPr>
        <p:spPr>
          <a:xfrm flipH="false" flipV="false" rot="0">
            <a:off x="8914248" y="2967093"/>
            <a:ext cx="1921825" cy="1149601"/>
          </a:xfrm>
          <a:custGeom>
            <a:avLst/>
            <a:gdLst/>
            <a:ahLst/>
            <a:cxnLst/>
            <a:rect r="r" b="b" t="t" l="l"/>
            <a:pathLst>
              <a:path h="1149601" w="1921825">
                <a:moveTo>
                  <a:pt x="0" y="0"/>
                </a:moveTo>
                <a:lnTo>
                  <a:pt x="1921825" y="0"/>
                </a:lnTo>
                <a:lnTo>
                  <a:pt x="1921825" y="1149601"/>
                </a:lnTo>
                <a:lnTo>
                  <a:pt x="0" y="1149601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2" id="52"/>
          <p:cNvSpPr/>
          <p:nvPr/>
        </p:nvSpPr>
        <p:spPr>
          <a:xfrm flipH="false" flipV="false" rot="0">
            <a:off x="11468825" y="2172637"/>
            <a:ext cx="2545250" cy="1499384"/>
          </a:xfrm>
          <a:custGeom>
            <a:avLst/>
            <a:gdLst/>
            <a:ahLst/>
            <a:cxnLst/>
            <a:rect r="r" b="b" t="t" l="l"/>
            <a:pathLst>
              <a:path h="1499384" w="2545250">
                <a:moveTo>
                  <a:pt x="0" y="0"/>
                </a:moveTo>
                <a:lnTo>
                  <a:pt x="2545250" y="0"/>
                </a:lnTo>
                <a:lnTo>
                  <a:pt x="2545250" y="1499383"/>
                </a:lnTo>
                <a:lnTo>
                  <a:pt x="0" y="149938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3" id="53"/>
          <p:cNvSpPr/>
          <p:nvPr/>
        </p:nvSpPr>
        <p:spPr>
          <a:xfrm flipH="false" flipV="false" rot="0">
            <a:off x="11627256" y="3491222"/>
            <a:ext cx="2030604" cy="1957841"/>
          </a:xfrm>
          <a:custGeom>
            <a:avLst/>
            <a:gdLst/>
            <a:ahLst/>
            <a:cxnLst/>
            <a:rect r="r" b="b" t="t" l="l"/>
            <a:pathLst>
              <a:path h="1957841" w="2030604">
                <a:moveTo>
                  <a:pt x="0" y="0"/>
                </a:moveTo>
                <a:lnTo>
                  <a:pt x="2030604" y="0"/>
                </a:lnTo>
                <a:lnTo>
                  <a:pt x="2030604" y="1957841"/>
                </a:lnTo>
                <a:lnTo>
                  <a:pt x="0" y="195784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  <p:sp>
        <p:nvSpPr>
          <p:cNvPr name="Freeform 54" id="54"/>
          <p:cNvSpPr/>
          <p:nvPr/>
        </p:nvSpPr>
        <p:spPr>
          <a:xfrm flipH="false" flipV="false" rot="0">
            <a:off x="15245691" y="3331569"/>
            <a:ext cx="2306912" cy="2110825"/>
          </a:xfrm>
          <a:custGeom>
            <a:avLst/>
            <a:gdLst/>
            <a:ahLst/>
            <a:cxnLst/>
            <a:rect r="r" b="b" t="t" l="l"/>
            <a:pathLst>
              <a:path h="2110825" w="2306912">
                <a:moveTo>
                  <a:pt x="0" y="0"/>
                </a:moveTo>
                <a:lnTo>
                  <a:pt x="2306912" y="0"/>
                </a:lnTo>
                <a:lnTo>
                  <a:pt x="2306912" y="2110824"/>
                </a:lnTo>
                <a:lnTo>
                  <a:pt x="0" y="2110824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</p:spPr>
      </p:sp>
      <p:sp>
        <p:nvSpPr>
          <p:cNvPr name="Freeform 55" id="55"/>
          <p:cNvSpPr/>
          <p:nvPr/>
        </p:nvSpPr>
        <p:spPr>
          <a:xfrm flipH="false" flipV="false" rot="0">
            <a:off x="14849734" y="2057410"/>
            <a:ext cx="2387391" cy="1769653"/>
          </a:xfrm>
          <a:custGeom>
            <a:avLst/>
            <a:gdLst/>
            <a:ahLst/>
            <a:cxnLst/>
            <a:rect r="r" b="b" t="t" l="l"/>
            <a:pathLst>
              <a:path h="1769653" w="2387391">
                <a:moveTo>
                  <a:pt x="0" y="0"/>
                </a:moveTo>
                <a:lnTo>
                  <a:pt x="2387390" y="0"/>
                </a:lnTo>
                <a:lnTo>
                  <a:pt x="2387390" y="1769653"/>
                </a:lnTo>
                <a:lnTo>
                  <a:pt x="0" y="1769653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647392" y="534033"/>
            <a:ext cx="686661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</a:t>
            </a:r>
            <a:r>
              <a:rPr lang="en-US" b="true" sz="6999" strike="noStrike" u="non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TO</a:t>
            </a:r>
            <a:r>
              <a:rPr lang="en-US" b="true" sz="6999" strike="noStrike" u="non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RYBOARD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703873" y="2548403"/>
            <a:ext cx="1989169" cy="936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79"/>
              </a:lnSpc>
              <a:spcBef>
                <a:spcPct val="0"/>
              </a:spcBef>
            </a:pPr>
            <a:r>
              <a:rPr lang="en-US" sz="1342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Preciso decidir onde investir milhões em um novo empreendimento imobiliário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319563" y="5741183"/>
            <a:ext cx="2226918" cy="1369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14"/>
              </a:lnSpc>
              <a:spcBef>
                <a:spcPct val="0"/>
              </a:spcBef>
            </a:pPr>
            <a:r>
              <a:rPr lang="en-US" sz="129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Consigo filtrar as cidades pela ordem de IDHM e ao acessar a dashboard, visualizar gráficos de furtos, latrocínio e roubo de carros da cidade escolhida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4230940" y="5684798"/>
            <a:ext cx="2323444" cy="922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0"/>
              </a:lnSpc>
              <a:spcBef>
                <a:spcPct val="0"/>
              </a:spcBef>
            </a:pPr>
            <a:r>
              <a:rPr lang="en-US" sz="1307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 dados concretos sobre segurança e perfil da região posso apresentar para diretoria e investidores... 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8143274" y="5800852"/>
            <a:ext cx="1892592" cy="6873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14"/>
              </a:lnSpc>
              <a:spcBef>
                <a:spcPct val="0"/>
              </a:spcBef>
            </a:pPr>
            <a:r>
              <a:rPr lang="en-US" sz="129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...e conseguir fazer uma decisão orientada a indicadores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1739578" y="5984814"/>
            <a:ext cx="1828963" cy="826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70"/>
              </a:lnSpc>
              <a:spcBef>
                <a:spcPct val="0"/>
              </a:spcBef>
            </a:pPr>
            <a:r>
              <a:rPr lang="en-US" sz="1193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Tudo graças a todo suporte analítico que a plataforma da Safety Intelligence trouxe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5301315" y="6155154"/>
            <a:ext cx="2729020" cy="598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2"/>
              </a:lnSpc>
              <a:spcBef>
                <a:spcPct val="0"/>
              </a:spcBef>
            </a:pPr>
            <a:r>
              <a:rPr lang="en-US" sz="178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OBRIGADO SAFETY INTELLIGENCE!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3383192" y="4899325"/>
            <a:ext cx="296992" cy="51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4"/>
              </a:lnSpc>
              <a:spcBef>
                <a:spcPct val="0"/>
              </a:spcBef>
            </a:pPr>
            <a:r>
              <a:rPr lang="en-US" b="true" sz="308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7004257" y="4937937"/>
            <a:ext cx="296992" cy="51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4"/>
              </a:lnSpc>
              <a:spcBef>
                <a:spcPct val="0"/>
              </a:spcBef>
            </a:pPr>
            <a:r>
              <a:rPr lang="en-US" b="true" sz="308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0600258" y="4975658"/>
            <a:ext cx="296992" cy="51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324"/>
              </a:lnSpc>
              <a:spcBef>
                <a:spcPct val="0"/>
              </a:spcBef>
            </a:pPr>
            <a:r>
              <a:rPr lang="en-US" b="true" sz="3089" strike="noStrike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4173105" y="4975658"/>
            <a:ext cx="296992" cy="51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4"/>
              </a:lnSpc>
              <a:spcBef>
                <a:spcPct val="0"/>
              </a:spcBef>
            </a:pPr>
            <a:r>
              <a:rPr lang="en-US" b="true" sz="308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7764837" y="4961295"/>
            <a:ext cx="296992" cy="51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4"/>
              </a:lnSpc>
              <a:spcBef>
                <a:spcPct val="0"/>
              </a:spcBef>
            </a:pPr>
            <a:r>
              <a:rPr lang="en-US" b="true" sz="308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3402434" y="8463982"/>
            <a:ext cx="296992" cy="51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4"/>
              </a:lnSpc>
              <a:spcBef>
                <a:spcPct val="0"/>
              </a:spcBef>
            </a:pPr>
            <a:r>
              <a:rPr lang="en-US" b="true" sz="308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6980149" y="8495059"/>
            <a:ext cx="296992" cy="51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4"/>
              </a:lnSpc>
              <a:spcBef>
                <a:spcPct val="0"/>
              </a:spcBef>
            </a:pPr>
            <a:r>
              <a:rPr lang="en-US" b="true" sz="308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0591436" y="8483598"/>
            <a:ext cx="296992" cy="51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4"/>
              </a:lnSpc>
              <a:spcBef>
                <a:spcPct val="0"/>
              </a:spcBef>
            </a:pPr>
            <a:r>
              <a:rPr lang="en-US" b="true" sz="308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8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4163297" y="8463982"/>
            <a:ext cx="296992" cy="51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4"/>
              </a:lnSpc>
              <a:spcBef>
                <a:spcPct val="0"/>
              </a:spcBef>
            </a:pPr>
            <a:r>
              <a:rPr lang="en-US" b="true" sz="308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9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7458891" y="8440615"/>
            <a:ext cx="593130" cy="51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4"/>
              </a:lnSpc>
              <a:spcBef>
                <a:spcPct val="0"/>
              </a:spcBef>
            </a:pPr>
            <a:r>
              <a:rPr lang="en-US" b="true" sz="308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10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4385074" y="2316225"/>
            <a:ext cx="2359304" cy="688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18"/>
              </a:lnSpc>
              <a:spcBef>
                <a:spcPct val="0"/>
              </a:spcBef>
            </a:pPr>
            <a:r>
              <a:rPr lang="en-US" sz="129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Porém os dados estão espalhados e não tenho tempo para análises manuais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9254830" y="3040519"/>
            <a:ext cx="1360621" cy="974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57"/>
              </a:lnSpc>
              <a:spcBef>
                <a:spcPct val="0"/>
              </a:spcBef>
            </a:pPr>
            <a:r>
              <a:rPr lang="en-US" sz="1397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Vou tentar procurar um software que faça isso...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1663168" y="2531929"/>
            <a:ext cx="2156565" cy="509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67"/>
              </a:lnSpc>
              <a:spcBef>
                <a:spcPct val="0"/>
              </a:spcBef>
            </a:pPr>
            <a:r>
              <a:rPr lang="en-US" sz="1476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Encontrei! Tem tudo que preciso!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15086440" y="2274324"/>
            <a:ext cx="1913979" cy="1143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16"/>
              </a:lnSpc>
              <a:spcBef>
                <a:spcPct val="0"/>
              </a:spcBef>
            </a:pPr>
            <a:r>
              <a:rPr lang="en-US" sz="1297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Relatórios, dados confiáveis, informações centralizadas, dashboards claros e objetivos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7153940" y="7358607"/>
            <a:ext cx="945121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Fim.</a:t>
            </a:r>
          </a:p>
        </p:txBody>
      </p:sp>
      <p:sp>
        <p:nvSpPr>
          <p:cNvPr name="Freeform 78" id="78"/>
          <p:cNvSpPr/>
          <p:nvPr/>
        </p:nvSpPr>
        <p:spPr>
          <a:xfrm flipH="false" flipV="false" rot="0">
            <a:off x="1825631" y="7549978"/>
            <a:ext cx="967203" cy="1399208"/>
          </a:xfrm>
          <a:custGeom>
            <a:avLst/>
            <a:gdLst/>
            <a:ahLst/>
            <a:cxnLst/>
            <a:rect r="r" b="b" t="t" l="l"/>
            <a:pathLst>
              <a:path h="1399208" w="967203">
                <a:moveTo>
                  <a:pt x="0" y="0"/>
                </a:moveTo>
                <a:lnTo>
                  <a:pt x="967203" y="0"/>
                </a:lnTo>
                <a:lnTo>
                  <a:pt x="967203" y="1399208"/>
                </a:lnTo>
                <a:lnTo>
                  <a:pt x="0" y="139920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66778" y="6366843"/>
            <a:ext cx="16313883" cy="3602556"/>
            <a:chOff x="0" y="0"/>
            <a:chExt cx="609844" cy="1346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09844" cy="134670"/>
            </a:xfrm>
            <a:custGeom>
              <a:avLst/>
              <a:gdLst/>
              <a:ahLst/>
              <a:cxnLst/>
              <a:rect r="r" b="b" t="t" l="l"/>
              <a:pathLst>
                <a:path h="134670" w="609844">
                  <a:moveTo>
                    <a:pt x="0" y="0"/>
                  </a:moveTo>
                  <a:lnTo>
                    <a:pt x="609844" y="0"/>
                  </a:lnTo>
                  <a:lnTo>
                    <a:pt x="609844" y="134670"/>
                  </a:lnTo>
                  <a:lnTo>
                    <a:pt x="0" y="134670"/>
                  </a:lnTo>
                  <a:close/>
                </a:path>
              </a:pathLst>
            </a:custGeom>
            <a:solidFill>
              <a:srgbClr val="23232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09844" cy="172770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65303" y="6042699"/>
            <a:ext cx="4407147" cy="648287"/>
            <a:chOff x="0" y="0"/>
            <a:chExt cx="164748" cy="2423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4748" cy="24234"/>
            </a:xfrm>
            <a:custGeom>
              <a:avLst/>
              <a:gdLst/>
              <a:ahLst/>
              <a:cxnLst/>
              <a:rect r="r" b="b" t="t" l="l"/>
              <a:pathLst>
                <a:path h="24234" w="164748">
                  <a:moveTo>
                    <a:pt x="0" y="0"/>
                  </a:moveTo>
                  <a:lnTo>
                    <a:pt x="164748" y="0"/>
                  </a:lnTo>
                  <a:lnTo>
                    <a:pt x="164748" y="24234"/>
                  </a:lnTo>
                  <a:lnTo>
                    <a:pt x="0" y="24234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64748" cy="62334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3505196" y="2017082"/>
            <a:ext cx="6717084" cy="3793067"/>
            <a:chOff x="0" y="0"/>
            <a:chExt cx="251097" cy="14179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1097" cy="141792"/>
            </a:xfrm>
            <a:custGeom>
              <a:avLst/>
              <a:gdLst/>
              <a:ahLst/>
              <a:cxnLst/>
              <a:rect r="r" b="b" t="t" l="l"/>
              <a:pathLst>
                <a:path h="141792" w="251097">
                  <a:moveTo>
                    <a:pt x="0" y="0"/>
                  </a:moveTo>
                  <a:lnTo>
                    <a:pt x="251097" y="0"/>
                  </a:lnTo>
                  <a:lnTo>
                    <a:pt x="251097" y="141792"/>
                  </a:lnTo>
                  <a:lnTo>
                    <a:pt x="0" y="141792"/>
                  </a:lnTo>
                  <a:close/>
                </a:path>
              </a:pathLst>
            </a:custGeom>
            <a:solidFill>
              <a:srgbClr val="23232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251097" cy="179892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768757" y="1692939"/>
            <a:ext cx="1982210" cy="648287"/>
            <a:chOff x="0" y="0"/>
            <a:chExt cx="74099" cy="2423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4099" cy="24234"/>
            </a:xfrm>
            <a:custGeom>
              <a:avLst/>
              <a:gdLst/>
              <a:ahLst/>
              <a:cxnLst/>
              <a:rect r="r" b="b" t="t" l="l"/>
              <a:pathLst>
                <a:path h="24234" w="74099">
                  <a:moveTo>
                    <a:pt x="0" y="0"/>
                  </a:moveTo>
                  <a:lnTo>
                    <a:pt x="74099" y="0"/>
                  </a:lnTo>
                  <a:lnTo>
                    <a:pt x="74099" y="24234"/>
                  </a:lnTo>
                  <a:lnTo>
                    <a:pt x="0" y="24234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74099" cy="62334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542216" y="2017082"/>
            <a:ext cx="7138445" cy="3793067"/>
            <a:chOff x="0" y="0"/>
            <a:chExt cx="266849" cy="14179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66849" cy="141792"/>
            </a:xfrm>
            <a:custGeom>
              <a:avLst/>
              <a:gdLst/>
              <a:ahLst/>
              <a:cxnLst/>
              <a:rect r="r" b="b" t="t" l="l"/>
              <a:pathLst>
                <a:path h="141792" w="266849">
                  <a:moveTo>
                    <a:pt x="0" y="0"/>
                  </a:moveTo>
                  <a:lnTo>
                    <a:pt x="266849" y="0"/>
                  </a:lnTo>
                  <a:lnTo>
                    <a:pt x="266849" y="141792"/>
                  </a:lnTo>
                  <a:lnTo>
                    <a:pt x="0" y="141792"/>
                  </a:lnTo>
                  <a:close/>
                </a:path>
              </a:pathLst>
            </a:custGeom>
            <a:solidFill>
              <a:srgbClr val="232325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66849" cy="179892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805776" y="1692939"/>
            <a:ext cx="1982210" cy="648287"/>
            <a:chOff x="0" y="0"/>
            <a:chExt cx="74099" cy="2423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4099" cy="24234"/>
            </a:xfrm>
            <a:custGeom>
              <a:avLst/>
              <a:gdLst/>
              <a:ahLst/>
              <a:cxnLst/>
              <a:rect r="r" b="b" t="t" l="l"/>
              <a:pathLst>
                <a:path h="24234" w="74099">
                  <a:moveTo>
                    <a:pt x="0" y="0"/>
                  </a:moveTo>
                  <a:lnTo>
                    <a:pt x="74099" y="0"/>
                  </a:lnTo>
                  <a:lnTo>
                    <a:pt x="74099" y="24234"/>
                  </a:lnTo>
                  <a:lnTo>
                    <a:pt x="0" y="24234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4099" cy="62334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371094" y="540414"/>
            <a:ext cx="9339286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PROTO-PERSONA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72659" y="6226819"/>
            <a:ext cx="4399791" cy="3657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6"/>
              </a:lnSpc>
            </a:pPr>
            <a:r>
              <a:rPr lang="en-US" b="true" sz="2962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Dores / Necessidades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780553" y="2547109"/>
            <a:ext cx="6166372" cy="2647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Nome:</a:t>
            </a: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Teresa Cristina</a:t>
            </a:r>
          </a:p>
          <a:p>
            <a:pPr algn="l">
              <a:lnSpc>
                <a:spcPts val="3000"/>
              </a:lnSpc>
            </a:pPr>
            <a:r>
              <a:rPr lang="en-US" sz="20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Cargo: </a:t>
            </a: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Diretora de Investimentos</a:t>
            </a:r>
          </a:p>
          <a:p>
            <a:pPr algn="l">
              <a:lnSpc>
                <a:spcPts val="3000"/>
              </a:lnSpc>
            </a:pPr>
          </a:p>
          <a:p>
            <a:pPr algn="l">
              <a:lnSpc>
                <a:spcPts val="3000"/>
              </a:lnSpc>
            </a:pPr>
            <a:r>
              <a:rPr lang="en-US" sz="20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Frase:</a:t>
            </a:r>
          </a:p>
          <a:p>
            <a:pPr algn="l">
              <a:lnSpc>
                <a:spcPts val="3000"/>
              </a:lnSpc>
            </a:pPr>
            <a:r>
              <a:rPr lang="en-US" sz="2000" i="true">
                <a:solidFill>
                  <a:srgbClr val="FFFFFF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"Não posso aprovar um novo empreendimento baseada só em feeling. Preciso de dados concretos sobre segurança e perfil da região."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776113" y="1877059"/>
            <a:ext cx="1974854" cy="3657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6"/>
              </a:lnSpc>
            </a:pPr>
            <a:r>
              <a:rPr lang="en-US" b="true" sz="2962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Quem?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813132" y="1877059"/>
            <a:ext cx="1974854" cy="3657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6"/>
              </a:lnSpc>
            </a:pPr>
            <a:r>
              <a:rPr lang="en-US" b="true" sz="2962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Perfil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813132" y="2556634"/>
            <a:ext cx="6477812" cy="2943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Estratégica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Analítico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Toma decisões de alto impacto financeiro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Cobra previsibilidade e mitigação de risco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Trabalha com conselho e investidores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Orientada a indicadores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Tem pouco tempo para análises manuais</a:t>
            </a:r>
          </a:p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Valoriza dashboards claros e objetivos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765303" y="7052936"/>
            <a:ext cx="15795697" cy="24011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58"/>
              </a:lnSpc>
            </a:pPr>
            <a:r>
              <a:rPr lang="en-US" sz="217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Alto risco financeiro ao escolher uma localização inadequada</a:t>
            </a:r>
          </a:p>
          <a:p>
            <a:pPr algn="l">
              <a:lnSpc>
                <a:spcPts val="3258"/>
              </a:lnSpc>
            </a:pPr>
            <a:r>
              <a:rPr lang="en-US" sz="217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Falta de integração entre dados de criminalidade e indicadores socioeconômicos</a:t>
            </a:r>
          </a:p>
          <a:p>
            <a:pPr algn="l">
              <a:lnSpc>
                <a:spcPts val="3258"/>
              </a:lnSpc>
            </a:pPr>
            <a:r>
              <a:rPr lang="en-US" sz="217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Relatórios complexos e pouco visuais</a:t>
            </a:r>
          </a:p>
          <a:p>
            <a:pPr algn="l">
              <a:lnSpc>
                <a:spcPts val="3258"/>
              </a:lnSpc>
            </a:pPr>
            <a:r>
              <a:rPr lang="en-US" sz="217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Pressão para expandir sem comprometer a marca da empresa</a:t>
            </a:r>
          </a:p>
          <a:p>
            <a:pPr algn="l">
              <a:lnSpc>
                <a:spcPts val="3258"/>
              </a:lnSpc>
            </a:pPr>
            <a:r>
              <a:rPr lang="en-US" sz="217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Necessidade de justificar decisões com embasamento técnico</a:t>
            </a:r>
          </a:p>
          <a:p>
            <a:pPr algn="l">
              <a:lnSpc>
                <a:spcPts val="3258"/>
              </a:lnSpc>
            </a:pPr>
            <a:r>
              <a:rPr lang="en-US" sz="2172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• Quer reduzir subjetividade nas decisões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371094" y="2080337"/>
            <a:ext cx="2788418" cy="3666558"/>
          </a:xfrm>
          <a:custGeom>
            <a:avLst/>
            <a:gdLst/>
            <a:ahLst/>
            <a:cxnLst/>
            <a:rect r="r" b="b" t="t" l="l"/>
            <a:pathLst>
              <a:path h="3666558" w="2788418">
                <a:moveTo>
                  <a:pt x="0" y="0"/>
                </a:moveTo>
                <a:lnTo>
                  <a:pt x="2788418" y="0"/>
                </a:lnTo>
                <a:lnTo>
                  <a:pt x="2788418" y="3666558"/>
                </a:lnTo>
                <a:lnTo>
                  <a:pt x="0" y="36665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683" t="0" r="-19385" b="-43755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897" t="-62971" r="-134602" b="-72731"/>
            </a:stretch>
          </a:blipFill>
        </p:spPr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0125" y="527341"/>
            <a:ext cx="6761999" cy="93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9"/>
              </a:lnSpc>
              <a:spcBef>
                <a:spcPct val="0"/>
              </a:spcBef>
            </a:pPr>
            <a:r>
              <a:rPr lang="en-US" b="true" sz="6999">
                <a:solidFill>
                  <a:srgbClr val="0B2E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USER STORIES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9278526" y="2724441"/>
            <a:ext cx="8009349" cy="2065764"/>
            <a:chOff x="0" y="0"/>
            <a:chExt cx="295664" cy="7625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5664" cy="76257"/>
            </a:xfrm>
            <a:custGeom>
              <a:avLst/>
              <a:gdLst/>
              <a:ahLst/>
              <a:cxnLst/>
              <a:rect r="r" b="b" t="t" l="l"/>
              <a:pathLst>
                <a:path h="76257" w="295664">
                  <a:moveTo>
                    <a:pt x="0" y="0"/>
                  </a:moveTo>
                  <a:lnTo>
                    <a:pt x="295664" y="0"/>
                  </a:lnTo>
                  <a:lnTo>
                    <a:pt x="295664" y="76257"/>
                  </a:lnTo>
                  <a:lnTo>
                    <a:pt x="0" y="76257"/>
                  </a:lnTo>
                  <a:close/>
                </a:path>
              </a:pathLst>
            </a:custGeom>
            <a:solidFill>
              <a:srgbClr val="0B2E57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95664" cy="114357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2132258" y="2987341"/>
            <a:ext cx="2301886" cy="30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25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Us</a:t>
            </a:r>
            <a:r>
              <a:rPr lang="en-US" b="true" sz="25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er Story #4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07101" y="3432288"/>
            <a:ext cx="7860526" cy="1123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Eu, Carlos Alberto</a:t>
            </a: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, como Analista de Mercado Imobiliário, preciso analisar diferentes regiões para priorizar investimentos com menor risco e maior retorno.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78526" y="5060794"/>
            <a:ext cx="8009349" cy="2065764"/>
            <a:chOff x="0" y="0"/>
            <a:chExt cx="295664" cy="7625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95664" cy="76257"/>
            </a:xfrm>
            <a:custGeom>
              <a:avLst/>
              <a:gdLst/>
              <a:ahLst/>
              <a:cxnLst/>
              <a:rect r="r" b="b" t="t" l="l"/>
              <a:pathLst>
                <a:path h="76257" w="295664">
                  <a:moveTo>
                    <a:pt x="0" y="0"/>
                  </a:moveTo>
                  <a:lnTo>
                    <a:pt x="295664" y="0"/>
                  </a:lnTo>
                  <a:lnTo>
                    <a:pt x="295664" y="76257"/>
                  </a:lnTo>
                  <a:lnTo>
                    <a:pt x="0" y="76257"/>
                  </a:lnTo>
                  <a:close/>
                </a:path>
              </a:pathLst>
            </a:custGeom>
            <a:solidFill>
              <a:srgbClr val="0B2E57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295664" cy="114357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2132258" y="5323695"/>
            <a:ext cx="2301886" cy="30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25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Us</a:t>
            </a:r>
            <a:r>
              <a:rPr lang="en-US" b="true" sz="25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er Story #5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297576" y="5768641"/>
            <a:ext cx="7879576" cy="1123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Eu, Julian</a:t>
            </a: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a, como Corretora de Imóveis, preciso visualizar informações de segurança da região, para avaliar riscos antes de visitas.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278526" y="7393258"/>
            <a:ext cx="8009349" cy="2065764"/>
            <a:chOff x="0" y="0"/>
            <a:chExt cx="295664" cy="7625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95664" cy="76257"/>
            </a:xfrm>
            <a:custGeom>
              <a:avLst/>
              <a:gdLst/>
              <a:ahLst/>
              <a:cxnLst/>
              <a:rect r="r" b="b" t="t" l="l"/>
              <a:pathLst>
                <a:path h="76257" w="295664">
                  <a:moveTo>
                    <a:pt x="0" y="0"/>
                  </a:moveTo>
                  <a:lnTo>
                    <a:pt x="295664" y="0"/>
                  </a:lnTo>
                  <a:lnTo>
                    <a:pt x="295664" y="76257"/>
                  </a:lnTo>
                  <a:lnTo>
                    <a:pt x="0" y="76257"/>
                  </a:lnTo>
                  <a:close/>
                </a:path>
              </a:pathLst>
            </a:custGeom>
            <a:solidFill>
              <a:srgbClr val="0B2E57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95664" cy="114357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2132258" y="7656159"/>
            <a:ext cx="2301886" cy="30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25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Us</a:t>
            </a:r>
            <a:r>
              <a:rPr lang="en-US" b="true" sz="25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er Story #6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232690" y="8101105"/>
            <a:ext cx="8009349" cy="1123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Eu, Juliana</a:t>
            </a: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, como Corretora de Imóveis, preciso visualizar dados em formato de lista ou tabela, para facilitar a leitura e organização das informações.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000125" y="2724441"/>
            <a:ext cx="8009349" cy="2065764"/>
            <a:chOff x="0" y="0"/>
            <a:chExt cx="295664" cy="7625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95664" cy="76257"/>
            </a:xfrm>
            <a:custGeom>
              <a:avLst/>
              <a:gdLst/>
              <a:ahLst/>
              <a:cxnLst/>
              <a:rect r="r" b="b" t="t" l="l"/>
              <a:pathLst>
                <a:path h="76257" w="295664">
                  <a:moveTo>
                    <a:pt x="0" y="0"/>
                  </a:moveTo>
                  <a:lnTo>
                    <a:pt x="295664" y="0"/>
                  </a:lnTo>
                  <a:lnTo>
                    <a:pt x="295664" y="76257"/>
                  </a:lnTo>
                  <a:lnTo>
                    <a:pt x="0" y="76257"/>
                  </a:lnTo>
                  <a:close/>
                </a:path>
              </a:pathLst>
            </a:custGeom>
            <a:solidFill>
              <a:srgbClr val="0B2E57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295664" cy="114357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3853857" y="2987341"/>
            <a:ext cx="2301886" cy="30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25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Us</a:t>
            </a:r>
            <a:r>
              <a:rPr lang="en-US" b="true" sz="25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er Story #1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19175" y="3432288"/>
            <a:ext cx="7935832" cy="1123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Eu, Teresa Cristina</a:t>
            </a: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, como Diretora de Investimentos, preciso de dashboards simplificados para acompanhar o potencial das regiões analisadas.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00125" y="5060794"/>
            <a:ext cx="8009349" cy="2065764"/>
            <a:chOff x="0" y="0"/>
            <a:chExt cx="295664" cy="7625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95664" cy="76257"/>
            </a:xfrm>
            <a:custGeom>
              <a:avLst/>
              <a:gdLst/>
              <a:ahLst/>
              <a:cxnLst/>
              <a:rect r="r" b="b" t="t" l="l"/>
              <a:pathLst>
                <a:path h="76257" w="295664">
                  <a:moveTo>
                    <a:pt x="0" y="0"/>
                  </a:moveTo>
                  <a:lnTo>
                    <a:pt x="295664" y="0"/>
                  </a:lnTo>
                  <a:lnTo>
                    <a:pt x="295664" y="76257"/>
                  </a:lnTo>
                  <a:lnTo>
                    <a:pt x="0" y="76257"/>
                  </a:lnTo>
                  <a:close/>
                </a:path>
              </a:pathLst>
            </a:custGeom>
            <a:solidFill>
              <a:srgbClr val="0B2E57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295664" cy="114357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3853857" y="5323695"/>
            <a:ext cx="2301886" cy="30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25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Us</a:t>
            </a:r>
            <a:r>
              <a:rPr lang="en-US" b="true" sz="25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er Story #2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19175" y="5768641"/>
            <a:ext cx="7935832" cy="1123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Eu, Teresa Cristina</a:t>
            </a: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, como Diretora de Investimentos, preciso justificar decisões com base em dados concretos para apresentar ao conselho e investidores.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000125" y="7393258"/>
            <a:ext cx="8009349" cy="2065764"/>
            <a:chOff x="0" y="0"/>
            <a:chExt cx="295664" cy="76257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95664" cy="76257"/>
            </a:xfrm>
            <a:custGeom>
              <a:avLst/>
              <a:gdLst/>
              <a:ahLst/>
              <a:cxnLst/>
              <a:rect r="r" b="b" t="t" l="l"/>
              <a:pathLst>
                <a:path h="76257" w="295664">
                  <a:moveTo>
                    <a:pt x="0" y="0"/>
                  </a:moveTo>
                  <a:lnTo>
                    <a:pt x="295664" y="0"/>
                  </a:lnTo>
                  <a:lnTo>
                    <a:pt x="295664" y="76257"/>
                  </a:lnTo>
                  <a:lnTo>
                    <a:pt x="0" y="76257"/>
                  </a:lnTo>
                  <a:close/>
                </a:path>
              </a:pathLst>
            </a:custGeom>
            <a:solidFill>
              <a:srgbClr val="0B2E57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295664" cy="114357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3853857" y="7656159"/>
            <a:ext cx="2301886" cy="30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2500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Us</a:t>
            </a:r>
            <a:r>
              <a:rPr lang="en-US" b="true" sz="25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er Story #3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38225" y="8101105"/>
            <a:ext cx="7897732" cy="1123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Eu, Carlos Alberto</a:t>
            </a: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, como Analista de Mercado Imobiliário, preciso de dados confiáveis para reduzir a incerteza nas decisões estratégicas.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44019" y="1096935"/>
            <a:ext cx="5718890" cy="4346416"/>
            <a:chOff x="0" y="0"/>
            <a:chExt cx="1425945" cy="10837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25945" cy="1083733"/>
            </a:xfrm>
            <a:custGeom>
              <a:avLst/>
              <a:gdLst/>
              <a:ahLst/>
              <a:cxnLst/>
              <a:rect r="r" b="b" t="t" l="l"/>
              <a:pathLst>
                <a:path h="1083733" w="1425945">
                  <a:moveTo>
                    <a:pt x="0" y="0"/>
                  </a:moveTo>
                  <a:lnTo>
                    <a:pt x="1425945" y="0"/>
                  </a:lnTo>
                  <a:lnTo>
                    <a:pt x="1425945" y="1083733"/>
                  </a:lnTo>
                  <a:lnTo>
                    <a:pt x="0" y="1083733"/>
                  </a:lnTo>
                  <a:close/>
                </a:path>
              </a:pathLst>
            </a:custGeom>
            <a:solidFill>
              <a:srgbClr val="EDF2F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25945" cy="11218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396978" y="1096935"/>
            <a:ext cx="5492073" cy="8973708"/>
            <a:chOff x="0" y="0"/>
            <a:chExt cx="1369391" cy="22375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69391" cy="2237500"/>
            </a:xfrm>
            <a:custGeom>
              <a:avLst/>
              <a:gdLst/>
              <a:ahLst/>
              <a:cxnLst/>
              <a:rect r="r" b="b" t="t" l="l"/>
              <a:pathLst>
                <a:path h="2237500" w="1369391">
                  <a:moveTo>
                    <a:pt x="0" y="0"/>
                  </a:moveTo>
                  <a:lnTo>
                    <a:pt x="1369391" y="0"/>
                  </a:lnTo>
                  <a:lnTo>
                    <a:pt x="1369391" y="2237500"/>
                  </a:lnTo>
                  <a:lnTo>
                    <a:pt x="0" y="2237500"/>
                  </a:lnTo>
                  <a:close/>
                </a:path>
              </a:pathLst>
            </a:custGeom>
            <a:solidFill>
              <a:srgbClr val="EDF2F5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369391" cy="2275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344019" y="5724227"/>
            <a:ext cx="5718890" cy="4346416"/>
            <a:chOff x="0" y="0"/>
            <a:chExt cx="1425945" cy="10837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25945" cy="1083733"/>
            </a:xfrm>
            <a:custGeom>
              <a:avLst/>
              <a:gdLst/>
              <a:ahLst/>
              <a:cxnLst/>
              <a:rect r="r" b="b" t="t" l="l"/>
              <a:pathLst>
                <a:path h="1083733" w="1425945">
                  <a:moveTo>
                    <a:pt x="0" y="0"/>
                  </a:moveTo>
                  <a:lnTo>
                    <a:pt x="1425945" y="0"/>
                  </a:lnTo>
                  <a:lnTo>
                    <a:pt x="1425945" y="1083733"/>
                  </a:lnTo>
                  <a:lnTo>
                    <a:pt x="0" y="1083733"/>
                  </a:lnTo>
                  <a:close/>
                </a:path>
              </a:pathLst>
            </a:custGeom>
            <a:solidFill>
              <a:srgbClr val="EDF2F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425945" cy="11218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2223120" y="5724227"/>
            <a:ext cx="5716766" cy="4346416"/>
            <a:chOff x="0" y="0"/>
            <a:chExt cx="1425416" cy="108373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25416" cy="1083733"/>
            </a:xfrm>
            <a:custGeom>
              <a:avLst/>
              <a:gdLst/>
              <a:ahLst/>
              <a:cxnLst/>
              <a:rect r="r" b="b" t="t" l="l"/>
              <a:pathLst>
                <a:path h="1083733" w="1425416">
                  <a:moveTo>
                    <a:pt x="0" y="0"/>
                  </a:moveTo>
                  <a:lnTo>
                    <a:pt x="1425416" y="0"/>
                  </a:lnTo>
                  <a:lnTo>
                    <a:pt x="1425416" y="1083733"/>
                  </a:lnTo>
                  <a:lnTo>
                    <a:pt x="0" y="1083733"/>
                  </a:lnTo>
                  <a:close/>
                </a:path>
              </a:pathLst>
            </a:custGeom>
            <a:solidFill>
              <a:srgbClr val="EDF2F5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425416" cy="11218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221069" y="1096935"/>
            <a:ext cx="5716766" cy="4346416"/>
            <a:chOff x="0" y="0"/>
            <a:chExt cx="1425416" cy="108373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25416" cy="1083733"/>
            </a:xfrm>
            <a:custGeom>
              <a:avLst/>
              <a:gdLst/>
              <a:ahLst/>
              <a:cxnLst/>
              <a:rect r="r" b="b" t="t" l="l"/>
              <a:pathLst>
                <a:path h="1083733" w="1425416">
                  <a:moveTo>
                    <a:pt x="0" y="0"/>
                  </a:moveTo>
                  <a:lnTo>
                    <a:pt x="1425416" y="0"/>
                  </a:lnTo>
                  <a:lnTo>
                    <a:pt x="1425416" y="1083733"/>
                  </a:lnTo>
                  <a:lnTo>
                    <a:pt x="0" y="1083733"/>
                  </a:lnTo>
                  <a:close/>
                </a:path>
              </a:pathLst>
            </a:custGeom>
            <a:solidFill>
              <a:srgbClr val="EDF2F5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425416" cy="11218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44019" y="1096935"/>
            <a:ext cx="5720941" cy="664741"/>
            <a:chOff x="0" y="0"/>
            <a:chExt cx="1426457" cy="16574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26457" cy="165746"/>
            </a:xfrm>
            <a:custGeom>
              <a:avLst/>
              <a:gdLst/>
              <a:ahLst/>
              <a:cxnLst/>
              <a:rect r="r" b="b" t="t" l="l"/>
              <a:pathLst>
                <a:path h="165746" w="1426457">
                  <a:moveTo>
                    <a:pt x="0" y="0"/>
                  </a:moveTo>
                  <a:lnTo>
                    <a:pt x="1426457" y="0"/>
                  </a:lnTo>
                  <a:lnTo>
                    <a:pt x="1426457" y="165746"/>
                  </a:lnTo>
                  <a:lnTo>
                    <a:pt x="0" y="165746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426457" cy="2038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PROBLEMAS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44019" y="5724227"/>
            <a:ext cx="5720941" cy="664693"/>
            <a:chOff x="0" y="0"/>
            <a:chExt cx="1426457" cy="16573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26457" cy="165734"/>
            </a:xfrm>
            <a:custGeom>
              <a:avLst/>
              <a:gdLst/>
              <a:ahLst/>
              <a:cxnLst/>
              <a:rect r="r" b="b" t="t" l="l"/>
              <a:pathLst>
                <a:path h="165734" w="1426457">
                  <a:moveTo>
                    <a:pt x="0" y="0"/>
                  </a:moveTo>
                  <a:lnTo>
                    <a:pt x="1426457" y="0"/>
                  </a:lnTo>
                  <a:lnTo>
                    <a:pt x="1426457" y="165734"/>
                  </a:lnTo>
                  <a:lnTo>
                    <a:pt x="0" y="165734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426457" cy="2038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 strike="noStrike" u="non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CLIENTES E USUÁRIOS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395008" y="1096935"/>
            <a:ext cx="5494044" cy="664741"/>
            <a:chOff x="0" y="0"/>
            <a:chExt cx="1369882" cy="16574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369882" cy="165746"/>
            </a:xfrm>
            <a:custGeom>
              <a:avLst/>
              <a:gdLst/>
              <a:ahLst/>
              <a:cxnLst/>
              <a:rect r="r" b="b" t="t" l="l"/>
              <a:pathLst>
                <a:path h="165746" w="1369882">
                  <a:moveTo>
                    <a:pt x="0" y="0"/>
                  </a:moveTo>
                  <a:lnTo>
                    <a:pt x="1369882" y="0"/>
                  </a:lnTo>
                  <a:lnTo>
                    <a:pt x="1369882" y="165746"/>
                  </a:lnTo>
                  <a:lnTo>
                    <a:pt x="0" y="165746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369882" cy="2038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 strike="noStrike" u="non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IDEIAS E SOLUÇÕES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2223120" y="1096935"/>
            <a:ext cx="5718817" cy="664741"/>
            <a:chOff x="0" y="0"/>
            <a:chExt cx="1425927" cy="16574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425927" cy="165746"/>
            </a:xfrm>
            <a:custGeom>
              <a:avLst/>
              <a:gdLst/>
              <a:ahLst/>
              <a:cxnLst/>
              <a:rect r="r" b="b" t="t" l="l"/>
              <a:pathLst>
                <a:path h="165746" w="1425927">
                  <a:moveTo>
                    <a:pt x="0" y="0"/>
                  </a:moveTo>
                  <a:lnTo>
                    <a:pt x="1425927" y="0"/>
                  </a:lnTo>
                  <a:lnTo>
                    <a:pt x="1425927" y="165746"/>
                  </a:lnTo>
                  <a:lnTo>
                    <a:pt x="0" y="165746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425927" cy="2038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 strike="noStrike" u="non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RESULTADO PARA O NEGÓCIO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2223120" y="5724227"/>
            <a:ext cx="5718817" cy="664693"/>
            <a:chOff x="0" y="0"/>
            <a:chExt cx="1425927" cy="16573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425927" cy="165734"/>
            </a:xfrm>
            <a:custGeom>
              <a:avLst/>
              <a:gdLst/>
              <a:ahLst/>
              <a:cxnLst/>
              <a:rect r="r" b="b" t="t" l="l"/>
              <a:pathLst>
                <a:path h="165734" w="1425927">
                  <a:moveTo>
                    <a:pt x="0" y="0"/>
                  </a:moveTo>
                  <a:lnTo>
                    <a:pt x="1425927" y="0"/>
                  </a:lnTo>
                  <a:lnTo>
                    <a:pt x="1425927" y="165734"/>
                  </a:lnTo>
                  <a:lnTo>
                    <a:pt x="0" y="165734"/>
                  </a:lnTo>
                  <a:close/>
                </a:path>
              </a:pathLst>
            </a:custGeom>
            <a:solidFill>
              <a:srgbClr val="D24545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1425927" cy="2038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 strike="noStrike" u="none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BENEFICÍOS PARA USUÁRIO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647392" y="228600"/>
            <a:ext cx="8525894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850"/>
              </a:lnSpc>
              <a:spcBef>
                <a:spcPct val="0"/>
              </a:spcBef>
            </a:pPr>
            <a:r>
              <a:rPr lang="en-US" b="true" sz="65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LEAN UX CANVAS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663835" y="1818826"/>
            <a:ext cx="5081309" cy="1124183"/>
            <a:chOff x="0" y="0"/>
            <a:chExt cx="1417383" cy="31358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417383" cy="313580"/>
            </a:xfrm>
            <a:custGeom>
              <a:avLst/>
              <a:gdLst/>
              <a:ahLst/>
              <a:cxnLst/>
              <a:rect r="r" b="b" t="t" l="l"/>
              <a:pathLst>
                <a:path h="313580" w="1417383">
                  <a:moveTo>
                    <a:pt x="0" y="0"/>
                  </a:moveTo>
                  <a:lnTo>
                    <a:pt x="1417383" y="0"/>
                  </a:lnTo>
                  <a:lnTo>
                    <a:pt x="1417383" y="313580"/>
                  </a:lnTo>
                  <a:lnTo>
                    <a:pt x="0" y="313580"/>
                  </a:lnTo>
                  <a:close/>
                </a:path>
              </a:pathLst>
            </a:custGeom>
            <a:solidFill>
              <a:srgbClr val="05254A"/>
            </a:solidFill>
            <a:ln cap="sq">
              <a:noFill/>
              <a:prstDash val="solid"/>
              <a:miter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417383" cy="3516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Dados de segurança e IDHM estão dispersos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2809" y="3036272"/>
            <a:ext cx="5081309" cy="1124183"/>
            <a:chOff x="0" y="0"/>
            <a:chExt cx="1771199" cy="39185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771199" cy="391858"/>
            </a:xfrm>
            <a:custGeom>
              <a:avLst/>
              <a:gdLst/>
              <a:ahLst/>
              <a:cxnLst/>
              <a:rect r="r" b="b" t="t" l="l"/>
              <a:pathLst>
                <a:path h="391858" w="1771199">
                  <a:moveTo>
                    <a:pt x="0" y="0"/>
                  </a:moveTo>
                  <a:lnTo>
                    <a:pt x="1771199" y="0"/>
                  </a:lnTo>
                  <a:lnTo>
                    <a:pt x="1771199" y="391858"/>
                  </a:lnTo>
                  <a:lnTo>
                    <a:pt x="0" y="391858"/>
                  </a:lnTo>
                  <a:close/>
                </a:path>
              </a:pathLst>
            </a:custGeom>
            <a:solidFill>
              <a:srgbClr val="09396D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771199" cy="429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Falta de base analítica nas decisões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663835" y="4253718"/>
            <a:ext cx="5081309" cy="1124183"/>
            <a:chOff x="0" y="0"/>
            <a:chExt cx="1614266" cy="35713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614266" cy="357139"/>
            </a:xfrm>
            <a:custGeom>
              <a:avLst/>
              <a:gdLst/>
              <a:ahLst/>
              <a:cxnLst/>
              <a:rect r="r" b="b" t="t" l="l"/>
              <a:pathLst>
                <a:path h="357139" w="1614266">
                  <a:moveTo>
                    <a:pt x="0" y="0"/>
                  </a:moveTo>
                  <a:lnTo>
                    <a:pt x="1614266" y="0"/>
                  </a:lnTo>
                  <a:lnTo>
                    <a:pt x="1614266" y="357139"/>
                  </a:lnTo>
                  <a:lnTo>
                    <a:pt x="0" y="357139"/>
                  </a:lnTo>
                  <a:close/>
                </a:path>
              </a:pathLst>
            </a:custGeom>
            <a:solidFill>
              <a:srgbClr val="27639B"/>
            </a:solidFill>
            <a:ln cap="sq">
              <a:noFill/>
              <a:prstDash val="solid"/>
              <a:miter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1614266" cy="395239"/>
            </a:xfrm>
            <a:prstGeom prst="rect">
              <a:avLst/>
            </a:prstGeom>
          </p:spPr>
          <p:txBody>
            <a:bodyPr anchor="ctr" rtlCol="false" tIns="44604" lIns="44604" bIns="44604" rIns="44604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Processo manual e demorado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757165" y="6886143"/>
            <a:ext cx="4894649" cy="2797404"/>
            <a:chOff x="0" y="0"/>
            <a:chExt cx="1554967" cy="888699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554967" cy="888699"/>
            </a:xfrm>
            <a:custGeom>
              <a:avLst/>
              <a:gdLst/>
              <a:ahLst/>
              <a:cxnLst/>
              <a:rect r="r" b="b" t="t" l="l"/>
              <a:pathLst>
                <a:path h="888699" w="1554967">
                  <a:moveTo>
                    <a:pt x="0" y="0"/>
                  </a:moveTo>
                  <a:lnTo>
                    <a:pt x="1554967" y="0"/>
                  </a:lnTo>
                  <a:lnTo>
                    <a:pt x="1554967" y="888699"/>
                  </a:lnTo>
                  <a:lnTo>
                    <a:pt x="0" y="88869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1554967" cy="926799"/>
            </a:xfrm>
            <a:prstGeom prst="rect">
              <a:avLst/>
            </a:prstGeom>
          </p:spPr>
          <p:txBody>
            <a:bodyPr anchor="ctr" rtlCol="false" tIns="44604" lIns="44604" bIns="44604" rIns="44604"/>
            <a:lstStyle/>
            <a:p>
              <a:pPr algn="ctr">
                <a:lnSpc>
                  <a:spcPts val="3359"/>
                </a:lnSpc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Clientes: Imobiliárias e Incorporadoras</a:t>
              </a:r>
            </a:p>
            <a:p>
              <a:pPr algn="ctr">
                <a:lnSpc>
                  <a:spcPts val="3359"/>
                </a:lnSpc>
              </a:pPr>
            </a:p>
            <a:p>
              <a:pPr algn="ctr">
                <a:lnSpc>
                  <a:spcPts val="3359"/>
                </a:lnSpc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Usuários: Analistas, gestores, corretores e investidores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6519078" y="2535558"/>
            <a:ext cx="5245903" cy="1888628"/>
            <a:chOff x="0" y="0"/>
            <a:chExt cx="1463295" cy="526815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463294" cy="526815"/>
            </a:xfrm>
            <a:custGeom>
              <a:avLst/>
              <a:gdLst/>
              <a:ahLst/>
              <a:cxnLst/>
              <a:rect r="r" b="b" t="t" l="l"/>
              <a:pathLst>
                <a:path h="526815" w="1463294">
                  <a:moveTo>
                    <a:pt x="0" y="0"/>
                  </a:moveTo>
                  <a:lnTo>
                    <a:pt x="1463294" y="0"/>
                  </a:lnTo>
                  <a:lnTo>
                    <a:pt x="1463294" y="526815"/>
                  </a:lnTo>
                  <a:lnTo>
                    <a:pt x="0" y="526815"/>
                  </a:lnTo>
                  <a:close/>
                </a:path>
              </a:pathLst>
            </a:custGeom>
            <a:solidFill>
              <a:srgbClr val="05254A"/>
            </a:solidFill>
            <a:ln cap="sq">
              <a:noFill/>
              <a:prstDash val="solid"/>
              <a:miter/>
            </a:ln>
          </p:spPr>
        </p:sp>
        <p:sp>
          <p:nvSpPr>
            <p:cNvPr name="TextBox 47" id="47"/>
            <p:cNvSpPr txBox="true"/>
            <p:nvPr/>
          </p:nvSpPr>
          <p:spPr>
            <a:xfrm>
              <a:off x="0" y="-38100"/>
              <a:ext cx="1463295" cy="564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Plataforma que centraliza e integra os dados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6519078" y="7024269"/>
            <a:ext cx="5245903" cy="1888628"/>
            <a:chOff x="0" y="0"/>
            <a:chExt cx="1666555" cy="599993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666555" cy="599993"/>
            </a:xfrm>
            <a:custGeom>
              <a:avLst/>
              <a:gdLst/>
              <a:ahLst/>
              <a:cxnLst/>
              <a:rect r="r" b="b" t="t" l="l"/>
              <a:pathLst>
                <a:path h="599993" w="1666555">
                  <a:moveTo>
                    <a:pt x="0" y="0"/>
                  </a:moveTo>
                  <a:lnTo>
                    <a:pt x="1666555" y="0"/>
                  </a:lnTo>
                  <a:lnTo>
                    <a:pt x="1666555" y="599993"/>
                  </a:lnTo>
                  <a:lnTo>
                    <a:pt x="0" y="599993"/>
                  </a:lnTo>
                  <a:close/>
                </a:path>
              </a:pathLst>
            </a:custGeom>
            <a:solidFill>
              <a:srgbClr val="27639B"/>
            </a:solid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1666555" cy="638093"/>
            </a:xfrm>
            <a:prstGeom prst="rect">
              <a:avLst/>
            </a:prstGeom>
          </p:spPr>
          <p:txBody>
            <a:bodyPr anchor="ctr" rtlCol="false" tIns="44604" lIns="44604" bIns="44604" rIns="44604"/>
            <a:lstStyle/>
            <a:p>
              <a:pPr algn="ctr">
                <a:lnSpc>
                  <a:spcPts val="3359"/>
                </a:lnSpc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Automação com dashboards e relatórios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519078" y="4779913"/>
            <a:ext cx="5245903" cy="1888628"/>
            <a:chOff x="0" y="0"/>
            <a:chExt cx="1828572" cy="658322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828572" cy="658322"/>
            </a:xfrm>
            <a:custGeom>
              <a:avLst/>
              <a:gdLst/>
              <a:ahLst/>
              <a:cxnLst/>
              <a:rect r="r" b="b" t="t" l="l"/>
              <a:pathLst>
                <a:path h="658322" w="1828572">
                  <a:moveTo>
                    <a:pt x="0" y="0"/>
                  </a:moveTo>
                  <a:lnTo>
                    <a:pt x="1828572" y="0"/>
                  </a:lnTo>
                  <a:lnTo>
                    <a:pt x="1828572" y="658322"/>
                  </a:lnTo>
                  <a:lnTo>
                    <a:pt x="0" y="658322"/>
                  </a:lnTo>
                  <a:close/>
                </a:path>
              </a:pathLst>
            </a:custGeom>
            <a:solidFill>
              <a:srgbClr val="09396D"/>
            </a:solid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1828572" cy="6964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Relatórios e recomendações baseadas em dados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2546277" y="1819275"/>
            <a:ext cx="5081587" cy="1124183"/>
            <a:chOff x="0" y="0"/>
            <a:chExt cx="1417460" cy="31358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417460" cy="313580"/>
            </a:xfrm>
            <a:custGeom>
              <a:avLst/>
              <a:gdLst/>
              <a:ahLst/>
              <a:cxnLst/>
              <a:rect r="r" b="b" t="t" l="l"/>
              <a:pathLst>
                <a:path h="313580" w="1417460">
                  <a:moveTo>
                    <a:pt x="0" y="0"/>
                  </a:moveTo>
                  <a:lnTo>
                    <a:pt x="1417460" y="0"/>
                  </a:lnTo>
                  <a:lnTo>
                    <a:pt x="1417460" y="313580"/>
                  </a:lnTo>
                  <a:lnTo>
                    <a:pt x="0" y="313580"/>
                  </a:lnTo>
                  <a:close/>
                </a:path>
              </a:pathLst>
            </a:custGeom>
            <a:solidFill>
              <a:srgbClr val="05254A"/>
            </a:solidFill>
            <a:ln cap="sq">
              <a:noFill/>
              <a:prstDash val="solid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1417460" cy="3516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Decisões mais rápidas e confiáveis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2538659" y="3036570"/>
            <a:ext cx="5081588" cy="1124183"/>
            <a:chOff x="0" y="0"/>
            <a:chExt cx="1771296" cy="391858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771296" cy="391858"/>
            </a:xfrm>
            <a:custGeom>
              <a:avLst/>
              <a:gdLst/>
              <a:ahLst/>
              <a:cxnLst/>
              <a:rect r="r" b="b" t="t" l="l"/>
              <a:pathLst>
                <a:path h="391858" w="1771296">
                  <a:moveTo>
                    <a:pt x="0" y="0"/>
                  </a:moveTo>
                  <a:lnTo>
                    <a:pt x="1771296" y="0"/>
                  </a:lnTo>
                  <a:lnTo>
                    <a:pt x="1771296" y="391858"/>
                  </a:lnTo>
                  <a:lnTo>
                    <a:pt x="0" y="391858"/>
                  </a:lnTo>
                  <a:close/>
                </a:path>
              </a:pathLst>
            </a:custGeom>
            <a:solidFill>
              <a:srgbClr val="09396D"/>
            </a:solid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1771296" cy="429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Fortalecimento da segurança financeira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2536752" y="4253718"/>
            <a:ext cx="5081588" cy="1124183"/>
            <a:chOff x="0" y="0"/>
            <a:chExt cx="1614355" cy="357139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614355" cy="357139"/>
            </a:xfrm>
            <a:custGeom>
              <a:avLst/>
              <a:gdLst/>
              <a:ahLst/>
              <a:cxnLst/>
              <a:rect r="r" b="b" t="t" l="l"/>
              <a:pathLst>
                <a:path h="357139" w="1614355">
                  <a:moveTo>
                    <a:pt x="0" y="0"/>
                  </a:moveTo>
                  <a:lnTo>
                    <a:pt x="1614355" y="0"/>
                  </a:lnTo>
                  <a:lnTo>
                    <a:pt x="1614355" y="357139"/>
                  </a:lnTo>
                  <a:lnTo>
                    <a:pt x="0" y="357139"/>
                  </a:lnTo>
                  <a:close/>
                </a:path>
              </a:pathLst>
            </a:custGeom>
            <a:solidFill>
              <a:srgbClr val="27639B"/>
            </a:solidFill>
            <a:ln cap="sq">
              <a:noFill/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1614355" cy="395239"/>
            </a:xfrm>
            <a:prstGeom prst="rect">
              <a:avLst/>
            </a:prstGeom>
          </p:spPr>
          <p:txBody>
            <a:bodyPr anchor="ctr" rtlCol="false" tIns="44604" lIns="44604" bIns="44604" rIns="44604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Ganho de produtividade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2546277" y="6560371"/>
            <a:ext cx="5081588" cy="1079216"/>
            <a:chOff x="0" y="0"/>
            <a:chExt cx="1417460" cy="301037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417460" cy="301037"/>
            </a:xfrm>
            <a:custGeom>
              <a:avLst/>
              <a:gdLst/>
              <a:ahLst/>
              <a:cxnLst/>
              <a:rect r="r" b="b" t="t" l="l"/>
              <a:pathLst>
                <a:path h="301037" w="1417460">
                  <a:moveTo>
                    <a:pt x="0" y="0"/>
                  </a:moveTo>
                  <a:lnTo>
                    <a:pt x="1417460" y="0"/>
                  </a:lnTo>
                  <a:lnTo>
                    <a:pt x="1417460" y="301037"/>
                  </a:lnTo>
                  <a:lnTo>
                    <a:pt x="0" y="301037"/>
                  </a:lnTo>
                  <a:close/>
                </a:path>
              </a:pathLst>
            </a:custGeom>
            <a:solidFill>
              <a:srgbClr val="05254A"/>
            </a:solidFill>
            <a:ln cap="sq">
              <a:noFill/>
              <a:prstDash val="solid"/>
              <a:miter/>
            </a:ln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1417460" cy="3391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Acesso fácil a informações em um só lugar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2546277" y="8930103"/>
            <a:ext cx="5081588" cy="1079216"/>
            <a:chOff x="0" y="0"/>
            <a:chExt cx="1614355" cy="342853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614355" cy="342853"/>
            </a:xfrm>
            <a:custGeom>
              <a:avLst/>
              <a:gdLst/>
              <a:ahLst/>
              <a:cxnLst/>
              <a:rect r="r" b="b" t="t" l="l"/>
              <a:pathLst>
                <a:path h="342853" w="1614355">
                  <a:moveTo>
                    <a:pt x="0" y="0"/>
                  </a:moveTo>
                  <a:lnTo>
                    <a:pt x="1614355" y="0"/>
                  </a:lnTo>
                  <a:lnTo>
                    <a:pt x="1614355" y="342853"/>
                  </a:lnTo>
                  <a:lnTo>
                    <a:pt x="0" y="342853"/>
                  </a:lnTo>
                  <a:close/>
                </a:path>
              </a:pathLst>
            </a:custGeom>
            <a:solidFill>
              <a:srgbClr val="27639B"/>
            </a:solid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1614355" cy="380953"/>
            </a:xfrm>
            <a:prstGeom prst="rect">
              <a:avLst/>
            </a:prstGeom>
          </p:spPr>
          <p:txBody>
            <a:bodyPr anchor="ctr" rtlCol="false" tIns="44604" lIns="44604" bIns="44604" rIns="44604"/>
            <a:lstStyle/>
            <a:p>
              <a:pPr algn="ctr">
                <a:lnSpc>
                  <a:spcPts val="3359"/>
                </a:lnSpc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Análise rápida e prática</a:t>
              </a:r>
            </a:p>
          </p:txBody>
        </p:sp>
      </p:grpSp>
      <p:sp>
        <p:nvSpPr>
          <p:cNvPr name="Freeform 69" id="69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grpSp>
        <p:nvGrpSpPr>
          <p:cNvPr name="Group 70" id="70"/>
          <p:cNvGrpSpPr/>
          <p:nvPr/>
        </p:nvGrpSpPr>
        <p:grpSpPr>
          <a:xfrm rot="0">
            <a:off x="12546277" y="7745237"/>
            <a:ext cx="5081588" cy="1079216"/>
            <a:chOff x="0" y="0"/>
            <a:chExt cx="1771296" cy="37618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771296" cy="376184"/>
            </a:xfrm>
            <a:custGeom>
              <a:avLst/>
              <a:gdLst/>
              <a:ahLst/>
              <a:cxnLst/>
              <a:rect r="r" b="b" t="t" l="l"/>
              <a:pathLst>
                <a:path h="376184" w="1771296">
                  <a:moveTo>
                    <a:pt x="0" y="0"/>
                  </a:moveTo>
                  <a:lnTo>
                    <a:pt x="1771296" y="0"/>
                  </a:lnTo>
                  <a:lnTo>
                    <a:pt x="1771296" y="376184"/>
                  </a:lnTo>
                  <a:lnTo>
                    <a:pt x="0" y="376184"/>
                  </a:lnTo>
                  <a:close/>
                </a:path>
              </a:pathLst>
            </a:custGeom>
            <a:solidFill>
              <a:srgbClr val="09396D"/>
            </a:solid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1771296" cy="4142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4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Mais segurança na tomada de decisão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47392" y="534033"/>
            <a:ext cx="5266645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0B2E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SIMBIOSE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6644364" y="2952965"/>
            <a:ext cx="4999272" cy="6056048"/>
            <a:chOff x="0" y="0"/>
            <a:chExt cx="184547" cy="22355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0B2E57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8599109" y="3483892"/>
            <a:ext cx="1089781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00"/>
              </a:lnSpc>
              <a:spcBef>
                <a:spcPct val="0"/>
              </a:spcBef>
            </a:pPr>
            <a:r>
              <a:rPr lang="en-US" b="true" sz="30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JAVA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164046" y="4362226"/>
            <a:ext cx="3959908" cy="3714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FEFEFE"/>
                </a:solidFill>
                <a:latin typeface="Montserrat"/>
                <a:ea typeface="Montserrat"/>
                <a:cs typeface="Montserrat"/>
                <a:sym typeface="Montserrat"/>
              </a:rPr>
              <a:t>Usaremos a </a:t>
            </a:r>
            <a:r>
              <a:rPr lang="en-US" b="true" sz="3000">
                <a:solidFill>
                  <a:srgbClr val="FEFE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Java security</a:t>
            </a:r>
            <a:r>
              <a:rPr lang="en-US" sz="3000">
                <a:solidFill>
                  <a:srgbClr val="FEFEFE"/>
                </a:solidFill>
                <a:latin typeface="Montserrat"/>
                <a:ea typeface="Montserrat"/>
                <a:cs typeface="Montserrat"/>
                <a:sym typeface="Montserrat"/>
              </a:rPr>
              <a:t> com</a:t>
            </a:r>
            <a:r>
              <a:rPr lang="en-US" b="true" sz="3000">
                <a:solidFill>
                  <a:srgbClr val="FEFE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JWT</a:t>
            </a:r>
            <a:r>
              <a:rPr lang="en-US" sz="3000">
                <a:solidFill>
                  <a:srgbClr val="FEFEFE"/>
                </a:solidFill>
                <a:latin typeface="Montserrat"/>
                <a:ea typeface="Montserrat"/>
                <a:cs typeface="Montserrat"/>
                <a:sym typeface="Montserrat"/>
              </a:rPr>
              <a:t>, para ampliar a segurança do nosso sistema, e permitir que o usuário salve suas sessões.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44364" y="3202252"/>
            <a:ext cx="4999272" cy="6056048"/>
            <a:chOff x="0" y="0"/>
            <a:chExt cx="184547" cy="2235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6839868" y="5207913"/>
            <a:ext cx="4608264" cy="2044726"/>
          </a:xfrm>
          <a:custGeom>
            <a:avLst/>
            <a:gdLst/>
            <a:ahLst/>
            <a:cxnLst/>
            <a:rect r="r" b="b" t="t" l="l"/>
            <a:pathLst>
              <a:path h="2044726" w="4608264">
                <a:moveTo>
                  <a:pt x="0" y="0"/>
                </a:moveTo>
                <a:lnTo>
                  <a:pt x="4608264" y="0"/>
                </a:lnTo>
                <a:lnTo>
                  <a:pt x="4608264" y="2044726"/>
                </a:lnTo>
                <a:lnTo>
                  <a:pt x="0" y="20447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47392" y="534033"/>
            <a:ext cx="148780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SITE INSTITUCIONAL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31431" y="1028700"/>
            <a:ext cx="18419431" cy="9258300"/>
          </a:xfrm>
          <a:custGeom>
            <a:avLst/>
            <a:gdLst/>
            <a:ahLst/>
            <a:cxnLst/>
            <a:rect r="r" b="b" t="t" l="l"/>
            <a:pathLst>
              <a:path h="9258300" w="18419431">
                <a:moveTo>
                  <a:pt x="0" y="0"/>
                </a:moveTo>
                <a:lnTo>
                  <a:pt x="18419431" y="0"/>
                </a:lnTo>
                <a:lnTo>
                  <a:pt x="18419431" y="9258300"/>
                </a:lnTo>
                <a:lnTo>
                  <a:pt x="0" y="92583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59" r="0" b="-35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24646" y="171450"/>
            <a:ext cx="1476151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DASHBOARD MAPA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407965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897" t="-62971" r="-134602" b="-72731"/>
            </a:stretch>
          </a:blipFill>
        </p:spPr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183" y="1160183"/>
            <a:ext cx="18253635" cy="9126817"/>
          </a:xfrm>
          <a:custGeom>
            <a:avLst/>
            <a:gdLst/>
            <a:ahLst/>
            <a:cxnLst/>
            <a:rect r="r" b="b" t="t" l="l"/>
            <a:pathLst>
              <a:path h="9126817" w="18253635">
                <a:moveTo>
                  <a:pt x="0" y="0"/>
                </a:moveTo>
                <a:lnTo>
                  <a:pt x="18253634" y="0"/>
                </a:lnTo>
                <a:lnTo>
                  <a:pt x="18253634" y="9126817"/>
                </a:lnTo>
                <a:lnTo>
                  <a:pt x="0" y="912681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390783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4" y="0"/>
                </a:lnTo>
                <a:lnTo>
                  <a:pt x="880034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897" t="-62971" r="-134602" b="-72731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24646" y="171450"/>
            <a:ext cx="1476151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DASHBOARD ESTADO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028700"/>
            <a:ext cx="18470424" cy="9258300"/>
          </a:xfrm>
          <a:custGeom>
            <a:avLst/>
            <a:gdLst/>
            <a:ahLst/>
            <a:cxnLst/>
            <a:rect r="r" b="b" t="t" l="l"/>
            <a:pathLst>
              <a:path h="9258300" w="18470424">
                <a:moveTo>
                  <a:pt x="0" y="0"/>
                </a:moveTo>
                <a:lnTo>
                  <a:pt x="18470424" y="0"/>
                </a:lnTo>
                <a:lnTo>
                  <a:pt x="18470424" y="9258300"/>
                </a:lnTo>
                <a:lnTo>
                  <a:pt x="0" y="92583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72618" y="200025"/>
            <a:ext cx="1476151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DASHBOARD MUNICÍPIO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407965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897" t="-62971" r="-134602" b="-72731"/>
            </a:stretch>
          </a:blipFill>
        </p:spPr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05923" y="1492990"/>
            <a:ext cx="16476155" cy="8547005"/>
          </a:xfrm>
          <a:custGeom>
            <a:avLst/>
            <a:gdLst/>
            <a:ahLst/>
            <a:cxnLst/>
            <a:rect r="r" b="b" t="t" l="l"/>
            <a:pathLst>
              <a:path h="8547005" w="16476155">
                <a:moveTo>
                  <a:pt x="0" y="0"/>
                </a:moveTo>
                <a:lnTo>
                  <a:pt x="16476154" y="0"/>
                </a:lnTo>
                <a:lnTo>
                  <a:pt x="16476154" y="8547006"/>
                </a:lnTo>
                <a:lnTo>
                  <a:pt x="0" y="85470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95250" cap="sq">
            <a:solidFill>
              <a:srgbClr val="05254A"/>
            </a:solidFill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647392" y="534033"/>
            <a:ext cx="148780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ARQUITETURA DA SOLUÇÃO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897" t="-62971" r="-134602" b="-72731"/>
            </a:stretch>
          </a:blipFill>
        </p:spPr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47392" y="534033"/>
            <a:ext cx="10364394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0B2E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DEMONSTRAÇÃO SO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47392" y="1772283"/>
            <a:ext cx="16838081" cy="1168117"/>
            <a:chOff x="0" y="0"/>
            <a:chExt cx="621575" cy="4312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21575" cy="43121"/>
            </a:xfrm>
            <a:custGeom>
              <a:avLst/>
              <a:gdLst/>
              <a:ahLst/>
              <a:cxnLst/>
              <a:rect r="r" b="b" t="t" l="l"/>
              <a:pathLst>
                <a:path h="43121" w="621575">
                  <a:moveTo>
                    <a:pt x="0" y="0"/>
                  </a:moveTo>
                  <a:lnTo>
                    <a:pt x="621575" y="0"/>
                  </a:lnTo>
                  <a:lnTo>
                    <a:pt x="621575" y="43121"/>
                  </a:lnTo>
                  <a:lnTo>
                    <a:pt x="0" y="43121"/>
                  </a:lnTo>
                  <a:close/>
                </a:path>
              </a:pathLst>
            </a:custGeom>
            <a:solidFill>
              <a:srgbClr val="0B2E5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621575" cy="81221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40776" y="1972565"/>
            <a:ext cx="762400" cy="767552"/>
            <a:chOff x="0" y="0"/>
            <a:chExt cx="807344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07344" cy="812800"/>
            </a:xfrm>
            <a:custGeom>
              <a:avLst/>
              <a:gdLst/>
              <a:ahLst/>
              <a:cxnLst/>
              <a:rect r="r" b="b" t="t" l="l"/>
              <a:pathLst>
                <a:path h="812800" w="807344">
                  <a:moveTo>
                    <a:pt x="403672" y="0"/>
                  </a:moveTo>
                  <a:cubicBezTo>
                    <a:pt x="180730" y="0"/>
                    <a:pt x="0" y="181951"/>
                    <a:pt x="0" y="406400"/>
                  </a:cubicBezTo>
                  <a:cubicBezTo>
                    <a:pt x="0" y="630849"/>
                    <a:pt x="180730" y="812800"/>
                    <a:pt x="403672" y="812800"/>
                  </a:cubicBezTo>
                  <a:cubicBezTo>
                    <a:pt x="626614" y="812800"/>
                    <a:pt x="807344" y="630849"/>
                    <a:pt x="807344" y="406400"/>
                  </a:cubicBezTo>
                  <a:cubicBezTo>
                    <a:pt x="807344" y="181951"/>
                    <a:pt x="626614" y="0"/>
                    <a:pt x="403672" y="0"/>
                  </a:cubicBez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5689" y="38100"/>
              <a:ext cx="655967" cy="698500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47392" y="3255742"/>
            <a:ext cx="16838081" cy="1168117"/>
            <a:chOff x="0" y="0"/>
            <a:chExt cx="621575" cy="4312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21575" cy="43121"/>
            </a:xfrm>
            <a:custGeom>
              <a:avLst/>
              <a:gdLst/>
              <a:ahLst/>
              <a:cxnLst/>
              <a:rect r="r" b="b" t="t" l="l"/>
              <a:pathLst>
                <a:path h="43121" w="621575">
                  <a:moveTo>
                    <a:pt x="0" y="0"/>
                  </a:moveTo>
                  <a:lnTo>
                    <a:pt x="621575" y="0"/>
                  </a:lnTo>
                  <a:lnTo>
                    <a:pt x="621575" y="43121"/>
                  </a:lnTo>
                  <a:lnTo>
                    <a:pt x="0" y="43121"/>
                  </a:lnTo>
                  <a:close/>
                </a:path>
              </a:pathLst>
            </a:custGeom>
            <a:solidFill>
              <a:srgbClr val="0B2E57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621575" cy="81221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40776" y="3456025"/>
            <a:ext cx="762400" cy="767552"/>
            <a:chOff x="0" y="0"/>
            <a:chExt cx="807344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07344" cy="812800"/>
            </a:xfrm>
            <a:custGeom>
              <a:avLst/>
              <a:gdLst/>
              <a:ahLst/>
              <a:cxnLst/>
              <a:rect r="r" b="b" t="t" l="l"/>
              <a:pathLst>
                <a:path h="812800" w="807344">
                  <a:moveTo>
                    <a:pt x="403672" y="0"/>
                  </a:moveTo>
                  <a:cubicBezTo>
                    <a:pt x="180730" y="0"/>
                    <a:pt x="0" y="181951"/>
                    <a:pt x="0" y="406400"/>
                  </a:cubicBezTo>
                  <a:cubicBezTo>
                    <a:pt x="0" y="630849"/>
                    <a:pt x="180730" y="812800"/>
                    <a:pt x="403672" y="812800"/>
                  </a:cubicBezTo>
                  <a:cubicBezTo>
                    <a:pt x="626614" y="812800"/>
                    <a:pt x="807344" y="630849"/>
                    <a:pt x="807344" y="406400"/>
                  </a:cubicBezTo>
                  <a:cubicBezTo>
                    <a:pt x="807344" y="181951"/>
                    <a:pt x="626614" y="0"/>
                    <a:pt x="403672" y="0"/>
                  </a:cubicBez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5689" y="38100"/>
              <a:ext cx="655967" cy="698500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47392" y="4807069"/>
            <a:ext cx="16838081" cy="1168117"/>
            <a:chOff x="0" y="0"/>
            <a:chExt cx="621575" cy="4312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21575" cy="43121"/>
            </a:xfrm>
            <a:custGeom>
              <a:avLst/>
              <a:gdLst/>
              <a:ahLst/>
              <a:cxnLst/>
              <a:rect r="r" b="b" t="t" l="l"/>
              <a:pathLst>
                <a:path h="43121" w="621575">
                  <a:moveTo>
                    <a:pt x="0" y="0"/>
                  </a:moveTo>
                  <a:lnTo>
                    <a:pt x="621575" y="0"/>
                  </a:lnTo>
                  <a:lnTo>
                    <a:pt x="621575" y="43121"/>
                  </a:lnTo>
                  <a:lnTo>
                    <a:pt x="0" y="43121"/>
                  </a:lnTo>
                  <a:close/>
                </a:path>
              </a:pathLst>
            </a:custGeom>
            <a:solidFill>
              <a:srgbClr val="0B2E57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621575" cy="81221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40776" y="5007351"/>
            <a:ext cx="762400" cy="767552"/>
            <a:chOff x="0" y="0"/>
            <a:chExt cx="807344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07344" cy="812800"/>
            </a:xfrm>
            <a:custGeom>
              <a:avLst/>
              <a:gdLst/>
              <a:ahLst/>
              <a:cxnLst/>
              <a:rect r="r" b="b" t="t" l="l"/>
              <a:pathLst>
                <a:path h="812800" w="807344">
                  <a:moveTo>
                    <a:pt x="403672" y="0"/>
                  </a:moveTo>
                  <a:cubicBezTo>
                    <a:pt x="180730" y="0"/>
                    <a:pt x="0" y="181951"/>
                    <a:pt x="0" y="406400"/>
                  </a:cubicBezTo>
                  <a:cubicBezTo>
                    <a:pt x="0" y="630849"/>
                    <a:pt x="180730" y="812800"/>
                    <a:pt x="403672" y="812800"/>
                  </a:cubicBezTo>
                  <a:cubicBezTo>
                    <a:pt x="626614" y="812800"/>
                    <a:pt x="807344" y="630849"/>
                    <a:pt x="807344" y="406400"/>
                  </a:cubicBezTo>
                  <a:cubicBezTo>
                    <a:pt x="807344" y="181951"/>
                    <a:pt x="626614" y="0"/>
                    <a:pt x="403672" y="0"/>
                  </a:cubicBez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75689" y="38100"/>
              <a:ext cx="655967" cy="698500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07599" y="2213466"/>
            <a:ext cx="10608402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VM na Nuvem AWS c/ container de BD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107599" y="3702169"/>
            <a:ext cx="12413532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Bucket S3 em AWS (Data Lake)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107599" y="5248252"/>
            <a:ext cx="14249516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Deploy do site institucional da nuvem AWS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44364" y="3202252"/>
            <a:ext cx="4999272" cy="6056048"/>
            <a:chOff x="0" y="0"/>
            <a:chExt cx="184547" cy="22355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4547" cy="223558"/>
            </a:xfrm>
            <a:custGeom>
              <a:avLst/>
              <a:gdLst/>
              <a:ahLst/>
              <a:cxnLst/>
              <a:rect r="r" b="b" t="t" l="l"/>
              <a:pathLst>
                <a:path h="223558" w="184547">
                  <a:moveTo>
                    <a:pt x="0" y="0"/>
                  </a:moveTo>
                  <a:lnTo>
                    <a:pt x="184547" y="0"/>
                  </a:lnTo>
                  <a:lnTo>
                    <a:pt x="184547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84547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647392" y="534033"/>
            <a:ext cx="14878049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DEMONSTRAÇÃO JAR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8045553" y="5131829"/>
            <a:ext cx="2196894" cy="2196894"/>
          </a:xfrm>
          <a:custGeom>
            <a:avLst/>
            <a:gdLst/>
            <a:ahLst/>
            <a:cxnLst/>
            <a:rect r="r" b="b" t="t" l="l"/>
            <a:pathLst>
              <a:path h="2196894" w="2196894">
                <a:moveTo>
                  <a:pt x="0" y="0"/>
                </a:moveTo>
                <a:lnTo>
                  <a:pt x="2196894" y="0"/>
                </a:lnTo>
                <a:lnTo>
                  <a:pt x="2196894" y="2196894"/>
                </a:lnTo>
                <a:lnTo>
                  <a:pt x="0" y="21968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904860" y="0"/>
            <a:ext cx="10383140" cy="10287000"/>
            <a:chOff x="0" y="0"/>
            <a:chExt cx="1608620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08620" cy="1593725"/>
            </a:xfrm>
            <a:custGeom>
              <a:avLst/>
              <a:gdLst/>
              <a:ahLst/>
              <a:cxnLst/>
              <a:rect r="r" b="b" t="t" l="l"/>
              <a:pathLst>
                <a:path h="1593725" w="1608620">
                  <a:moveTo>
                    <a:pt x="0" y="0"/>
                  </a:moveTo>
                  <a:lnTo>
                    <a:pt x="1608620" y="0"/>
                  </a:lnTo>
                  <a:lnTo>
                    <a:pt x="160862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467" r="0" b="-467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238249" y="3902392"/>
            <a:ext cx="7443139" cy="2348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423"/>
              </a:lnSpc>
              <a:spcBef>
                <a:spcPct val="0"/>
              </a:spcBef>
            </a:pPr>
            <a:r>
              <a:rPr lang="en-US" b="true" sz="6731">
                <a:solidFill>
                  <a:srgbClr val="FEFE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OBRIGADO </a:t>
            </a:r>
            <a:r>
              <a:rPr lang="en-US" b="true" sz="6731">
                <a:solidFill>
                  <a:srgbClr val="FEFE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PELA ATENÇÃO!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19107" y="895350"/>
            <a:ext cx="5681424" cy="1143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14"/>
              </a:lnSpc>
              <a:spcBef>
                <a:spcPct val="0"/>
              </a:spcBef>
            </a:pPr>
            <a:r>
              <a:rPr lang="en-US" b="true" sz="6653">
                <a:solidFill>
                  <a:srgbClr val="EBEBE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CONCLUSÃO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2E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4169" y="1028700"/>
            <a:ext cx="16435113" cy="9121488"/>
          </a:xfrm>
          <a:custGeom>
            <a:avLst/>
            <a:gdLst/>
            <a:ahLst/>
            <a:cxnLst/>
            <a:rect r="r" b="b" t="t" l="l"/>
            <a:pathLst>
              <a:path h="9121488" w="16435113">
                <a:moveTo>
                  <a:pt x="0" y="0"/>
                </a:moveTo>
                <a:lnTo>
                  <a:pt x="16435113" y="0"/>
                </a:lnTo>
                <a:lnTo>
                  <a:pt x="16435113" y="9121488"/>
                </a:lnTo>
                <a:lnTo>
                  <a:pt x="0" y="91214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24126" y="333375"/>
            <a:ext cx="1633511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b="true" sz="4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PLANO DE RESPOSTA - LIÇÕES APRENDIDAS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2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90099" y="3202252"/>
            <a:ext cx="4002120" cy="6056048"/>
            <a:chOff x="0" y="0"/>
            <a:chExt cx="147738" cy="22355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7738" cy="223558"/>
            </a:xfrm>
            <a:custGeom>
              <a:avLst/>
              <a:gdLst/>
              <a:ahLst/>
              <a:cxnLst/>
              <a:rect r="r" b="b" t="t" l="l"/>
              <a:pathLst>
                <a:path h="223558" w="147738">
                  <a:moveTo>
                    <a:pt x="0" y="0"/>
                  </a:moveTo>
                  <a:lnTo>
                    <a:pt x="147738" y="0"/>
                  </a:lnTo>
                  <a:lnTo>
                    <a:pt x="147738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7738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7389282" y="9374123"/>
            <a:ext cx="880035" cy="912877"/>
          </a:xfrm>
          <a:custGeom>
            <a:avLst/>
            <a:gdLst/>
            <a:ahLst/>
            <a:cxnLst/>
            <a:rect r="r" b="b" t="t" l="l"/>
            <a:pathLst>
              <a:path h="912877" w="880035">
                <a:moveTo>
                  <a:pt x="0" y="0"/>
                </a:moveTo>
                <a:lnTo>
                  <a:pt x="880035" y="0"/>
                </a:lnTo>
                <a:lnTo>
                  <a:pt x="880035" y="912877"/>
                </a:lnTo>
                <a:lnTo>
                  <a:pt x="0" y="9128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97" t="-62971" r="-134602" b="-72731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4473828" y="3202252"/>
            <a:ext cx="4997898" cy="6056048"/>
            <a:chOff x="0" y="0"/>
            <a:chExt cx="6663863" cy="8074730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6663863" cy="8074730"/>
              <a:chOff x="0" y="0"/>
              <a:chExt cx="184497" cy="223558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84497" cy="223558"/>
              </a:xfrm>
              <a:custGeom>
                <a:avLst/>
                <a:gdLst/>
                <a:ahLst/>
                <a:cxnLst/>
                <a:rect r="r" b="b" t="t" l="l"/>
                <a:pathLst>
                  <a:path h="223558" w="184497">
                    <a:moveTo>
                      <a:pt x="0" y="0"/>
                    </a:moveTo>
                    <a:lnTo>
                      <a:pt x="184497" y="0"/>
                    </a:lnTo>
                    <a:lnTo>
                      <a:pt x="184497" y="223558"/>
                    </a:lnTo>
                    <a:lnTo>
                      <a:pt x="0" y="2235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38100"/>
                <a:ext cx="184497" cy="261658"/>
              </a:xfrm>
              <a:prstGeom prst="rect">
                <a:avLst/>
              </a:prstGeom>
            </p:spPr>
            <p:txBody>
              <a:bodyPr anchor="ctr" rtlCol="false" tIns="362440" lIns="362440" bIns="362440" rIns="36244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Freeform 10" id="10"/>
            <p:cNvSpPr/>
            <p:nvPr/>
          </p:nvSpPr>
          <p:spPr>
            <a:xfrm flipH="false" flipV="false" rot="0">
              <a:off x="590137" y="6181598"/>
              <a:ext cx="5483589" cy="1382701"/>
            </a:xfrm>
            <a:custGeom>
              <a:avLst/>
              <a:gdLst/>
              <a:ahLst/>
              <a:cxnLst/>
              <a:rect r="r" b="b" t="t" l="l"/>
              <a:pathLst>
                <a:path h="1382701" w="5483589">
                  <a:moveTo>
                    <a:pt x="0" y="0"/>
                  </a:moveTo>
                  <a:lnTo>
                    <a:pt x="5483589" y="0"/>
                  </a:lnTo>
                  <a:lnTo>
                    <a:pt x="5483589" y="1382701"/>
                  </a:lnTo>
                  <a:lnTo>
                    <a:pt x="0" y="13827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" t="0" r="-13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869480" y="2597222"/>
              <a:ext cx="4924903" cy="944199"/>
            </a:xfrm>
            <a:custGeom>
              <a:avLst/>
              <a:gdLst/>
              <a:ahLst/>
              <a:cxnLst/>
              <a:rect r="r" b="b" t="t" l="l"/>
              <a:pathLst>
                <a:path h="944199" w="4924903">
                  <a:moveTo>
                    <a:pt x="0" y="0"/>
                  </a:moveTo>
                  <a:lnTo>
                    <a:pt x="4924903" y="0"/>
                  </a:lnTo>
                  <a:lnTo>
                    <a:pt x="4924903" y="944199"/>
                  </a:lnTo>
                  <a:lnTo>
                    <a:pt x="0" y="944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3" t="0" r="-13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18762" y="510431"/>
              <a:ext cx="5426340" cy="1427068"/>
            </a:xfrm>
            <a:custGeom>
              <a:avLst/>
              <a:gdLst/>
              <a:ahLst/>
              <a:cxnLst/>
              <a:rect r="r" b="b" t="t" l="l"/>
              <a:pathLst>
                <a:path h="1427068" w="5426340">
                  <a:moveTo>
                    <a:pt x="0" y="0"/>
                  </a:moveTo>
                  <a:lnTo>
                    <a:pt x="5426340" y="0"/>
                  </a:lnTo>
                  <a:lnTo>
                    <a:pt x="5426340" y="1427068"/>
                  </a:lnTo>
                  <a:lnTo>
                    <a:pt x="0" y="14270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3" t="0" r="-13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968675" y="4112853"/>
              <a:ext cx="4726513" cy="1495910"/>
            </a:xfrm>
            <a:custGeom>
              <a:avLst/>
              <a:gdLst/>
              <a:ahLst/>
              <a:cxnLst/>
              <a:rect r="r" b="b" t="t" l="l"/>
              <a:pathLst>
                <a:path h="1495910" w="4726513">
                  <a:moveTo>
                    <a:pt x="0" y="0"/>
                  </a:moveTo>
                  <a:lnTo>
                    <a:pt x="4726513" y="0"/>
                  </a:lnTo>
                  <a:lnTo>
                    <a:pt x="4726513" y="1495910"/>
                  </a:lnTo>
                  <a:lnTo>
                    <a:pt x="0" y="1495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3" t="0" r="-13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453691" y="4916252"/>
            <a:ext cx="3688547" cy="2074807"/>
          </a:xfrm>
          <a:custGeom>
            <a:avLst/>
            <a:gdLst/>
            <a:ahLst/>
            <a:cxnLst/>
            <a:rect r="r" b="b" t="t" l="l"/>
            <a:pathLst>
              <a:path h="2074807" w="3688547">
                <a:moveTo>
                  <a:pt x="0" y="0"/>
                </a:moveTo>
                <a:lnTo>
                  <a:pt x="3688547" y="0"/>
                </a:lnTo>
                <a:lnTo>
                  <a:pt x="3688547" y="2074807"/>
                </a:lnTo>
                <a:lnTo>
                  <a:pt x="0" y="207480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647392" y="534033"/>
            <a:ext cx="9308800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9"/>
              </a:lnSpc>
              <a:spcBef>
                <a:spcPct val="0"/>
              </a:spcBef>
            </a:pPr>
            <a:r>
              <a:rPr lang="en-US" b="true" sz="69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AGRADECIMENTOS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3725526" y="3202252"/>
            <a:ext cx="4002120" cy="6056048"/>
            <a:chOff x="0" y="0"/>
            <a:chExt cx="147738" cy="22355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7738" cy="223558"/>
            </a:xfrm>
            <a:custGeom>
              <a:avLst/>
              <a:gdLst/>
              <a:ahLst/>
              <a:cxnLst/>
              <a:rect r="r" b="b" t="t" l="l"/>
              <a:pathLst>
                <a:path h="223558" w="147738">
                  <a:moveTo>
                    <a:pt x="0" y="0"/>
                  </a:moveTo>
                  <a:lnTo>
                    <a:pt x="147738" y="0"/>
                  </a:lnTo>
                  <a:lnTo>
                    <a:pt x="147738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47738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13615385" y="4174146"/>
            <a:ext cx="4112260" cy="4112260"/>
          </a:xfrm>
          <a:custGeom>
            <a:avLst/>
            <a:gdLst/>
            <a:ahLst/>
            <a:cxnLst/>
            <a:rect r="r" b="b" t="t" l="l"/>
            <a:pathLst>
              <a:path h="4112260" w="4112260">
                <a:moveTo>
                  <a:pt x="0" y="0"/>
                </a:moveTo>
                <a:lnTo>
                  <a:pt x="4112261" y="0"/>
                </a:lnTo>
                <a:lnTo>
                  <a:pt x="4112261" y="4112260"/>
                </a:lnTo>
                <a:lnTo>
                  <a:pt x="0" y="41122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9613265" y="3202252"/>
            <a:ext cx="4002120" cy="6056048"/>
            <a:chOff x="0" y="0"/>
            <a:chExt cx="147738" cy="22355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7738" cy="223558"/>
            </a:xfrm>
            <a:custGeom>
              <a:avLst/>
              <a:gdLst/>
              <a:ahLst/>
              <a:cxnLst/>
              <a:rect r="r" b="b" t="t" l="l"/>
              <a:pathLst>
                <a:path h="223558" w="147738">
                  <a:moveTo>
                    <a:pt x="0" y="0"/>
                  </a:moveTo>
                  <a:lnTo>
                    <a:pt x="147738" y="0"/>
                  </a:lnTo>
                  <a:lnTo>
                    <a:pt x="147738" y="223558"/>
                  </a:lnTo>
                  <a:lnTo>
                    <a:pt x="0" y="22355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47738" cy="261658"/>
            </a:xfrm>
            <a:prstGeom prst="rect">
              <a:avLst/>
            </a:prstGeom>
          </p:spPr>
          <p:txBody>
            <a:bodyPr anchor="ctr" rtlCol="false" tIns="362440" lIns="362440" bIns="362440" rIns="362440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10016584" y="4099955"/>
            <a:ext cx="3195482" cy="4260643"/>
          </a:xfrm>
          <a:custGeom>
            <a:avLst/>
            <a:gdLst/>
            <a:ahLst/>
            <a:cxnLst/>
            <a:rect r="r" b="b" t="t" l="l"/>
            <a:pathLst>
              <a:path h="4260643" w="3195482">
                <a:moveTo>
                  <a:pt x="0" y="0"/>
                </a:moveTo>
                <a:lnTo>
                  <a:pt x="3195482" y="0"/>
                </a:lnTo>
                <a:lnTo>
                  <a:pt x="3195482" y="4260643"/>
                </a:lnTo>
                <a:lnTo>
                  <a:pt x="0" y="42606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9704146" y="3375838"/>
            <a:ext cx="3820358" cy="505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64"/>
              </a:lnSpc>
            </a:pPr>
            <a:r>
              <a:rPr lang="en-US" sz="29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Elizangela Aranega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DAHB5BjB00s</dc:identifier>
  <dcterms:modified xsi:type="dcterms:W3CDTF">2011-08-01T06:04:30Z</dcterms:modified>
  <cp:revision>1</cp:revision>
  <dc:title>Slide de Apresentação - Safety Intelligence - Sprint 2</dc:title>
</cp:coreProperties>
</file>