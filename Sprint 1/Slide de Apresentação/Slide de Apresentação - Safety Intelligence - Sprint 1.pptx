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Montserrat Bold" charset="1" panose="00000800000000000000"/>
      <p:regular r:id="rId31"/>
    </p:embeddedFont>
    <p:embeddedFont>
      <p:font typeface="Montserrat" charset="1" panose="00000500000000000000"/>
      <p:regular r:id="rId32"/>
    </p:embeddedFont>
    <p:embeddedFont>
      <p:font typeface="Montserrat Bold Italics" charset="1" panose="00000800000000000000"/>
      <p:regular r:id="rId33"/>
    </p:embeddedFont>
    <p:embeddedFont>
      <p:font typeface="Open Sans" charset="1" panose="020B0606030504020204"/>
      <p:regular r:id="rId34"/>
    </p:embeddedFont>
    <p:embeddedFont>
      <p:font typeface="Open Sans Bold Italics" charset="1" panose="020B0806030504020204"/>
      <p:regular r:id="rId35"/>
    </p:embeddedFont>
    <p:embeddedFont>
      <p:font typeface="Didot LP" charset="1" panose="02000000000000000000"/>
      <p:regular r:id="rId36"/>
    </p:embeddedFont>
    <p:embeddedFont>
      <p:font typeface="Open Sans Bold" charset="1" panose="020B0806030504020204"/>
      <p:regular r:id="rId37"/>
    </p:embeddedFont>
    <p:embeddedFont>
      <p:font typeface="Montserrat Italics" charset="1" panose="000005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48.png" Type="http://schemas.openxmlformats.org/officeDocument/2006/relationships/image"/><Relationship Id="rId19" Target="../media/image49.png" Type="http://schemas.openxmlformats.org/officeDocument/2006/relationships/image"/><Relationship Id="rId2" Target="../media/image32.png" Type="http://schemas.openxmlformats.org/officeDocument/2006/relationships/image"/><Relationship Id="rId20" Target="../media/image50.png" Type="http://schemas.openxmlformats.org/officeDocument/2006/relationships/image"/><Relationship Id="rId21" Target="../media/image51.svg" Type="http://schemas.openxmlformats.org/officeDocument/2006/relationships/image"/><Relationship Id="rId22" Target="../media/image52.png" Type="http://schemas.openxmlformats.org/officeDocument/2006/relationships/image"/><Relationship Id="rId23" Target="../media/image53.png" Type="http://schemas.openxmlformats.org/officeDocument/2006/relationships/image"/><Relationship Id="rId24" Target="../media/image54.png" Type="http://schemas.openxmlformats.org/officeDocument/2006/relationships/image"/><Relationship Id="rId25" Target="../media/image55.png" Type="http://schemas.openxmlformats.org/officeDocument/2006/relationships/image"/><Relationship Id="rId26" Target="../media/image56.png" Type="http://schemas.openxmlformats.org/officeDocument/2006/relationships/image"/><Relationship Id="rId27" Target="../media/image57.png" Type="http://schemas.openxmlformats.org/officeDocument/2006/relationships/image"/><Relationship Id="rId28" Target="../media/image58.png" Type="http://schemas.openxmlformats.org/officeDocument/2006/relationships/image"/><Relationship Id="rId29" Target="../media/image59.png" Type="http://schemas.openxmlformats.org/officeDocument/2006/relationships/image"/><Relationship Id="rId3" Target="../media/image33.png" Type="http://schemas.openxmlformats.org/officeDocument/2006/relationships/image"/><Relationship Id="rId30" Target="../media/image60.png" Type="http://schemas.openxmlformats.org/officeDocument/2006/relationships/image"/><Relationship Id="rId31" Target="../media/image61.svg" Type="http://schemas.openxmlformats.org/officeDocument/2006/relationships/image"/><Relationship Id="rId32" Target="../media/image62.png" Type="http://schemas.openxmlformats.org/officeDocument/2006/relationships/image"/><Relationship Id="rId33" Target="../media/image6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https://www.figma.com/design/A4rv3wIj17aX1Y6EukJ8Wv/wireframe?node-id=0-1&amp;p=f&amp;t=WOJnL59aTSOobAxY-0" TargetMode="External" Type="http://schemas.openxmlformats.org/officeDocument/2006/relationships/hyperlink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83.jpeg" Type="http://schemas.openxmlformats.org/officeDocument/2006/relationships/image"/><Relationship Id="rId5" Target="../media/image8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86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93.png" Type="http://schemas.openxmlformats.org/officeDocument/2006/relationships/image"/><Relationship Id="rId4" Target="../media/image9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svg" Type="http://schemas.openxmlformats.org/officeDocument/2006/relationships/image"/><Relationship Id="rId2" Target="../media/image1.jpeg" Type="http://schemas.openxmlformats.org/officeDocument/2006/relationships/image"/><Relationship Id="rId3" Target="../media/image97.png" Type="http://schemas.openxmlformats.org/officeDocument/2006/relationships/image"/><Relationship Id="rId4" Target="../media/image98.svg" Type="http://schemas.openxmlformats.org/officeDocument/2006/relationships/image"/><Relationship Id="rId5" Target="../media/image99.png" Type="http://schemas.openxmlformats.org/officeDocument/2006/relationships/image"/><Relationship Id="rId6" Target="../media/image100.svg" Type="http://schemas.openxmlformats.org/officeDocument/2006/relationships/image"/><Relationship Id="rId7" Target="../media/image101.png" Type="http://schemas.openxmlformats.org/officeDocument/2006/relationships/image"/><Relationship Id="rId8" Target="../media/image102.sv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5.jpeg" Type="http://schemas.openxmlformats.org/officeDocument/2006/relationships/image"/><Relationship Id="rId3" Target="../media/image10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4399" y="0"/>
            <a:ext cx="13343601" cy="10287000"/>
            <a:chOff x="0" y="0"/>
            <a:chExt cx="206727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7273" cy="1593725"/>
            </a:xfrm>
            <a:custGeom>
              <a:avLst/>
              <a:gdLst/>
              <a:ahLst/>
              <a:cxnLst/>
              <a:rect r="r" b="b" t="t" l="l"/>
              <a:pathLst>
                <a:path h="1593725" w="2067273">
                  <a:moveTo>
                    <a:pt x="0" y="0"/>
                  </a:moveTo>
                  <a:lnTo>
                    <a:pt x="2067273" y="0"/>
                  </a:lnTo>
                  <a:lnTo>
                    <a:pt x="206727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4856" r="0" b="-1485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39059" y="-2433699"/>
            <a:ext cx="5805375" cy="5509828"/>
          </a:xfrm>
          <a:custGeom>
            <a:avLst/>
            <a:gdLst/>
            <a:ahLst/>
            <a:cxnLst/>
            <a:rect r="r" b="b" t="t" l="l"/>
            <a:pathLst>
              <a:path h="5509828" w="5805375">
                <a:moveTo>
                  <a:pt x="0" y="0"/>
                </a:moveTo>
                <a:lnTo>
                  <a:pt x="5805375" y="0"/>
                </a:lnTo>
                <a:lnTo>
                  <a:pt x="5805375" y="5509829"/>
                </a:lnTo>
                <a:lnTo>
                  <a:pt x="0" y="55098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3041" y="4245478"/>
            <a:ext cx="2581173" cy="3542970"/>
            <a:chOff x="0" y="0"/>
            <a:chExt cx="550551" cy="75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2"/>
              <a:stretch>
                <a:fillRect l="-7525" t="0" r="-75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08568" y="4245478"/>
            <a:ext cx="2581173" cy="3542970"/>
            <a:chOff x="0" y="0"/>
            <a:chExt cx="550551" cy="75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3"/>
              <a:stretch>
                <a:fillRect l="-7525" t="0" r="-752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07645" y="4245478"/>
            <a:ext cx="2581173" cy="3542970"/>
            <a:chOff x="0" y="0"/>
            <a:chExt cx="550551" cy="755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4"/>
              <a:stretch>
                <a:fillRect l="-7774" t="0" r="-777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03172" y="4245478"/>
            <a:ext cx="2581173" cy="3542970"/>
            <a:chOff x="0" y="0"/>
            <a:chExt cx="550551" cy="7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5"/>
              <a:stretch>
                <a:fillRect l="0" t="-1370" r="0" b="-13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09751" y="7770570"/>
            <a:ext cx="2581173" cy="884412"/>
            <a:chOff x="0" y="0"/>
            <a:chExt cx="131217" cy="4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3041" y="7770570"/>
            <a:ext cx="2581173" cy="884412"/>
            <a:chOff x="0" y="0"/>
            <a:chExt cx="131217" cy="44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3172" y="7770570"/>
            <a:ext cx="2581173" cy="884412"/>
            <a:chOff x="0" y="0"/>
            <a:chExt cx="131217" cy="4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06462" y="7770570"/>
            <a:ext cx="2581173" cy="884412"/>
            <a:chOff x="0" y="0"/>
            <a:chExt cx="131217" cy="4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484946" y="1823251"/>
            <a:ext cx="731810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</a:t>
            </a:r>
            <a:r>
              <a:rPr lang="en-US" b="true" sz="6999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0497" y="8219446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Bozetti Santiago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4000" y="7994242"/>
            <a:ext cx="2479254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Gustavo Rucaglia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95428" y="8219446"/>
            <a:ext cx="2009818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Silva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32667" y="7994242"/>
            <a:ext cx="2335342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Kayke Rodrigues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11120" y="8219446"/>
            <a:ext cx="1971856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Feitosa da Silva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24758" y="7994242"/>
            <a:ext cx="2344580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Leonardo Tomas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20629" y="8219446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Aranega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20629" y="7994242"/>
            <a:ext cx="1746260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Luana Tejon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-10800000">
            <a:off x="15095403" y="99944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197076" y="4245478"/>
            <a:ext cx="2581173" cy="3542970"/>
            <a:chOff x="0" y="0"/>
            <a:chExt cx="550551" cy="7556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8"/>
              <a:stretch>
                <a:fillRect l="0" t="-849" r="0" b="-84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092603" y="4245478"/>
            <a:ext cx="2581173" cy="3542970"/>
            <a:chOff x="0" y="0"/>
            <a:chExt cx="550551" cy="7556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9"/>
              <a:stretch>
                <a:fillRect l="0" t="-978" r="0" b="-978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093786" y="7770570"/>
            <a:ext cx="2581173" cy="884412"/>
            <a:chOff x="0" y="0"/>
            <a:chExt cx="131217" cy="4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97076" y="7770570"/>
            <a:ext cx="2581173" cy="884412"/>
            <a:chOff x="0" y="0"/>
            <a:chExt cx="131217" cy="4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217" cy="44960"/>
            </a:xfrm>
            <a:custGeom>
              <a:avLst/>
              <a:gdLst/>
              <a:ahLst/>
              <a:cxnLst/>
              <a:rect r="r" b="b" t="t" l="l"/>
              <a:pathLst>
                <a:path h="44960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44960"/>
                  </a:lnTo>
                  <a:lnTo>
                    <a:pt x="0" y="44960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1217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614533" y="8219446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Bambino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48035" y="7994242"/>
            <a:ext cx="2479254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Paulo Henrique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79464" y="8219446"/>
            <a:ext cx="2009818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Silva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6702" y="7994242"/>
            <a:ext cx="2335342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Rafael Alexandre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4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5334" y="0"/>
            <a:ext cx="5480236" cy="10287000"/>
            <a:chOff x="0" y="0"/>
            <a:chExt cx="84903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9032" cy="1593725"/>
            </a:xfrm>
            <a:custGeom>
              <a:avLst/>
              <a:gdLst/>
              <a:ahLst/>
              <a:cxnLst/>
              <a:rect r="r" b="b" t="t" l="l"/>
              <a:pathLst>
                <a:path h="1593725" w="849032">
                  <a:moveTo>
                    <a:pt x="0" y="0"/>
                  </a:moveTo>
                  <a:lnTo>
                    <a:pt x="849032" y="0"/>
                  </a:lnTo>
                  <a:lnTo>
                    <a:pt x="84903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7114" t="0" r="-10387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3192597" y="9527423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4942" y="461019"/>
            <a:ext cx="5266645" cy="87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70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7392" y="1772283"/>
            <a:ext cx="11602696" cy="1168117"/>
            <a:chOff x="0" y="0"/>
            <a:chExt cx="428312" cy="431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312" cy="43121"/>
            </a:xfrm>
            <a:custGeom>
              <a:avLst/>
              <a:gdLst/>
              <a:ahLst/>
              <a:cxnLst/>
              <a:rect r="r" b="b" t="t" l="l"/>
              <a:pathLst>
                <a:path h="43121" w="428312">
                  <a:moveTo>
                    <a:pt x="0" y="0"/>
                  </a:moveTo>
                  <a:lnTo>
                    <a:pt x="428312" y="0"/>
                  </a:lnTo>
                  <a:lnTo>
                    <a:pt x="428312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8312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0776" y="1972565"/>
            <a:ext cx="762400" cy="767552"/>
            <a:chOff x="0" y="0"/>
            <a:chExt cx="80734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7392" y="3255742"/>
            <a:ext cx="11602696" cy="1168117"/>
            <a:chOff x="0" y="0"/>
            <a:chExt cx="428312" cy="43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8312" cy="43121"/>
            </a:xfrm>
            <a:custGeom>
              <a:avLst/>
              <a:gdLst/>
              <a:ahLst/>
              <a:cxnLst/>
              <a:rect r="r" b="b" t="t" l="l"/>
              <a:pathLst>
                <a:path h="43121" w="428312">
                  <a:moveTo>
                    <a:pt x="0" y="0"/>
                  </a:moveTo>
                  <a:lnTo>
                    <a:pt x="428312" y="0"/>
                  </a:lnTo>
                  <a:lnTo>
                    <a:pt x="428312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8312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0776" y="3456025"/>
            <a:ext cx="762400" cy="767552"/>
            <a:chOff x="0" y="0"/>
            <a:chExt cx="80734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7392" y="4807069"/>
            <a:ext cx="11602696" cy="1168117"/>
            <a:chOff x="0" y="0"/>
            <a:chExt cx="428312" cy="431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8312" cy="43121"/>
            </a:xfrm>
            <a:custGeom>
              <a:avLst/>
              <a:gdLst/>
              <a:ahLst/>
              <a:cxnLst/>
              <a:rect r="r" b="b" t="t" l="l"/>
              <a:pathLst>
                <a:path h="43121" w="428312">
                  <a:moveTo>
                    <a:pt x="0" y="0"/>
                  </a:moveTo>
                  <a:lnTo>
                    <a:pt x="428312" y="0"/>
                  </a:lnTo>
                  <a:lnTo>
                    <a:pt x="428312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8312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0776" y="5007351"/>
            <a:ext cx="762400" cy="767552"/>
            <a:chOff x="0" y="0"/>
            <a:chExt cx="807344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07599" y="2226916"/>
            <a:ext cx="60833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Setor Imobiliário e Segurança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07599" y="3702169"/>
            <a:ext cx="58399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Tranquilidade e Bem-estar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07599" y="5109659"/>
            <a:ext cx="984420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Conselho Regional de Corretores de Imóveis do Estado de S. Paulo - José Augusto Viana Neto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47392" y="6356186"/>
            <a:ext cx="11602696" cy="1168117"/>
            <a:chOff x="0" y="0"/>
            <a:chExt cx="428312" cy="431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8312" cy="43121"/>
            </a:xfrm>
            <a:custGeom>
              <a:avLst/>
              <a:gdLst/>
              <a:ahLst/>
              <a:cxnLst/>
              <a:rect r="r" b="b" t="t" l="l"/>
              <a:pathLst>
                <a:path h="43121" w="428312">
                  <a:moveTo>
                    <a:pt x="0" y="0"/>
                  </a:moveTo>
                  <a:lnTo>
                    <a:pt x="428312" y="0"/>
                  </a:lnTo>
                  <a:lnTo>
                    <a:pt x="428312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28312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0776" y="6489278"/>
            <a:ext cx="762400" cy="767552"/>
            <a:chOff x="0" y="0"/>
            <a:chExt cx="807344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7392" y="7905302"/>
            <a:ext cx="11602696" cy="1168117"/>
            <a:chOff x="0" y="0"/>
            <a:chExt cx="428312" cy="431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312" cy="43121"/>
            </a:xfrm>
            <a:custGeom>
              <a:avLst/>
              <a:gdLst/>
              <a:ahLst/>
              <a:cxnLst/>
              <a:rect r="r" b="b" t="t" l="l"/>
              <a:pathLst>
                <a:path h="43121" w="428312">
                  <a:moveTo>
                    <a:pt x="0" y="0"/>
                  </a:moveTo>
                  <a:lnTo>
                    <a:pt x="428312" y="0"/>
                  </a:lnTo>
                  <a:lnTo>
                    <a:pt x="428312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28312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0776" y="8082617"/>
            <a:ext cx="762400" cy="767552"/>
            <a:chOff x="0" y="0"/>
            <a:chExt cx="807344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07599" y="6775286"/>
            <a:ext cx="434114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Comparação em 30%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07599" y="8378173"/>
            <a:ext cx="263220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Praça Seca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4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5334" y="0"/>
            <a:ext cx="5480236" cy="10287000"/>
            <a:chOff x="0" y="0"/>
            <a:chExt cx="84903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9032" cy="1593725"/>
            </a:xfrm>
            <a:custGeom>
              <a:avLst/>
              <a:gdLst/>
              <a:ahLst/>
              <a:cxnLst/>
              <a:rect r="r" b="b" t="t" l="l"/>
              <a:pathLst>
                <a:path h="1593725" w="849032">
                  <a:moveTo>
                    <a:pt x="0" y="0"/>
                  </a:moveTo>
                  <a:lnTo>
                    <a:pt x="849032" y="0"/>
                  </a:lnTo>
                  <a:lnTo>
                    <a:pt x="84903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7114" t="0" r="-10387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3192597" y="9527423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4942" y="461019"/>
            <a:ext cx="5266645" cy="87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70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4942" y="1489722"/>
            <a:ext cx="11602696" cy="1168117"/>
            <a:chOff x="0" y="0"/>
            <a:chExt cx="428312" cy="431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312" cy="43121"/>
            </a:xfrm>
            <a:custGeom>
              <a:avLst/>
              <a:gdLst/>
              <a:ahLst/>
              <a:cxnLst/>
              <a:rect r="r" b="b" t="t" l="l"/>
              <a:pathLst>
                <a:path h="43121" w="428312">
                  <a:moveTo>
                    <a:pt x="0" y="0"/>
                  </a:moveTo>
                  <a:lnTo>
                    <a:pt x="428312" y="0"/>
                  </a:lnTo>
                  <a:lnTo>
                    <a:pt x="428312" y="43121"/>
                  </a:lnTo>
                  <a:lnTo>
                    <a:pt x="0" y="43121"/>
                  </a:lnTo>
                  <a:close/>
                </a:path>
              </a:pathLst>
            </a:custGeom>
            <a:solidFill>
              <a:srgbClr val="0B2E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8312" cy="81221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8327" y="1667036"/>
            <a:ext cx="762400" cy="767552"/>
            <a:chOff x="0" y="0"/>
            <a:chExt cx="80734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5150" y="1962593"/>
            <a:ext cx="263220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Praça Seca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285271" y="3040113"/>
            <a:ext cx="7438909" cy="6105035"/>
          </a:xfrm>
          <a:custGeom>
            <a:avLst/>
            <a:gdLst/>
            <a:ahLst/>
            <a:cxnLst/>
            <a:rect r="r" b="b" t="t" l="l"/>
            <a:pathLst>
              <a:path h="6105035" w="7438909">
                <a:moveTo>
                  <a:pt x="0" y="0"/>
                </a:moveTo>
                <a:lnTo>
                  <a:pt x="7438908" y="0"/>
                </a:lnTo>
                <a:lnTo>
                  <a:pt x="7438908" y="6105036"/>
                </a:lnTo>
                <a:lnTo>
                  <a:pt x="0" y="610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8502" y="457016"/>
            <a:ext cx="10715895" cy="5609864"/>
          </a:xfrm>
          <a:custGeom>
            <a:avLst/>
            <a:gdLst/>
            <a:ahLst/>
            <a:cxnLst/>
            <a:rect r="r" b="b" t="t" l="l"/>
            <a:pathLst>
              <a:path h="5609864" w="10715895">
                <a:moveTo>
                  <a:pt x="0" y="0"/>
                </a:moveTo>
                <a:lnTo>
                  <a:pt x="10715896" y="0"/>
                </a:lnTo>
                <a:lnTo>
                  <a:pt x="10715896" y="5609864"/>
                </a:lnTo>
                <a:lnTo>
                  <a:pt x="0" y="560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10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27422" y="1028700"/>
            <a:ext cx="7030848" cy="1212914"/>
            <a:chOff x="0" y="0"/>
            <a:chExt cx="259588" cy="447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9588" cy="44704"/>
            </a:xfrm>
            <a:custGeom>
              <a:avLst/>
              <a:gdLst/>
              <a:ahLst/>
              <a:cxnLst/>
              <a:rect r="r" b="b" t="t" l="l"/>
              <a:pathLst>
                <a:path h="44704" w="259588">
                  <a:moveTo>
                    <a:pt x="259588" y="14315"/>
                  </a:moveTo>
                  <a:lnTo>
                    <a:pt x="259588" y="30389"/>
                  </a:lnTo>
                  <a:cubicBezTo>
                    <a:pt x="259588" y="34186"/>
                    <a:pt x="258080" y="37827"/>
                    <a:pt x="255395" y="40511"/>
                  </a:cubicBezTo>
                  <a:cubicBezTo>
                    <a:pt x="252711" y="43196"/>
                    <a:pt x="249070" y="44704"/>
                    <a:pt x="245273" y="44704"/>
                  </a:cubicBezTo>
                  <a:lnTo>
                    <a:pt x="14315" y="44704"/>
                  </a:lnTo>
                  <a:cubicBezTo>
                    <a:pt x="10518" y="44704"/>
                    <a:pt x="6877" y="43196"/>
                    <a:pt x="4193" y="40511"/>
                  </a:cubicBezTo>
                  <a:cubicBezTo>
                    <a:pt x="1508" y="37827"/>
                    <a:pt x="0" y="34186"/>
                    <a:pt x="0" y="30389"/>
                  </a:cubicBezTo>
                  <a:lnTo>
                    <a:pt x="0" y="14315"/>
                  </a:lnTo>
                  <a:cubicBezTo>
                    <a:pt x="0" y="10518"/>
                    <a:pt x="1508" y="6877"/>
                    <a:pt x="4193" y="4193"/>
                  </a:cubicBezTo>
                  <a:cubicBezTo>
                    <a:pt x="6877" y="1508"/>
                    <a:pt x="10518" y="0"/>
                    <a:pt x="14315" y="0"/>
                  </a:cubicBezTo>
                  <a:lnTo>
                    <a:pt x="245273" y="0"/>
                  </a:lnTo>
                  <a:cubicBezTo>
                    <a:pt x="253179" y="0"/>
                    <a:pt x="259588" y="6409"/>
                    <a:pt x="259588" y="14315"/>
                  </a:cubicBezTo>
                  <a:close/>
                </a:path>
              </a:pathLst>
            </a:custGeom>
            <a:solidFill>
              <a:srgbClr val="FCFC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9588" cy="8280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65261" y="1181100"/>
            <a:ext cx="689300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b="true" sz="8000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362">
            <a:off x="15523193" y="146"/>
            <a:ext cx="2764467" cy="2764467"/>
          </a:xfrm>
          <a:custGeom>
            <a:avLst/>
            <a:gdLst/>
            <a:ahLst/>
            <a:cxnLst/>
            <a:rect r="r" b="b" t="t" l="l"/>
            <a:pathLst>
              <a:path h="2764467" w="2764467">
                <a:moveTo>
                  <a:pt x="0" y="0"/>
                </a:moveTo>
                <a:lnTo>
                  <a:pt x="2764468" y="0"/>
                </a:lnTo>
                <a:lnTo>
                  <a:pt x="2764468" y="2764467"/>
                </a:lnTo>
                <a:lnTo>
                  <a:pt x="0" y="276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711185"/>
            <a:ext cx="7498075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 ausência de dados consolidados e interpretáveis pode elevar os riscos de empreendimentos imobiliários, comprometendo retorno financeiro e atratividade para investidores.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65261" y="4621824"/>
            <a:ext cx="7794039" cy="1626031"/>
            <a:chOff x="0" y="0"/>
            <a:chExt cx="267107" cy="55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7107" cy="55725"/>
            </a:xfrm>
            <a:custGeom>
              <a:avLst/>
              <a:gdLst/>
              <a:ahLst/>
              <a:cxnLst/>
              <a:rect r="r" b="b" t="t" l="l"/>
              <a:pathLst>
                <a:path h="55725" w="267107">
                  <a:moveTo>
                    <a:pt x="27863" y="0"/>
                  </a:moveTo>
                  <a:lnTo>
                    <a:pt x="239245" y="0"/>
                  </a:lnTo>
                  <a:cubicBezTo>
                    <a:pt x="246634" y="0"/>
                    <a:pt x="253721" y="2936"/>
                    <a:pt x="258946" y="8161"/>
                  </a:cubicBezTo>
                  <a:cubicBezTo>
                    <a:pt x="264172" y="13386"/>
                    <a:pt x="267107" y="20473"/>
                    <a:pt x="267107" y="27863"/>
                  </a:cubicBezTo>
                  <a:lnTo>
                    <a:pt x="267107" y="27863"/>
                  </a:lnTo>
                  <a:cubicBezTo>
                    <a:pt x="267107" y="35252"/>
                    <a:pt x="264172" y="42339"/>
                    <a:pt x="258946" y="47564"/>
                  </a:cubicBezTo>
                  <a:cubicBezTo>
                    <a:pt x="253721" y="52790"/>
                    <a:pt x="246634" y="55725"/>
                    <a:pt x="239245" y="55725"/>
                  </a:cubicBezTo>
                  <a:lnTo>
                    <a:pt x="27863" y="55725"/>
                  </a:lnTo>
                  <a:cubicBezTo>
                    <a:pt x="20473" y="55725"/>
                    <a:pt x="13386" y="52790"/>
                    <a:pt x="8161" y="47564"/>
                  </a:cubicBezTo>
                  <a:cubicBezTo>
                    <a:pt x="2936" y="42339"/>
                    <a:pt x="0" y="35252"/>
                    <a:pt x="0" y="27863"/>
                  </a:cubicBezTo>
                  <a:lnTo>
                    <a:pt x="0" y="27863"/>
                  </a:lnTo>
                  <a:cubicBezTo>
                    <a:pt x="0" y="20473"/>
                    <a:pt x="2936" y="13386"/>
                    <a:pt x="8161" y="8161"/>
                  </a:cubicBezTo>
                  <a:cubicBezTo>
                    <a:pt x="13386" y="2936"/>
                    <a:pt x="20473" y="0"/>
                    <a:pt x="27863" y="0"/>
                  </a:cubicBezTo>
                  <a:close/>
                </a:path>
              </a:pathLst>
            </a:custGeom>
            <a:solidFill>
              <a:srgbClr val="5794C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7107" cy="938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25538" y="5307614"/>
            <a:ext cx="7073484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Falta de uma visão clara sobre a viabilidade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65261" y="6441099"/>
            <a:ext cx="7794039" cy="1626031"/>
            <a:chOff x="0" y="0"/>
            <a:chExt cx="267107" cy="55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7107" cy="55725"/>
            </a:xfrm>
            <a:custGeom>
              <a:avLst/>
              <a:gdLst/>
              <a:ahLst/>
              <a:cxnLst/>
              <a:rect r="r" b="b" t="t" l="l"/>
              <a:pathLst>
                <a:path h="55725" w="267107">
                  <a:moveTo>
                    <a:pt x="27863" y="0"/>
                  </a:moveTo>
                  <a:lnTo>
                    <a:pt x="239245" y="0"/>
                  </a:lnTo>
                  <a:cubicBezTo>
                    <a:pt x="246634" y="0"/>
                    <a:pt x="253721" y="2936"/>
                    <a:pt x="258946" y="8161"/>
                  </a:cubicBezTo>
                  <a:cubicBezTo>
                    <a:pt x="264172" y="13386"/>
                    <a:pt x="267107" y="20473"/>
                    <a:pt x="267107" y="27863"/>
                  </a:cubicBezTo>
                  <a:lnTo>
                    <a:pt x="267107" y="27863"/>
                  </a:lnTo>
                  <a:cubicBezTo>
                    <a:pt x="267107" y="35252"/>
                    <a:pt x="264172" y="42339"/>
                    <a:pt x="258946" y="47564"/>
                  </a:cubicBezTo>
                  <a:cubicBezTo>
                    <a:pt x="253721" y="52790"/>
                    <a:pt x="246634" y="55725"/>
                    <a:pt x="239245" y="55725"/>
                  </a:cubicBezTo>
                  <a:lnTo>
                    <a:pt x="27863" y="55725"/>
                  </a:lnTo>
                  <a:cubicBezTo>
                    <a:pt x="20473" y="55725"/>
                    <a:pt x="13386" y="52790"/>
                    <a:pt x="8161" y="47564"/>
                  </a:cubicBezTo>
                  <a:cubicBezTo>
                    <a:pt x="2936" y="42339"/>
                    <a:pt x="0" y="35252"/>
                    <a:pt x="0" y="27863"/>
                  </a:cubicBezTo>
                  <a:lnTo>
                    <a:pt x="0" y="27863"/>
                  </a:lnTo>
                  <a:cubicBezTo>
                    <a:pt x="0" y="20473"/>
                    <a:pt x="2936" y="13386"/>
                    <a:pt x="8161" y="8161"/>
                  </a:cubicBezTo>
                  <a:cubicBezTo>
                    <a:pt x="13386" y="2936"/>
                    <a:pt x="20473" y="0"/>
                    <a:pt x="27863" y="0"/>
                  </a:cubicBezTo>
                  <a:close/>
                </a:path>
              </a:pathLst>
            </a:custGeom>
            <a:solidFill>
              <a:srgbClr val="5794C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7107" cy="938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31943" y="7139810"/>
            <a:ext cx="7073484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Incerteza na tomada de decisão.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65261" y="8276680"/>
            <a:ext cx="7794039" cy="1626031"/>
            <a:chOff x="0" y="0"/>
            <a:chExt cx="267107" cy="55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7107" cy="55725"/>
            </a:xfrm>
            <a:custGeom>
              <a:avLst/>
              <a:gdLst/>
              <a:ahLst/>
              <a:cxnLst/>
              <a:rect r="r" b="b" t="t" l="l"/>
              <a:pathLst>
                <a:path h="55725" w="267107">
                  <a:moveTo>
                    <a:pt x="27863" y="0"/>
                  </a:moveTo>
                  <a:lnTo>
                    <a:pt x="239245" y="0"/>
                  </a:lnTo>
                  <a:cubicBezTo>
                    <a:pt x="246634" y="0"/>
                    <a:pt x="253721" y="2936"/>
                    <a:pt x="258946" y="8161"/>
                  </a:cubicBezTo>
                  <a:cubicBezTo>
                    <a:pt x="264172" y="13386"/>
                    <a:pt x="267107" y="20473"/>
                    <a:pt x="267107" y="27863"/>
                  </a:cubicBezTo>
                  <a:lnTo>
                    <a:pt x="267107" y="27863"/>
                  </a:lnTo>
                  <a:cubicBezTo>
                    <a:pt x="267107" y="35252"/>
                    <a:pt x="264172" y="42339"/>
                    <a:pt x="258946" y="47564"/>
                  </a:cubicBezTo>
                  <a:cubicBezTo>
                    <a:pt x="253721" y="52790"/>
                    <a:pt x="246634" y="55725"/>
                    <a:pt x="239245" y="55725"/>
                  </a:cubicBezTo>
                  <a:lnTo>
                    <a:pt x="27863" y="55725"/>
                  </a:lnTo>
                  <a:cubicBezTo>
                    <a:pt x="20473" y="55725"/>
                    <a:pt x="13386" y="52790"/>
                    <a:pt x="8161" y="47564"/>
                  </a:cubicBezTo>
                  <a:cubicBezTo>
                    <a:pt x="2936" y="42339"/>
                    <a:pt x="0" y="35252"/>
                    <a:pt x="0" y="27863"/>
                  </a:cubicBezTo>
                  <a:lnTo>
                    <a:pt x="0" y="27863"/>
                  </a:lnTo>
                  <a:cubicBezTo>
                    <a:pt x="0" y="20473"/>
                    <a:pt x="2936" y="13386"/>
                    <a:pt x="8161" y="8161"/>
                  </a:cubicBezTo>
                  <a:cubicBezTo>
                    <a:pt x="13386" y="2936"/>
                    <a:pt x="20473" y="0"/>
                    <a:pt x="27863" y="0"/>
                  </a:cubicBezTo>
                  <a:close/>
                </a:path>
              </a:pathLst>
            </a:custGeom>
            <a:solidFill>
              <a:srgbClr val="5794C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67107" cy="938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25538" y="8975391"/>
            <a:ext cx="7073484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Artigo 723 do Código Civil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3287" y="4983269"/>
            <a:ext cx="8009349" cy="2065764"/>
            <a:chOff x="0" y="0"/>
            <a:chExt cx="295664" cy="76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3287" y="7319003"/>
            <a:ext cx="8009349" cy="2065764"/>
            <a:chOff x="0" y="0"/>
            <a:chExt cx="295664" cy="762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3287" y="2646296"/>
            <a:ext cx="8009349" cy="2065764"/>
            <a:chOff x="0" y="0"/>
            <a:chExt cx="295664" cy="76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5664" cy="76257"/>
            </a:xfrm>
            <a:custGeom>
              <a:avLst/>
              <a:gdLst/>
              <a:ahLst/>
              <a:cxnLst/>
              <a:rect r="r" b="b" t="t" l="l"/>
              <a:pathLst>
                <a:path h="76257" w="295664">
                  <a:moveTo>
                    <a:pt x="0" y="0"/>
                  </a:moveTo>
                  <a:lnTo>
                    <a:pt x="295664" y="0"/>
                  </a:lnTo>
                  <a:lnTo>
                    <a:pt x="295664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5664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3287" y="4983269"/>
            <a:ext cx="1766486" cy="2065764"/>
            <a:chOff x="0" y="0"/>
            <a:chExt cx="65210" cy="76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210" cy="76257"/>
            </a:xfrm>
            <a:custGeom>
              <a:avLst/>
              <a:gdLst/>
              <a:ahLst/>
              <a:cxnLst/>
              <a:rect r="r" b="b" t="t" l="l"/>
              <a:pathLst>
                <a:path h="76257" w="65210">
                  <a:moveTo>
                    <a:pt x="0" y="0"/>
                  </a:moveTo>
                  <a:lnTo>
                    <a:pt x="65210" y="0"/>
                  </a:lnTo>
                  <a:lnTo>
                    <a:pt x="65210" y="76257"/>
                  </a:lnTo>
                  <a:lnTo>
                    <a:pt x="0" y="76257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210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2673426" y="9277350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5157310" y="187478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506128" y="2641307"/>
            <a:ext cx="1766486" cy="2065764"/>
            <a:chOff x="0" y="0"/>
            <a:chExt cx="65210" cy="762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210" cy="76257"/>
            </a:xfrm>
            <a:custGeom>
              <a:avLst/>
              <a:gdLst/>
              <a:ahLst/>
              <a:cxnLst/>
              <a:rect r="r" b="b" t="t" l="l"/>
              <a:pathLst>
                <a:path h="76257" w="65210">
                  <a:moveTo>
                    <a:pt x="0" y="0"/>
                  </a:moveTo>
                  <a:lnTo>
                    <a:pt x="65210" y="0"/>
                  </a:lnTo>
                  <a:lnTo>
                    <a:pt x="65210" y="76257"/>
                  </a:lnTo>
                  <a:lnTo>
                    <a:pt x="0" y="76257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5210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995937" y="3291426"/>
            <a:ext cx="781185" cy="775504"/>
          </a:xfrm>
          <a:custGeom>
            <a:avLst/>
            <a:gdLst/>
            <a:ahLst/>
            <a:cxnLst/>
            <a:rect r="r" b="b" t="t" l="l"/>
            <a:pathLst>
              <a:path h="775504" w="781185">
                <a:moveTo>
                  <a:pt x="0" y="0"/>
                </a:moveTo>
                <a:lnTo>
                  <a:pt x="781186" y="0"/>
                </a:lnTo>
                <a:lnTo>
                  <a:pt x="781186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506128" y="7315733"/>
            <a:ext cx="1766486" cy="2065764"/>
            <a:chOff x="0" y="0"/>
            <a:chExt cx="65210" cy="762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210" cy="76257"/>
            </a:xfrm>
            <a:custGeom>
              <a:avLst/>
              <a:gdLst/>
              <a:ahLst/>
              <a:cxnLst/>
              <a:rect r="r" b="b" t="t" l="l"/>
              <a:pathLst>
                <a:path h="76257" w="65210">
                  <a:moveTo>
                    <a:pt x="0" y="0"/>
                  </a:moveTo>
                  <a:lnTo>
                    <a:pt x="65210" y="0"/>
                  </a:lnTo>
                  <a:lnTo>
                    <a:pt x="65210" y="76257"/>
                  </a:lnTo>
                  <a:lnTo>
                    <a:pt x="0" y="76257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5210" cy="11435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001619" y="5626144"/>
            <a:ext cx="775504" cy="775504"/>
          </a:xfrm>
          <a:custGeom>
            <a:avLst/>
            <a:gdLst/>
            <a:ahLst/>
            <a:cxnLst/>
            <a:rect r="r" b="b" t="t" l="l"/>
            <a:pathLst>
              <a:path h="775504" w="775504">
                <a:moveTo>
                  <a:pt x="0" y="0"/>
                </a:moveTo>
                <a:lnTo>
                  <a:pt x="775504" y="0"/>
                </a:lnTo>
                <a:lnTo>
                  <a:pt x="775504" y="775505"/>
                </a:lnTo>
                <a:lnTo>
                  <a:pt x="0" y="7755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65829" y="3421260"/>
            <a:ext cx="7951659" cy="249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Uma plataforma de apoio à inteligência geográfica que consolide e cruze dados de segurança pública e indicadores socioeconômicos, como o IDHM, com o propósito de fornecer suporte analítico para empresas do setor imobiliário na tomada de decisão sobre novos empreendimentos.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5829" y="2169883"/>
            <a:ext cx="669056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b="true" sz="9000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5829" y="6867792"/>
            <a:ext cx="7951659" cy="209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Não garantimos valorização imobiliária futura ou nos responsabilizamos por decisões financeiras tomadas por investidores.</a:t>
            </a:r>
          </a:p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objetivo final é fornecer suporte estratégico para que as empresas tomem decisões mais inteligentes e fundamentadas em evidências.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5829" y="6430747"/>
            <a:ext cx="3088962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2500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ATENÇÃO!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46023" y="5461895"/>
            <a:ext cx="5766613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b="true" sz="25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uz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es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tí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sticos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46023" y="5903659"/>
            <a:ext cx="5513277" cy="7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Ent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e d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dos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de crimin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dade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ad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res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dese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nvo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vimento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humano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46023" y="2990159"/>
            <a:ext cx="5445747" cy="59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25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Coleta de dados públicos oficiais de segurança pública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46023" y="3709307"/>
            <a:ext cx="5445747" cy="7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Tratados e organizados com interface para consulta e visualização de indicadores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46023" y="7797628"/>
            <a:ext cx="5766613" cy="3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b="true" sz="25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çã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hboards 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íticos</a:t>
            </a:r>
            <a:r>
              <a:rPr lang="en-US" b="true" sz="2500" strike="noStrike" u="non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46023" y="8239392"/>
            <a:ext cx="5445747" cy="7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Pa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ra a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po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à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de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ci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ão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 de n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vo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s in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est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imento</a:t>
            </a:r>
            <a:r>
              <a:rPr lang="en-US" sz="2000" strike="noStrike" u="none">
                <a:solidFill>
                  <a:srgbClr val="0B2E57"/>
                </a:solidFill>
                <a:latin typeface="Montserrat"/>
                <a:ea typeface="Montserrat"/>
                <a:cs typeface="Montserrat"/>
                <a:sym typeface="Montserrat"/>
              </a:rPr>
              <a:t>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06128" y="1585523"/>
            <a:ext cx="704413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true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QUE FAZEMOS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04770" y="1344669"/>
            <a:ext cx="775504" cy="775504"/>
          </a:xfrm>
          <a:custGeom>
            <a:avLst/>
            <a:gdLst/>
            <a:ahLst/>
            <a:cxnLst/>
            <a:rect r="r" b="b" t="t" l="l"/>
            <a:pathLst>
              <a:path h="775504" w="775504">
                <a:moveTo>
                  <a:pt x="0" y="0"/>
                </a:moveTo>
                <a:lnTo>
                  <a:pt x="775504" y="0"/>
                </a:lnTo>
                <a:lnTo>
                  <a:pt x="775504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001619" y="8102439"/>
            <a:ext cx="1055359" cy="637053"/>
          </a:xfrm>
          <a:custGeom>
            <a:avLst/>
            <a:gdLst/>
            <a:ahLst/>
            <a:cxnLst/>
            <a:rect r="r" b="b" t="t" l="l"/>
            <a:pathLst>
              <a:path h="637053" w="1055359">
                <a:moveTo>
                  <a:pt x="0" y="0"/>
                </a:moveTo>
                <a:lnTo>
                  <a:pt x="1055359" y="0"/>
                </a:lnTo>
                <a:lnTo>
                  <a:pt x="1055359" y="637053"/>
                </a:lnTo>
                <a:lnTo>
                  <a:pt x="0" y="6370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5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1413" y="462444"/>
            <a:ext cx="2737897" cy="2352881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10712" y="4038552"/>
            <a:ext cx="2737897" cy="2352881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822189" y="1541343"/>
            <a:ext cx="2415005" cy="2296450"/>
          </a:xfrm>
          <a:custGeom>
            <a:avLst/>
            <a:gdLst/>
            <a:ahLst/>
            <a:cxnLst/>
            <a:rect r="r" b="b" t="t" l="l"/>
            <a:pathLst>
              <a:path h="2296450" w="2415005">
                <a:moveTo>
                  <a:pt x="0" y="0"/>
                </a:moveTo>
                <a:lnTo>
                  <a:pt x="2415006" y="0"/>
                </a:lnTo>
                <a:lnTo>
                  <a:pt x="2415006" y="2296450"/>
                </a:lnTo>
                <a:lnTo>
                  <a:pt x="0" y="2296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29692" y="719633"/>
            <a:ext cx="6300639" cy="5414611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16755" t="0" r="-16755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0" y="0"/>
            <a:ext cx="3837793" cy="3837793"/>
          </a:xfrm>
          <a:custGeom>
            <a:avLst/>
            <a:gdLst/>
            <a:ahLst/>
            <a:cxnLst/>
            <a:rect r="r" b="b" t="t" l="l"/>
            <a:pathLst>
              <a:path h="3837793" w="3837793">
                <a:moveTo>
                  <a:pt x="0" y="0"/>
                </a:moveTo>
                <a:lnTo>
                  <a:pt x="3837793" y="0"/>
                </a:lnTo>
                <a:lnTo>
                  <a:pt x="3837793" y="3837793"/>
                </a:lnTo>
                <a:lnTo>
                  <a:pt x="0" y="3837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8775856" y="4016162"/>
            <a:ext cx="808311" cy="0"/>
          </a:xfrm>
          <a:prstGeom prst="line">
            <a:avLst/>
          </a:prstGeom>
          <a:ln cap="flat" w="38100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062655" y="4574599"/>
            <a:ext cx="2267675" cy="2057400"/>
          </a:xfrm>
          <a:custGeom>
            <a:avLst/>
            <a:gdLst/>
            <a:ahLst/>
            <a:cxnLst/>
            <a:rect r="r" b="b" t="t" l="l"/>
            <a:pathLst>
              <a:path h="2057400" w="2267675">
                <a:moveTo>
                  <a:pt x="0" y="0"/>
                </a:moveTo>
                <a:lnTo>
                  <a:pt x="2267676" y="0"/>
                </a:lnTo>
                <a:lnTo>
                  <a:pt x="226767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45065" y="3168483"/>
            <a:ext cx="3469893" cy="66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5"/>
              </a:lnSpc>
            </a:pPr>
            <a:r>
              <a:rPr lang="en-US" b="true" sz="5406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49837" y="5665870"/>
            <a:ext cx="1262191" cy="1084695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35298" y="7314482"/>
            <a:ext cx="1262191" cy="1084695"/>
            <a:chOff x="0" y="0"/>
            <a:chExt cx="8128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21342" y="5784436"/>
            <a:ext cx="2904641" cy="2496176"/>
            <a:chOff x="0" y="0"/>
            <a:chExt cx="812800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16755" t="0" r="-16755" b="0"/>
              </a:stretch>
            </a:blipFill>
          </p:spPr>
        </p:sp>
      </p:grpSp>
      <p:sp>
        <p:nvSpPr>
          <p:cNvPr name="AutoShape 23" id="23"/>
          <p:cNvSpPr/>
          <p:nvPr/>
        </p:nvSpPr>
        <p:spPr>
          <a:xfrm>
            <a:off x="2987344" y="7418590"/>
            <a:ext cx="372637" cy="0"/>
          </a:xfrm>
          <a:prstGeom prst="line">
            <a:avLst/>
          </a:prstGeom>
          <a:ln cap="flat" w="19050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2373840" y="6917749"/>
            <a:ext cx="159964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2000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CRAZY 8'S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20174" y="7378098"/>
            <a:ext cx="1262191" cy="1084695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005635" y="9026710"/>
            <a:ext cx="1262191" cy="1084695"/>
            <a:chOff x="0" y="0"/>
            <a:chExt cx="8128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91679" y="7496664"/>
            <a:ext cx="2904641" cy="2496176"/>
            <a:chOff x="0" y="0"/>
            <a:chExt cx="812800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16755" t="0" r="-16755" b="0"/>
              </a:stretch>
            </a:blipFill>
          </p:spPr>
        </p:sp>
      </p:grpSp>
      <p:sp>
        <p:nvSpPr>
          <p:cNvPr name="AutoShape 33" id="33"/>
          <p:cNvSpPr/>
          <p:nvPr/>
        </p:nvSpPr>
        <p:spPr>
          <a:xfrm>
            <a:off x="8957681" y="9102123"/>
            <a:ext cx="372637" cy="0"/>
          </a:xfrm>
          <a:prstGeom prst="line">
            <a:avLst/>
          </a:prstGeom>
          <a:ln cap="flat" w="19050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8174906" y="8463948"/>
            <a:ext cx="19381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2000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MAPA DO PROBLEMA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951366" y="5547304"/>
            <a:ext cx="1262191" cy="1084695"/>
            <a:chOff x="0" y="0"/>
            <a:chExt cx="812800" cy="698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36826" y="7195916"/>
            <a:ext cx="1262191" cy="1084695"/>
            <a:chOff x="0" y="0"/>
            <a:chExt cx="812800" cy="698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2871" y="5665870"/>
            <a:ext cx="2904641" cy="2496176"/>
            <a:chOff x="0" y="0"/>
            <a:chExt cx="812800" cy="698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16755" t="0" r="-16755" b="0"/>
              </a:stretch>
            </a:blipFill>
          </p:spPr>
        </p:sp>
      </p:grpSp>
      <p:sp>
        <p:nvSpPr>
          <p:cNvPr name="AutoShape 43" id="43"/>
          <p:cNvSpPr/>
          <p:nvPr/>
        </p:nvSpPr>
        <p:spPr>
          <a:xfrm>
            <a:off x="14888873" y="7343057"/>
            <a:ext cx="372637" cy="0"/>
          </a:xfrm>
          <a:prstGeom prst="line">
            <a:avLst/>
          </a:prstGeom>
          <a:ln cap="flat" w="19050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4115622" y="6500591"/>
            <a:ext cx="193818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2000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VISÃO DE NEGÓCIO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4625984" y="4574599"/>
            <a:ext cx="1583222" cy="109127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2330331" y="4404757"/>
            <a:ext cx="1606496" cy="1142547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9330319" y="6391433"/>
            <a:ext cx="0" cy="814009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 flipH="false" flipV="false" rot="-5400000">
            <a:off x="14450207" y="6361715"/>
            <a:ext cx="3837793" cy="3837793"/>
          </a:xfrm>
          <a:custGeom>
            <a:avLst/>
            <a:gdLst/>
            <a:ahLst/>
            <a:cxnLst/>
            <a:rect r="r" b="b" t="t" l="l"/>
            <a:pathLst>
              <a:path h="3837793" w="3837793">
                <a:moveTo>
                  <a:pt x="0" y="0"/>
                </a:moveTo>
                <a:lnTo>
                  <a:pt x="3837793" y="0"/>
                </a:lnTo>
                <a:lnTo>
                  <a:pt x="3837793" y="3837793"/>
                </a:lnTo>
                <a:lnTo>
                  <a:pt x="0" y="3837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71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7808" y="29323"/>
            <a:ext cx="3463686" cy="3387690"/>
            <a:chOff x="0" y="0"/>
            <a:chExt cx="1973623" cy="19303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12895" y="1672596"/>
            <a:ext cx="999346" cy="1730469"/>
          </a:xfrm>
          <a:custGeom>
            <a:avLst/>
            <a:gdLst/>
            <a:ahLst/>
            <a:cxnLst/>
            <a:rect r="r" b="b" t="t" l="l"/>
            <a:pathLst>
              <a:path h="1730469" w="999346">
                <a:moveTo>
                  <a:pt x="0" y="0"/>
                </a:moveTo>
                <a:lnTo>
                  <a:pt x="999346" y="0"/>
                </a:lnTo>
                <a:lnTo>
                  <a:pt x="999346" y="1730469"/>
                </a:lnTo>
                <a:lnTo>
                  <a:pt x="0" y="17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9325" y="394315"/>
            <a:ext cx="2208904" cy="1678767"/>
          </a:xfrm>
          <a:custGeom>
            <a:avLst/>
            <a:gdLst/>
            <a:ahLst/>
            <a:cxnLst/>
            <a:rect r="r" b="b" t="t" l="l"/>
            <a:pathLst>
              <a:path h="1678767" w="2208904">
                <a:moveTo>
                  <a:pt x="0" y="0"/>
                </a:moveTo>
                <a:lnTo>
                  <a:pt x="2208905" y="0"/>
                </a:lnTo>
                <a:lnTo>
                  <a:pt x="2208905" y="1678768"/>
                </a:lnTo>
                <a:lnTo>
                  <a:pt x="0" y="167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02085" y="29323"/>
            <a:ext cx="3463686" cy="3387690"/>
            <a:chOff x="0" y="0"/>
            <a:chExt cx="1973623" cy="1930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19349" y="29323"/>
            <a:ext cx="3463686" cy="3387690"/>
            <a:chOff x="0" y="0"/>
            <a:chExt cx="1973623" cy="1930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420934" y="1826291"/>
            <a:ext cx="1074265" cy="1554090"/>
          </a:xfrm>
          <a:custGeom>
            <a:avLst/>
            <a:gdLst/>
            <a:ahLst/>
            <a:cxnLst/>
            <a:rect r="r" b="b" t="t" l="l"/>
            <a:pathLst>
              <a:path h="1554090" w="1074265">
                <a:moveTo>
                  <a:pt x="0" y="0"/>
                </a:moveTo>
                <a:lnTo>
                  <a:pt x="1074265" y="0"/>
                </a:lnTo>
                <a:lnTo>
                  <a:pt x="1074265" y="1554090"/>
                </a:lnTo>
                <a:lnTo>
                  <a:pt x="0" y="15540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10351" y="149028"/>
            <a:ext cx="2189614" cy="1991636"/>
          </a:xfrm>
          <a:custGeom>
            <a:avLst/>
            <a:gdLst/>
            <a:ahLst/>
            <a:cxnLst/>
            <a:rect r="r" b="b" t="t" l="l"/>
            <a:pathLst>
              <a:path h="1991636" w="2189614">
                <a:moveTo>
                  <a:pt x="0" y="0"/>
                </a:moveTo>
                <a:lnTo>
                  <a:pt x="2189613" y="0"/>
                </a:lnTo>
                <a:lnTo>
                  <a:pt x="2189613" y="1991636"/>
                </a:lnTo>
                <a:lnTo>
                  <a:pt x="0" y="199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284821" y="29323"/>
            <a:ext cx="3463686" cy="3387690"/>
            <a:chOff x="0" y="0"/>
            <a:chExt cx="1973623" cy="19303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7808" y="3426539"/>
            <a:ext cx="3463686" cy="3387690"/>
            <a:chOff x="0" y="0"/>
            <a:chExt cx="1973623" cy="19303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67557" y="29323"/>
            <a:ext cx="3463686" cy="3387690"/>
            <a:chOff x="0" y="0"/>
            <a:chExt cx="1973623" cy="19303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16393" y="209580"/>
            <a:ext cx="2762339" cy="1396273"/>
          </a:xfrm>
          <a:custGeom>
            <a:avLst/>
            <a:gdLst/>
            <a:ahLst/>
            <a:cxnLst/>
            <a:rect r="r" b="b" t="t" l="l"/>
            <a:pathLst>
              <a:path h="1396273" w="2762339">
                <a:moveTo>
                  <a:pt x="0" y="0"/>
                </a:moveTo>
                <a:lnTo>
                  <a:pt x="2762339" y="0"/>
                </a:lnTo>
                <a:lnTo>
                  <a:pt x="2762339" y="1396273"/>
                </a:lnTo>
                <a:lnTo>
                  <a:pt x="0" y="13962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465511" y="1447495"/>
            <a:ext cx="2022259" cy="1913563"/>
          </a:xfrm>
          <a:custGeom>
            <a:avLst/>
            <a:gdLst/>
            <a:ahLst/>
            <a:cxnLst/>
            <a:rect r="r" b="b" t="t" l="l"/>
            <a:pathLst>
              <a:path h="1913563" w="2022259">
                <a:moveTo>
                  <a:pt x="0" y="0"/>
                </a:moveTo>
                <a:lnTo>
                  <a:pt x="2022259" y="0"/>
                </a:lnTo>
                <a:lnTo>
                  <a:pt x="2022259" y="1913563"/>
                </a:lnTo>
                <a:lnTo>
                  <a:pt x="0" y="1913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480029" y="1369688"/>
            <a:ext cx="398703" cy="398703"/>
          </a:xfrm>
          <a:custGeom>
            <a:avLst/>
            <a:gdLst/>
            <a:ahLst/>
            <a:cxnLst/>
            <a:rect r="r" b="b" t="t" l="l"/>
            <a:pathLst>
              <a:path h="398703" w="398703">
                <a:moveTo>
                  <a:pt x="0" y="0"/>
                </a:moveTo>
                <a:lnTo>
                  <a:pt x="398703" y="0"/>
                </a:lnTo>
                <a:lnTo>
                  <a:pt x="398703" y="398703"/>
                </a:lnTo>
                <a:lnTo>
                  <a:pt x="0" y="398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1337886" y="545982"/>
            <a:ext cx="1931784" cy="92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5"/>
              </a:lnSpc>
              <a:spcBef>
                <a:spcPct val="0"/>
              </a:spcBef>
            </a:pPr>
            <a:r>
              <a:rPr lang="en-US" sz="1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Preciso decidir onde investir milhões em um novo empreendimento imobiliario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32219" y="214581"/>
            <a:ext cx="1920143" cy="144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"/>
              </a:lnSpc>
              <a:spcBef>
                <a:spcPct val="0"/>
              </a:spcBef>
            </a:pPr>
            <a:r>
              <a:rPr lang="en-US" sz="13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Já sei! Vou cruzar dados de segurança pública com indicadores de desenvolvimento humano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75082" y="357452"/>
            <a:ext cx="2291241" cy="66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6"/>
              </a:lnSpc>
              <a:spcBef>
                <a:spcPct val="0"/>
              </a:spcBef>
            </a:pPr>
            <a:r>
              <a:rPr lang="en-US" sz="12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Porém esses dados estão espalhados e não tenho tempo para análises manuais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354546" y="1870950"/>
            <a:ext cx="1325308" cy="1462409"/>
          </a:xfrm>
          <a:custGeom>
            <a:avLst/>
            <a:gdLst/>
            <a:ahLst/>
            <a:cxnLst/>
            <a:rect r="r" b="b" t="t" l="l"/>
            <a:pathLst>
              <a:path h="1462409" w="1325308">
                <a:moveTo>
                  <a:pt x="0" y="0"/>
                </a:moveTo>
                <a:lnTo>
                  <a:pt x="1325307" y="0"/>
                </a:lnTo>
                <a:lnTo>
                  <a:pt x="1325307" y="1462408"/>
                </a:lnTo>
                <a:lnTo>
                  <a:pt x="0" y="14624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353474" y="906658"/>
            <a:ext cx="1949374" cy="1438992"/>
          </a:xfrm>
          <a:custGeom>
            <a:avLst/>
            <a:gdLst/>
            <a:ahLst/>
            <a:cxnLst/>
            <a:rect r="r" b="b" t="t" l="l"/>
            <a:pathLst>
              <a:path h="1438992" w="1949374">
                <a:moveTo>
                  <a:pt x="0" y="0"/>
                </a:moveTo>
                <a:lnTo>
                  <a:pt x="1949374" y="0"/>
                </a:lnTo>
                <a:lnTo>
                  <a:pt x="1949374" y="1438992"/>
                </a:lnTo>
                <a:lnTo>
                  <a:pt x="0" y="14389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510586" y="1137150"/>
            <a:ext cx="1635150" cy="853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6"/>
              </a:lnSpc>
              <a:spcBef>
                <a:spcPct val="0"/>
              </a:spcBef>
            </a:pPr>
            <a:r>
              <a:rPr lang="en-US" sz="12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Ah se existise um software que fizesse isso de forma confiável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907447" y="1460791"/>
            <a:ext cx="2199114" cy="1861916"/>
          </a:xfrm>
          <a:custGeom>
            <a:avLst/>
            <a:gdLst/>
            <a:ahLst/>
            <a:cxnLst/>
            <a:rect r="r" b="b" t="t" l="l"/>
            <a:pathLst>
              <a:path h="1861916" w="2199114">
                <a:moveTo>
                  <a:pt x="0" y="0"/>
                </a:moveTo>
                <a:lnTo>
                  <a:pt x="2199114" y="0"/>
                </a:lnTo>
                <a:lnTo>
                  <a:pt x="2199114" y="1861916"/>
                </a:lnTo>
                <a:lnTo>
                  <a:pt x="0" y="18619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441951" y="962943"/>
            <a:ext cx="1682003" cy="1006144"/>
          </a:xfrm>
          <a:custGeom>
            <a:avLst/>
            <a:gdLst/>
            <a:ahLst/>
            <a:cxnLst/>
            <a:rect r="r" b="b" t="t" l="l"/>
            <a:pathLst>
              <a:path h="1006144" w="1682003">
                <a:moveTo>
                  <a:pt x="0" y="0"/>
                </a:moveTo>
                <a:lnTo>
                  <a:pt x="1682003" y="0"/>
                </a:lnTo>
                <a:lnTo>
                  <a:pt x="1682003" y="1006143"/>
                </a:lnTo>
                <a:lnTo>
                  <a:pt x="0" y="10061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622268" y="1087855"/>
            <a:ext cx="1321369" cy="71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sz="13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Vou tentar procurar né, vai que...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602482" y="3583658"/>
            <a:ext cx="1934338" cy="1470097"/>
          </a:xfrm>
          <a:custGeom>
            <a:avLst/>
            <a:gdLst/>
            <a:ahLst/>
            <a:cxnLst/>
            <a:rect r="r" b="b" t="t" l="l"/>
            <a:pathLst>
              <a:path h="1470097" w="1934338">
                <a:moveTo>
                  <a:pt x="0" y="0"/>
                </a:moveTo>
                <a:lnTo>
                  <a:pt x="1934337" y="0"/>
                </a:lnTo>
                <a:lnTo>
                  <a:pt x="1934337" y="1470097"/>
                </a:lnTo>
                <a:lnTo>
                  <a:pt x="0" y="1470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752105" y="3962518"/>
            <a:ext cx="1459671" cy="23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  <a:spcBef>
                <a:spcPct val="0"/>
              </a:spcBef>
            </a:pPr>
            <a:r>
              <a:rPr lang="en-US" sz="12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Encontrei!!!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931141" y="4985612"/>
            <a:ext cx="1375613" cy="1757972"/>
          </a:xfrm>
          <a:custGeom>
            <a:avLst/>
            <a:gdLst/>
            <a:ahLst/>
            <a:cxnLst/>
            <a:rect r="r" b="b" t="t" l="l"/>
            <a:pathLst>
              <a:path h="1757972" w="1375613">
                <a:moveTo>
                  <a:pt x="0" y="0"/>
                </a:moveTo>
                <a:lnTo>
                  <a:pt x="1375613" y="0"/>
                </a:lnTo>
                <a:lnTo>
                  <a:pt x="1375613" y="1757972"/>
                </a:lnTo>
                <a:lnTo>
                  <a:pt x="0" y="17579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319349" y="3426539"/>
            <a:ext cx="3463686" cy="3387690"/>
            <a:chOff x="0" y="0"/>
            <a:chExt cx="1973623" cy="19303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5296959" y="4885821"/>
            <a:ext cx="1512528" cy="1857763"/>
          </a:xfrm>
          <a:custGeom>
            <a:avLst/>
            <a:gdLst/>
            <a:ahLst/>
            <a:cxnLst/>
            <a:rect r="r" b="b" t="t" l="l"/>
            <a:pathLst>
              <a:path h="1857763" w="1512528">
                <a:moveTo>
                  <a:pt x="0" y="0"/>
                </a:moveTo>
                <a:lnTo>
                  <a:pt x="1512528" y="0"/>
                </a:lnTo>
                <a:lnTo>
                  <a:pt x="1512528" y="1857763"/>
                </a:lnTo>
                <a:lnTo>
                  <a:pt x="0" y="18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838859" y="3598358"/>
            <a:ext cx="2523616" cy="1486639"/>
          </a:xfrm>
          <a:custGeom>
            <a:avLst/>
            <a:gdLst/>
            <a:ahLst/>
            <a:cxnLst/>
            <a:rect r="r" b="b" t="t" l="l"/>
            <a:pathLst>
              <a:path h="1486639" w="2523616">
                <a:moveTo>
                  <a:pt x="0" y="0"/>
                </a:moveTo>
                <a:lnTo>
                  <a:pt x="2523616" y="0"/>
                </a:lnTo>
                <a:lnTo>
                  <a:pt x="2523616" y="1486639"/>
                </a:lnTo>
                <a:lnTo>
                  <a:pt x="0" y="14866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5219443" y="3723382"/>
            <a:ext cx="1717533" cy="79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  <a:spcBef>
                <a:spcPct val="0"/>
              </a:spcBef>
            </a:pPr>
            <a:r>
              <a:rPr lang="en-US" sz="15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 uma tal de Safety Intelligence, deixa eu verificar...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802085" y="3426539"/>
            <a:ext cx="3463686" cy="3387690"/>
            <a:chOff x="0" y="0"/>
            <a:chExt cx="1973623" cy="19303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8261652" y="3547771"/>
            <a:ext cx="2471823" cy="1456128"/>
          </a:xfrm>
          <a:custGeom>
            <a:avLst/>
            <a:gdLst/>
            <a:ahLst/>
            <a:cxnLst/>
            <a:rect r="r" b="b" t="t" l="l"/>
            <a:pathLst>
              <a:path h="1456128" w="2471823">
                <a:moveTo>
                  <a:pt x="0" y="0"/>
                </a:moveTo>
                <a:lnTo>
                  <a:pt x="2471822" y="0"/>
                </a:lnTo>
                <a:lnTo>
                  <a:pt x="2471822" y="1456128"/>
                </a:lnTo>
                <a:lnTo>
                  <a:pt x="0" y="145612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8450388" y="3895873"/>
            <a:ext cx="2094350" cy="49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Uau! Tem tudo que preciso!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415512" y="4828316"/>
            <a:ext cx="1972023" cy="1901359"/>
          </a:xfrm>
          <a:custGeom>
            <a:avLst/>
            <a:gdLst/>
            <a:ahLst/>
            <a:cxnLst/>
            <a:rect r="r" b="b" t="t" l="l"/>
            <a:pathLst>
              <a:path h="1901359" w="1972023">
                <a:moveTo>
                  <a:pt x="0" y="0"/>
                </a:moveTo>
                <a:lnTo>
                  <a:pt x="1972024" y="0"/>
                </a:lnTo>
                <a:lnTo>
                  <a:pt x="1972024" y="1901360"/>
                </a:lnTo>
                <a:lnTo>
                  <a:pt x="0" y="190136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1284821" y="3426539"/>
            <a:ext cx="3463686" cy="3387690"/>
            <a:chOff x="0" y="0"/>
            <a:chExt cx="1973623" cy="193032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2023744" y="4722557"/>
            <a:ext cx="2240360" cy="2049930"/>
          </a:xfrm>
          <a:custGeom>
            <a:avLst/>
            <a:gdLst/>
            <a:ahLst/>
            <a:cxnLst/>
            <a:rect r="r" b="b" t="t" l="l"/>
            <a:pathLst>
              <a:path h="2049930" w="2240360">
                <a:moveTo>
                  <a:pt x="0" y="0"/>
                </a:moveTo>
                <a:lnTo>
                  <a:pt x="2240360" y="0"/>
                </a:lnTo>
                <a:lnTo>
                  <a:pt x="2240360" y="2049929"/>
                </a:lnTo>
                <a:lnTo>
                  <a:pt x="0" y="204992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1639210" y="3485156"/>
            <a:ext cx="2318517" cy="1718601"/>
          </a:xfrm>
          <a:custGeom>
            <a:avLst/>
            <a:gdLst/>
            <a:ahLst/>
            <a:cxnLst/>
            <a:rect r="r" b="b" t="t" l="l"/>
            <a:pathLst>
              <a:path h="1718601" w="2318517">
                <a:moveTo>
                  <a:pt x="0" y="0"/>
                </a:moveTo>
                <a:lnTo>
                  <a:pt x="2318517" y="0"/>
                </a:lnTo>
                <a:lnTo>
                  <a:pt x="2318517" y="1718601"/>
                </a:lnTo>
                <a:lnTo>
                  <a:pt x="0" y="171860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1869087" y="3704238"/>
            <a:ext cx="1858763" cy="110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4"/>
              </a:lnSpc>
              <a:spcBef>
                <a:spcPct val="0"/>
              </a:spcBef>
            </a:pPr>
            <a:r>
              <a:rPr lang="en-US" sz="12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Relatórios, dados confiáveis, informações centralizadas, dashboards claros e objetivos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767557" y="3426539"/>
            <a:ext cx="3463686" cy="3387690"/>
            <a:chOff x="0" y="0"/>
            <a:chExt cx="1973623" cy="19303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37808" y="6823754"/>
            <a:ext cx="3463686" cy="3387690"/>
            <a:chOff x="0" y="0"/>
            <a:chExt cx="1973623" cy="193032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319349" y="6823754"/>
            <a:ext cx="3463686" cy="3387690"/>
            <a:chOff x="0" y="0"/>
            <a:chExt cx="1973623" cy="193032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802085" y="6823754"/>
            <a:ext cx="3463686" cy="3387690"/>
            <a:chOff x="0" y="0"/>
            <a:chExt cx="1973623" cy="193032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283627" y="6823754"/>
            <a:ext cx="3463686" cy="3387690"/>
            <a:chOff x="0" y="0"/>
            <a:chExt cx="1973623" cy="193032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73623" cy="1930321"/>
            </a:xfrm>
            <a:custGeom>
              <a:avLst/>
              <a:gdLst/>
              <a:ahLst/>
              <a:cxnLst/>
              <a:rect r="r" b="b" t="t" l="l"/>
              <a:pathLst>
                <a:path h="1930321" w="1973623">
                  <a:moveTo>
                    <a:pt x="0" y="0"/>
                  </a:moveTo>
                  <a:lnTo>
                    <a:pt x="1973623" y="0"/>
                  </a:lnTo>
                  <a:lnTo>
                    <a:pt x="1973623" y="1930321"/>
                  </a:lnTo>
                  <a:lnTo>
                    <a:pt x="0" y="193032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973623" cy="196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5022076" y="3583658"/>
            <a:ext cx="2114435" cy="1923255"/>
          </a:xfrm>
          <a:custGeom>
            <a:avLst/>
            <a:gdLst/>
            <a:ahLst/>
            <a:cxnLst/>
            <a:rect r="r" b="b" t="t" l="l"/>
            <a:pathLst>
              <a:path h="1923255" w="2114435">
                <a:moveTo>
                  <a:pt x="0" y="0"/>
                </a:moveTo>
                <a:lnTo>
                  <a:pt x="2114436" y="0"/>
                </a:lnTo>
                <a:lnTo>
                  <a:pt x="2114436" y="1923255"/>
                </a:lnTo>
                <a:lnTo>
                  <a:pt x="0" y="1923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5605917" y="5506913"/>
            <a:ext cx="2162587" cy="1222763"/>
          </a:xfrm>
          <a:custGeom>
            <a:avLst/>
            <a:gdLst/>
            <a:ahLst/>
            <a:cxnLst/>
            <a:rect r="r" b="b" t="t" l="l"/>
            <a:pathLst>
              <a:path h="1222763" w="2162587">
                <a:moveTo>
                  <a:pt x="0" y="0"/>
                </a:moveTo>
                <a:lnTo>
                  <a:pt x="2162587" y="0"/>
                </a:lnTo>
                <a:lnTo>
                  <a:pt x="2162587" y="1222763"/>
                </a:lnTo>
                <a:lnTo>
                  <a:pt x="0" y="122276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5762895" y="5603993"/>
            <a:ext cx="293909" cy="287057"/>
          </a:xfrm>
          <a:custGeom>
            <a:avLst/>
            <a:gdLst/>
            <a:ahLst/>
            <a:cxnLst/>
            <a:rect r="r" b="b" t="t" l="l"/>
            <a:pathLst>
              <a:path h="287057" w="293909">
                <a:moveTo>
                  <a:pt x="0" y="0"/>
                </a:moveTo>
                <a:lnTo>
                  <a:pt x="293909" y="0"/>
                </a:lnTo>
                <a:lnTo>
                  <a:pt x="293909" y="287057"/>
                </a:lnTo>
                <a:lnTo>
                  <a:pt x="0" y="2870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10154" t="-73136" r="-135933" b="-78825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6035478" y="5947897"/>
            <a:ext cx="620333" cy="276367"/>
          </a:xfrm>
          <a:custGeom>
            <a:avLst/>
            <a:gdLst/>
            <a:ahLst/>
            <a:cxnLst/>
            <a:rect r="r" b="b" t="t" l="l"/>
            <a:pathLst>
              <a:path h="276367" w="620333">
                <a:moveTo>
                  <a:pt x="0" y="0"/>
                </a:moveTo>
                <a:lnTo>
                  <a:pt x="620333" y="0"/>
                </a:lnTo>
                <a:lnTo>
                  <a:pt x="620333" y="276367"/>
                </a:lnTo>
                <a:lnTo>
                  <a:pt x="0" y="27636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82748" t="-152197" r="-2910" b="-16453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15303875" y="3686831"/>
            <a:ext cx="1558030" cy="132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"/>
              </a:lnSpc>
              <a:spcBef>
                <a:spcPct val="0"/>
              </a:spcBef>
            </a:pPr>
            <a:r>
              <a:rPr lang="en-US" sz="12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Eba! Agora tenho embasamento para apresentar um novo lugar para à diretoria empreender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1179837" y="8144969"/>
            <a:ext cx="2558487" cy="1963643"/>
          </a:xfrm>
          <a:custGeom>
            <a:avLst/>
            <a:gdLst/>
            <a:ahLst/>
            <a:cxnLst/>
            <a:rect r="r" b="b" t="t" l="l"/>
            <a:pathLst>
              <a:path h="1963643" w="2558487">
                <a:moveTo>
                  <a:pt x="0" y="0"/>
                </a:moveTo>
                <a:lnTo>
                  <a:pt x="2558487" y="0"/>
                </a:lnTo>
                <a:lnTo>
                  <a:pt x="2558487" y="1963643"/>
                </a:lnTo>
                <a:lnTo>
                  <a:pt x="0" y="1963643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-162" r="0" b="-162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304523" y="7196275"/>
            <a:ext cx="2220438" cy="1308040"/>
          </a:xfrm>
          <a:custGeom>
            <a:avLst/>
            <a:gdLst/>
            <a:ahLst/>
            <a:cxnLst/>
            <a:rect r="r" b="b" t="t" l="l"/>
            <a:pathLst>
              <a:path h="1308040" w="2220438">
                <a:moveTo>
                  <a:pt x="0" y="0"/>
                </a:moveTo>
                <a:lnTo>
                  <a:pt x="2220438" y="0"/>
                </a:lnTo>
                <a:lnTo>
                  <a:pt x="2220438" y="1308040"/>
                </a:lnTo>
                <a:lnTo>
                  <a:pt x="0" y="130804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7859235" y="8498898"/>
            <a:ext cx="2904332" cy="1628846"/>
          </a:xfrm>
          <a:custGeom>
            <a:avLst/>
            <a:gdLst/>
            <a:ahLst/>
            <a:cxnLst/>
            <a:rect r="r" b="b" t="t" l="l"/>
            <a:pathLst>
              <a:path h="1628846" w="2904332">
                <a:moveTo>
                  <a:pt x="0" y="0"/>
                </a:moveTo>
                <a:lnTo>
                  <a:pt x="2904332" y="0"/>
                </a:lnTo>
                <a:lnTo>
                  <a:pt x="2904332" y="1628847"/>
                </a:lnTo>
                <a:lnTo>
                  <a:pt x="0" y="162884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5164987" y="8026186"/>
            <a:ext cx="1946569" cy="2101559"/>
          </a:xfrm>
          <a:custGeom>
            <a:avLst/>
            <a:gdLst/>
            <a:ahLst/>
            <a:cxnLst/>
            <a:rect r="r" b="b" t="t" l="l"/>
            <a:pathLst>
              <a:path h="2101559" w="1946569">
                <a:moveTo>
                  <a:pt x="0" y="0"/>
                </a:moveTo>
                <a:lnTo>
                  <a:pt x="1946569" y="0"/>
                </a:lnTo>
                <a:lnTo>
                  <a:pt x="1946569" y="2101559"/>
                </a:lnTo>
                <a:lnTo>
                  <a:pt x="0" y="210155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4990829" y="6995204"/>
            <a:ext cx="2083006" cy="871075"/>
          </a:xfrm>
          <a:custGeom>
            <a:avLst/>
            <a:gdLst/>
            <a:ahLst/>
            <a:cxnLst/>
            <a:rect r="r" b="b" t="t" l="l"/>
            <a:pathLst>
              <a:path h="871075" w="2083006">
                <a:moveTo>
                  <a:pt x="0" y="0"/>
                </a:moveTo>
                <a:lnTo>
                  <a:pt x="2083005" y="0"/>
                </a:lnTo>
                <a:lnTo>
                  <a:pt x="2083005" y="871075"/>
                </a:lnTo>
                <a:lnTo>
                  <a:pt x="0" y="87107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206336" y="6924939"/>
            <a:ext cx="2421419" cy="1012593"/>
          </a:xfrm>
          <a:custGeom>
            <a:avLst/>
            <a:gdLst/>
            <a:ahLst/>
            <a:cxnLst/>
            <a:rect r="r" b="b" t="t" l="l"/>
            <a:pathLst>
              <a:path h="1012593" w="2421419">
                <a:moveTo>
                  <a:pt x="0" y="0"/>
                </a:moveTo>
                <a:lnTo>
                  <a:pt x="2421419" y="0"/>
                </a:lnTo>
                <a:lnTo>
                  <a:pt x="2421419" y="1012593"/>
                </a:lnTo>
                <a:lnTo>
                  <a:pt x="0" y="1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288838" y="6977355"/>
            <a:ext cx="2256415" cy="88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7"/>
              </a:lnSpc>
              <a:spcBef>
                <a:spcPct val="0"/>
              </a:spcBef>
            </a:pPr>
            <a:r>
              <a:rPr lang="en-US" sz="12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 dados concretos sobre segurança e perfil da região posso apresentar para diretoria e investidores...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079933" y="7109193"/>
            <a:ext cx="1837993" cy="65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2"/>
              </a:lnSpc>
              <a:spcBef>
                <a:spcPct val="0"/>
              </a:spcBef>
            </a:pPr>
            <a:r>
              <a:rPr lang="en-US" sz="12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...e conseguir fazer uma decisão orientada a indicadores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526642" y="7278873"/>
            <a:ext cx="1776200" cy="80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2"/>
              </a:lnSpc>
              <a:spcBef>
                <a:spcPct val="0"/>
              </a:spcBef>
            </a:pPr>
            <a:r>
              <a:rPr lang="en-US" sz="11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Tudo graças a todo suporte analítico que a plataforma da Safety Intelligence trouxe</a:t>
            </a:r>
          </a:p>
        </p:txBody>
      </p:sp>
      <p:sp>
        <p:nvSpPr>
          <p:cNvPr name="Freeform 86" id="86"/>
          <p:cNvSpPr/>
          <p:nvPr/>
        </p:nvSpPr>
        <p:spPr>
          <a:xfrm flipH="false" flipV="false" rot="0">
            <a:off x="11387816" y="8297109"/>
            <a:ext cx="2573829" cy="1830636"/>
          </a:xfrm>
          <a:custGeom>
            <a:avLst/>
            <a:gdLst/>
            <a:ahLst/>
            <a:cxnLst/>
            <a:rect r="r" b="b" t="t" l="l"/>
            <a:pathLst>
              <a:path h="1830636" w="2573829">
                <a:moveTo>
                  <a:pt x="0" y="0"/>
                </a:moveTo>
                <a:lnTo>
                  <a:pt x="2573830" y="0"/>
                </a:lnTo>
                <a:lnTo>
                  <a:pt x="2573830" y="1830636"/>
                </a:lnTo>
                <a:lnTo>
                  <a:pt x="0" y="183063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1998560" y="7268558"/>
            <a:ext cx="2646951" cy="1337949"/>
          </a:xfrm>
          <a:custGeom>
            <a:avLst/>
            <a:gdLst/>
            <a:ahLst/>
            <a:cxnLst/>
            <a:rect r="r" b="b" t="t" l="l"/>
            <a:pathLst>
              <a:path h="1337949" w="2646951">
                <a:moveTo>
                  <a:pt x="0" y="0"/>
                </a:moveTo>
                <a:lnTo>
                  <a:pt x="2646951" y="0"/>
                </a:lnTo>
                <a:lnTo>
                  <a:pt x="2646951" y="1337949"/>
                </a:lnTo>
                <a:lnTo>
                  <a:pt x="0" y="13379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11995221" y="7434774"/>
            <a:ext cx="2650291" cy="59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  <a:spcBef>
                <a:spcPct val="0"/>
              </a:spcBef>
            </a:pPr>
            <a:r>
              <a:rPr lang="en-US" sz="17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OBRIGADO SAFETY INTELLIGENCE!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4907447" y="6848208"/>
            <a:ext cx="1446670" cy="75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2"/>
              </a:lnSpc>
              <a:spcBef>
                <a:spcPct val="0"/>
              </a:spcBef>
            </a:pPr>
            <a:r>
              <a:rPr lang="en-US" b="true" sz="4401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Fim.</a:t>
            </a:r>
          </a:p>
        </p:txBody>
      </p:sp>
      <p:sp>
        <p:nvSpPr>
          <p:cNvPr name="Freeform 90" id="90"/>
          <p:cNvSpPr/>
          <p:nvPr/>
        </p:nvSpPr>
        <p:spPr>
          <a:xfrm flipH="false" flipV="false" rot="0">
            <a:off x="15303875" y="7435281"/>
            <a:ext cx="2852317" cy="2758429"/>
          </a:xfrm>
          <a:custGeom>
            <a:avLst/>
            <a:gdLst/>
            <a:ahLst/>
            <a:cxnLst/>
            <a:rect r="r" b="b" t="t" l="l"/>
            <a:pathLst>
              <a:path h="2758429" w="2852317">
                <a:moveTo>
                  <a:pt x="0" y="0"/>
                </a:moveTo>
                <a:lnTo>
                  <a:pt x="2852317" y="0"/>
                </a:lnTo>
                <a:lnTo>
                  <a:pt x="2852317" y="2758428"/>
                </a:lnTo>
                <a:lnTo>
                  <a:pt x="0" y="2758428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91" id="91"/>
          <p:cNvSpPr txBox="true"/>
          <p:nvPr/>
        </p:nvSpPr>
        <p:spPr>
          <a:xfrm rot="0">
            <a:off x="168166" y="210298"/>
            <a:ext cx="479141" cy="513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5000">
                <a:solidFill>
                  <a:srgbClr val="FFFFFF"/>
                </a:solidFill>
                <a:latin typeface="Didot LP"/>
                <a:ea typeface="Didot LP"/>
                <a:cs typeface="Didot LP"/>
                <a:sym typeface="Didot LP"/>
              </a:rPr>
              <a:t>STORYBOARD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939910" y="2828533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456511" y="2866031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948772" y="2902664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418546" y="2902664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7906661" y="2888715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958597" y="6290354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433099" y="6320534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40204" y="6309404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409021" y="6290354"/>
            <a:ext cx="2884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7609541" y="6267661"/>
            <a:ext cx="57601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738324" y="9651495"/>
            <a:ext cx="49000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7111556" y="9687570"/>
            <a:ext cx="6099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723949" y="9641970"/>
            <a:ext cx="4717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114046" y="9660309"/>
            <a:ext cx="5505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5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778" y="6366843"/>
            <a:ext cx="16313883" cy="3602556"/>
            <a:chOff x="0" y="0"/>
            <a:chExt cx="609844" cy="134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844" cy="134670"/>
            </a:xfrm>
            <a:custGeom>
              <a:avLst/>
              <a:gdLst/>
              <a:ahLst/>
              <a:cxnLst/>
              <a:rect r="r" b="b" t="t" l="l"/>
              <a:pathLst>
                <a:path h="134670" w="609844">
                  <a:moveTo>
                    <a:pt x="0" y="0"/>
                  </a:moveTo>
                  <a:lnTo>
                    <a:pt x="609844" y="0"/>
                  </a:lnTo>
                  <a:lnTo>
                    <a:pt x="609844" y="134670"/>
                  </a:lnTo>
                  <a:lnTo>
                    <a:pt x="0" y="134670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9844" cy="17277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5303" y="6042699"/>
            <a:ext cx="4407147" cy="648287"/>
            <a:chOff x="0" y="0"/>
            <a:chExt cx="164748" cy="24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48" cy="24234"/>
            </a:xfrm>
            <a:custGeom>
              <a:avLst/>
              <a:gdLst/>
              <a:ahLst/>
              <a:cxnLst/>
              <a:rect r="r" b="b" t="t" l="l"/>
              <a:pathLst>
                <a:path h="24234" w="164748">
                  <a:moveTo>
                    <a:pt x="0" y="0"/>
                  </a:moveTo>
                  <a:lnTo>
                    <a:pt x="164748" y="0"/>
                  </a:lnTo>
                  <a:lnTo>
                    <a:pt x="164748" y="24234"/>
                  </a:lnTo>
                  <a:lnTo>
                    <a:pt x="0" y="24234"/>
                  </a:lnTo>
                  <a:close/>
                </a:path>
              </a:pathLst>
            </a:custGeom>
            <a:gradFill rotWithShape="true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74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05196" y="2017082"/>
            <a:ext cx="6717084" cy="3793067"/>
            <a:chOff x="0" y="0"/>
            <a:chExt cx="251097" cy="1417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97" cy="141792"/>
            </a:xfrm>
            <a:custGeom>
              <a:avLst/>
              <a:gdLst/>
              <a:ahLst/>
              <a:cxnLst/>
              <a:rect r="r" b="b" t="t" l="l"/>
              <a:pathLst>
                <a:path h="141792" w="251097">
                  <a:moveTo>
                    <a:pt x="0" y="0"/>
                  </a:moveTo>
                  <a:lnTo>
                    <a:pt x="251097" y="0"/>
                  </a:lnTo>
                  <a:lnTo>
                    <a:pt x="251097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1097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8757" y="1692939"/>
            <a:ext cx="1982210" cy="648287"/>
            <a:chOff x="0" y="0"/>
            <a:chExt cx="74099" cy="24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gradFill rotWithShape="true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42216" y="2017082"/>
            <a:ext cx="7138445" cy="3793067"/>
            <a:chOff x="0" y="0"/>
            <a:chExt cx="266849" cy="14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849" cy="141792"/>
            </a:xfrm>
            <a:custGeom>
              <a:avLst/>
              <a:gdLst/>
              <a:ahLst/>
              <a:cxnLst/>
              <a:rect r="r" b="b" t="t" l="l"/>
              <a:pathLst>
                <a:path h="141792" w="266849">
                  <a:moveTo>
                    <a:pt x="0" y="0"/>
                  </a:moveTo>
                  <a:lnTo>
                    <a:pt x="266849" y="0"/>
                  </a:lnTo>
                  <a:lnTo>
                    <a:pt x="266849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849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05776" y="1692939"/>
            <a:ext cx="1982210" cy="648287"/>
            <a:chOff x="0" y="0"/>
            <a:chExt cx="74099" cy="24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gradFill rotWithShape="true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772152" y="502314"/>
            <a:ext cx="933928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PROTO-PERSONA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2659" y="6226819"/>
            <a:ext cx="4399791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Dores / Necessidades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0553" y="2547109"/>
            <a:ext cx="6166372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Nome: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Carlos Alberto</a:t>
            </a: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Cargo: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Analista de Mercado Imobiliário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Frase: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"Preciso decidir onde investir milhões, mas os dados estão espalhados e não consigo cruzar segurança e perfil socioeconômico de forma confiável."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6113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13132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13132" y="2556634"/>
            <a:ext cx="6477812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Orientado a resultados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Analítico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Pressionado por metas e ROI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Toma decisões com base em relatórios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Valoriza dados confiáveis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Tem pouco tempo para análises manuais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Precisa justificar decisões para diretoria/investidores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303" y="7052936"/>
            <a:ext cx="15795697" cy="240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Dificuldade em cruzar dados de segurança pública com indicadores socioeconômicos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Informações descentralizadas (dados em PDFs, planilhas, portais diferentes)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Risco alto ao investir em regiões com tendência de aumento da criminalidade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Processo decisório lento e dependente de múltiplas fontes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Necessidade de embasamento técnico para apresentar à diretoria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Quer reduzir riscos e aumentar previsibilidade do retorno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02899" y="830926"/>
            <a:ext cx="2221272" cy="4979223"/>
          </a:xfrm>
          <a:custGeom>
            <a:avLst/>
            <a:gdLst/>
            <a:ahLst/>
            <a:cxnLst/>
            <a:rect r="r" b="b" t="t" l="l"/>
            <a:pathLst>
              <a:path h="4979223" w="2221272">
                <a:moveTo>
                  <a:pt x="0" y="0"/>
                </a:moveTo>
                <a:lnTo>
                  <a:pt x="2221272" y="0"/>
                </a:lnTo>
                <a:lnTo>
                  <a:pt x="2221272" y="4979224"/>
                </a:lnTo>
                <a:lnTo>
                  <a:pt x="0" y="4979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1184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5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778" y="6366843"/>
            <a:ext cx="16313883" cy="3602556"/>
            <a:chOff x="0" y="0"/>
            <a:chExt cx="609844" cy="134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844" cy="134670"/>
            </a:xfrm>
            <a:custGeom>
              <a:avLst/>
              <a:gdLst/>
              <a:ahLst/>
              <a:cxnLst/>
              <a:rect r="r" b="b" t="t" l="l"/>
              <a:pathLst>
                <a:path h="134670" w="609844">
                  <a:moveTo>
                    <a:pt x="0" y="0"/>
                  </a:moveTo>
                  <a:lnTo>
                    <a:pt x="609844" y="0"/>
                  </a:lnTo>
                  <a:lnTo>
                    <a:pt x="609844" y="134670"/>
                  </a:lnTo>
                  <a:lnTo>
                    <a:pt x="0" y="134670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9844" cy="17277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5303" y="6042699"/>
            <a:ext cx="4407147" cy="648287"/>
            <a:chOff x="0" y="0"/>
            <a:chExt cx="164748" cy="24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48" cy="24234"/>
            </a:xfrm>
            <a:custGeom>
              <a:avLst/>
              <a:gdLst/>
              <a:ahLst/>
              <a:cxnLst/>
              <a:rect r="r" b="b" t="t" l="l"/>
              <a:pathLst>
                <a:path h="24234" w="164748">
                  <a:moveTo>
                    <a:pt x="0" y="0"/>
                  </a:moveTo>
                  <a:lnTo>
                    <a:pt x="164748" y="0"/>
                  </a:lnTo>
                  <a:lnTo>
                    <a:pt x="164748" y="24234"/>
                  </a:lnTo>
                  <a:lnTo>
                    <a:pt x="0" y="24234"/>
                  </a:lnTo>
                  <a:close/>
                </a:path>
              </a:pathLst>
            </a:custGeom>
            <a:gradFill rotWithShape="true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74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05196" y="2017082"/>
            <a:ext cx="6717084" cy="3793067"/>
            <a:chOff x="0" y="0"/>
            <a:chExt cx="251097" cy="1417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97" cy="141792"/>
            </a:xfrm>
            <a:custGeom>
              <a:avLst/>
              <a:gdLst/>
              <a:ahLst/>
              <a:cxnLst/>
              <a:rect r="r" b="b" t="t" l="l"/>
              <a:pathLst>
                <a:path h="141792" w="251097">
                  <a:moveTo>
                    <a:pt x="0" y="0"/>
                  </a:moveTo>
                  <a:lnTo>
                    <a:pt x="251097" y="0"/>
                  </a:lnTo>
                  <a:lnTo>
                    <a:pt x="251097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1097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8757" y="1692939"/>
            <a:ext cx="1982210" cy="648287"/>
            <a:chOff x="0" y="0"/>
            <a:chExt cx="74099" cy="24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gradFill rotWithShape="true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42216" y="2017082"/>
            <a:ext cx="7138445" cy="3793067"/>
            <a:chOff x="0" y="0"/>
            <a:chExt cx="266849" cy="14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849" cy="141792"/>
            </a:xfrm>
            <a:custGeom>
              <a:avLst/>
              <a:gdLst/>
              <a:ahLst/>
              <a:cxnLst/>
              <a:rect r="r" b="b" t="t" l="l"/>
              <a:pathLst>
                <a:path h="141792" w="266849">
                  <a:moveTo>
                    <a:pt x="0" y="0"/>
                  </a:moveTo>
                  <a:lnTo>
                    <a:pt x="266849" y="0"/>
                  </a:lnTo>
                  <a:lnTo>
                    <a:pt x="266849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849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05776" y="1692939"/>
            <a:ext cx="1982210" cy="648287"/>
            <a:chOff x="0" y="0"/>
            <a:chExt cx="74099" cy="24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gradFill rotWithShape="true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772152" y="502314"/>
            <a:ext cx="933928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PROTO-PERSONA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2659" y="6226819"/>
            <a:ext cx="4399791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Dores / Necessidades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0553" y="2547109"/>
            <a:ext cx="616637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Nome: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Teresa Cristina</a:t>
            </a: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Cargo: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Diretora de Investimentos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Frase: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"Não posso aprovar um novo empreendimento baseada só em feeling. Preciso de dados concretos sobre segurança e perfil da região."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6113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13132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13132" y="2556634"/>
            <a:ext cx="6477812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Estratégica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Focada em crescimento sustentável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Toma decisões de alto impacto financeiro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Cobra previsibilidade e mitigação de risco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Trabalha com conselho e investidores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Orientada a indicadores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Valoriza dashboards claros e objetivos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303" y="7052936"/>
            <a:ext cx="15795697" cy="240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Alto risco financeiro ao escolher uma localização inadequada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Falta de integração entre dados de criminalidade e indicadores socioeconômicos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Relatórios complexos e pouco visuais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Pressão para expandir sem comprometer a marca da empresa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Necessidade de justificar decisões com embasamento técnico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Quer reduzir subjetividade nas decisões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00769" y="830926"/>
            <a:ext cx="1947177" cy="4979223"/>
          </a:xfrm>
          <a:custGeom>
            <a:avLst/>
            <a:gdLst/>
            <a:ahLst/>
            <a:cxnLst/>
            <a:rect r="r" b="b" t="t" l="l"/>
            <a:pathLst>
              <a:path h="4979223" w="1947177">
                <a:moveTo>
                  <a:pt x="0" y="0"/>
                </a:moveTo>
                <a:lnTo>
                  <a:pt x="1947177" y="0"/>
                </a:lnTo>
                <a:lnTo>
                  <a:pt x="1947177" y="4979224"/>
                </a:lnTo>
                <a:lnTo>
                  <a:pt x="0" y="4979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504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401" y="6127092"/>
            <a:ext cx="4248802" cy="3648556"/>
            <a:chOff x="0" y="0"/>
            <a:chExt cx="145609" cy="125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609" cy="125039"/>
            </a:xfrm>
            <a:custGeom>
              <a:avLst/>
              <a:gdLst/>
              <a:ahLst/>
              <a:cxnLst/>
              <a:rect r="r" b="b" t="t" l="l"/>
              <a:pathLst>
                <a:path h="125039" w="14560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D2454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31279" y="6127092"/>
            <a:ext cx="4248802" cy="3648556"/>
            <a:chOff x="0" y="0"/>
            <a:chExt cx="145609" cy="1250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609" cy="125039"/>
            </a:xfrm>
            <a:custGeom>
              <a:avLst/>
              <a:gdLst/>
              <a:ahLst/>
              <a:cxnLst/>
              <a:rect r="r" b="b" t="t" l="l"/>
              <a:pathLst>
                <a:path h="125039" w="14560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D2454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44239" y="6127092"/>
            <a:ext cx="4248802" cy="3648556"/>
            <a:chOff x="0" y="0"/>
            <a:chExt cx="145609" cy="1250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609" cy="125039"/>
            </a:xfrm>
            <a:custGeom>
              <a:avLst/>
              <a:gdLst/>
              <a:ahLst/>
              <a:cxnLst/>
              <a:rect r="r" b="b" t="t" l="l"/>
              <a:pathLst>
                <a:path h="125039" w="14560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245F9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57200" y="6127092"/>
            <a:ext cx="4248802" cy="3648556"/>
            <a:chOff x="0" y="0"/>
            <a:chExt cx="145609" cy="1250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609" cy="125039"/>
            </a:xfrm>
            <a:custGeom>
              <a:avLst/>
              <a:gdLst/>
              <a:ahLst/>
              <a:cxnLst/>
              <a:rect r="r" b="b" t="t" l="l"/>
              <a:pathLst>
                <a:path h="125039" w="145609">
                  <a:moveTo>
                    <a:pt x="0" y="0"/>
                  </a:moveTo>
                  <a:lnTo>
                    <a:pt x="145609" y="0"/>
                  </a:lnTo>
                  <a:lnTo>
                    <a:pt x="145609" y="125039"/>
                  </a:lnTo>
                  <a:lnTo>
                    <a:pt x="0" y="125039"/>
                  </a:lnTo>
                  <a:close/>
                </a:path>
              </a:pathLst>
            </a:custGeom>
            <a:solidFill>
              <a:srgbClr val="245F9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5609" cy="16313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74811" y="630238"/>
            <a:ext cx="10538379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2339" y="6960785"/>
            <a:ext cx="4092603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Eu, Teresa Cristina, como Diretora de Investimentos, preciso de dashboards simplificados para acompanhar o potencial das regiões analisadas.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11052" y="6416546"/>
            <a:ext cx="3541098" cy="3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693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#4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35300" y="6960785"/>
            <a:ext cx="4092603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Eu, Teresa Cristina, como Diretora de Investimentos, preciso justificar decisões com base em dados concretos para apresentar ao conselho e investidores.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7253" y="6416546"/>
            <a:ext cx="3541098" cy="3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693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#1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1501" y="6960785"/>
            <a:ext cx="4092603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Eu, Carlos Alberto, como Analista de Mercado Imobiliário, preciso de dados confiáveis para reduzir a incerteza nas decisões estratégicas.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5131" y="6416546"/>
            <a:ext cx="3541098" cy="3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693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#2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09378" y="6960785"/>
            <a:ext cx="4092603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Eu, Carlos Alberto, como Analista de Mercado Imobiliário, preciso analisar diferentes regiões para priorizar investimentos com menor risco e maior retorno.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8092" y="6416546"/>
            <a:ext cx="3541098" cy="3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3"/>
              </a:lnSpc>
            </a:pPr>
            <a:r>
              <a:rPr lang="en-US" b="true" sz="2693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#3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383270" y="2365747"/>
            <a:ext cx="2798516" cy="3761345"/>
          </a:xfrm>
          <a:custGeom>
            <a:avLst/>
            <a:gdLst/>
            <a:ahLst/>
            <a:cxnLst/>
            <a:rect r="r" b="b" t="t" l="l"/>
            <a:pathLst>
              <a:path h="3761345" w="2798516">
                <a:moveTo>
                  <a:pt x="0" y="0"/>
                </a:moveTo>
                <a:lnTo>
                  <a:pt x="2798516" y="0"/>
                </a:lnTo>
                <a:lnTo>
                  <a:pt x="2798516" y="3761345"/>
                </a:lnTo>
                <a:lnTo>
                  <a:pt x="0" y="3761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4347" b="-6940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64853" y="2365747"/>
            <a:ext cx="2333939" cy="3761345"/>
          </a:xfrm>
          <a:custGeom>
            <a:avLst/>
            <a:gdLst/>
            <a:ahLst/>
            <a:cxnLst/>
            <a:rect r="r" b="b" t="t" l="l"/>
            <a:pathLst>
              <a:path h="3761345" w="2333939">
                <a:moveTo>
                  <a:pt x="0" y="0"/>
                </a:moveTo>
                <a:lnTo>
                  <a:pt x="2333939" y="0"/>
                </a:lnTo>
                <a:lnTo>
                  <a:pt x="2333939" y="3761345"/>
                </a:lnTo>
                <a:lnTo>
                  <a:pt x="0" y="3761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5023" t="0" r="0" b="-69402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4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1977" y="8514315"/>
            <a:ext cx="4550513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8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799121">
            <a:off x="14378694" y="499"/>
            <a:ext cx="3908807" cy="3908807"/>
          </a:xfrm>
          <a:custGeom>
            <a:avLst/>
            <a:gdLst/>
            <a:ahLst/>
            <a:cxnLst/>
            <a:rect r="r" b="b" t="t" l="l"/>
            <a:pathLst>
              <a:path h="3908807" w="3908807">
                <a:moveTo>
                  <a:pt x="0" y="0"/>
                </a:moveTo>
                <a:lnTo>
                  <a:pt x="3908807" y="0"/>
                </a:lnTo>
                <a:lnTo>
                  <a:pt x="3908807" y="3908807"/>
                </a:lnTo>
                <a:lnTo>
                  <a:pt x="0" y="3908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6069" y="7921131"/>
            <a:ext cx="1948369" cy="1948369"/>
          </a:xfrm>
          <a:custGeom>
            <a:avLst/>
            <a:gdLst/>
            <a:ahLst/>
            <a:cxnLst/>
            <a:rect r="r" b="b" t="t" l="l"/>
            <a:pathLst>
              <a:path h="1948369" w="1948369">
                <a:moveTo>
                  <a:pt x="0" y="0"/>
                </a:moveTo>
                <a:lnTo>
                  <a:pt x="1948369" y="0"/>
                </a:lnTo>
                <a:lnTo>
                  <a:pt x="1948369" y="1948369"/>
                </a:lnTo>
                <a:lnTo>
                  <a:pt x="0" y="1948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5949" y="1774256"/>
            <a:ext cx="11301259" cy="5806022"/>
          </a:xfrm>
          <a:custGeom>
            <a:avLst/>
            <a:gdLst/>
            <a:ahLst/>
            <a:cxnLst/>
            <a:rect r="r" b="b" t="t" l="l"/>
            <a:pathLst>
              <a:path h="5806022" w="11301259">
                <a:moveTo>
                  <a:pt x="0" y="0"/>
                </a:moveTo>
                <a:lnTo>
                  <a:pt x="11301259" y="0"/>
                </a:lnTo>
                <a:lnTo>
                  <a:pt x="11301259" y="5806022"/>
                </a:lnTo>
                <a:lnTo>
                  <a:pt x="0" y="58060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932858" y="3414534"/>
            <a:ext cx="8515835" cy="5865281"/>
          </a:xfrm>
          <a:custGeom>
            <a:avLst/>
            <a:gdLst/>
            <a:ahLst/>
            <a:cxnLst/>
            <a:rect r="r" b="b" t="t" l="l"/>
            <a:pathLst>
              <a:path h="5865281" w="8515835">
                <a:moveTo>
                  <a:pt x="0" y="0"/>
                </a:moveTo>
                <a:lnTo>
                  <a:pt x="8515835" y="0"/>
                </a:lnTo>
                <a:lnTo>
                  <a:pt x="8515835" y="5865281"/>
                </a:lnTo>
                <a:lnTo>
                  <a:pt x="0" y="586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6667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65949" y="550971"/>
            <a:ext cx="1522027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6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 DE VERSIONAMENTO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1320" y="2075973"/>
            <a:ext cx="1461272" cy="1461272"/>
          </a:xfrm>
          <a:custGeom>
            <a:avLst/>
            <a:gdLst/>
            <a:ahLst/>
            <a:cxnLst/>
            <a:rect r="r" b="b" t="t" l="l"/>
            <a:pathLst>
              <a:path h="1461272" w="1461272">
                <a:moveTo>
                  <a:pt x="0" y="0"/>
                </a:moveTo>
                <a:lnTo>
                  <a:pt x="1461272" y="0"/>
                </a:lnTo>
                <a:lnTo>
                  <a:pt x="1461272" y="1461272"/>
                </a:lnTo>
                <a:lnTo>
                  <a:pt x="0" y="146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7037"/>
            <a:ext cx="1636828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 DE PLANEJAMENTO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0" y="42917"/>
            <a:ext cx="2633863" cy="2633863"/>
          </a:xfrm>
          <a:custGeom>
            <a:avLst/>
            <a:gdLst/>
            <a:ahLst/>
            <a:cxnLst/>
            <a:rect r="r" b="b" t="t" l="l"/>
            <a:pathLst>
              <a:path h="2633863" w="2633863">
                <a:moveTo>
                  <a:pt x="0" y="0"/>
                </a:moveTo>
                <a:lnTo>
                  <a:pt x="2633863" y="0"/>
                </a:lnTo>
                <a:lnTo>
                  <a:pt x="2633863" y="2633863"/>
                </a:lnTo>
                <a:lnTo>
                  <a:pt x="0" y="2633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3028" y="4451642"/>
            <a:ext cx="10123323" cy="5555174"/>
          </a:xfrm>
          <a:custGeom>
            <a:avLst/>
            <a:gdLst/>
            <a:ahLst/>
            <a:cxnLst/>
            <a:rect r="r" b="b" t="t" l="l"/>
            <a:pathLst>
              <a:path h="5555174" w="10123323">
                <a:moveTo>
                  <a:pt x="0" y="0"/>
                </a:moveTo>
                <a:lnTo>
                  <a:pt x="10123323" y="0"/>
                </a:lnTo>
                <a:lnTo>
                  <a:pt x="10123323" y="5555174"/>
                </a:lnTo>
                <a:lnTo>
                  <a:pt x="0" y="5555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245F99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717517" y="5059626"/>
            <a:ext cx="7160675" cy="4947190"/>
          </a:xfrm>
          <a:custGeom>
            <a:avLst/>
            <a:gdLst/>
            <a:ahLst/>
            <a:cxnLst/>
            <a:rect r="r" b="b" t="t" l="l"/>
            <a:pathLst>
              <a:path h="4947190" w="7160675">
                <a:moveTo>
                  <a:pt x="0" y="0"/>
                </a:moveTo>
                <a:lnTo>
                  <a:pt x="7160674" y="0"/>
                </a:lnTo>
                <a:lnTo>
                  <a:pt x="7160674" y="4947190"/>
                </a:lnTo>
                <a:lnTo>
                  <a:pt x="0" y="4947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47625" cap="sq">
            <a:solidFill>
              <a:srgbClr val="245F99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515813" y="2278317"/>
            <a:ext cx="1288117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>
                <a:solidFill>
                  <a:srgbClr val="41A8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MICROSOFT PLANNER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52762" y="3602302"/>
            <a:ext cx="6603357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Microsoft Planner pode ajudar você a organizar e gerenciar todas as suas tarefas, listas de tarefas pendentes, planos e projetos em um único lugar.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7782" y="401637"/>
            <a:ext cx="2276336" cy="2119838"/>
          </a:xfrm>
          <a:custGeom>
            <a:avLst/>
            <a:gdLst/>
            <a:ahLst/>
            <a:cxnLst/>
            <a:rect r="r" b="b" t="t" l="l"/>
            <a:pathLst>
              <a:path h="2119838" w="2276336">
                <a:moveTo>
                  <a:pt x="0" y="0"/>
                </a:moveTo>
                <a:lnTo>
                  <a:pt x="2276336" y="0"/>
                </a:lnTo>
                <a:lnTo>
                  <a:pt x="2276336" y="2119838"/>
                </a:lnTo>
                <a:lnTo>
                  <a:pt x="0" y="2119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304" y="2957247"/>
            <a:ext cx="17860404" cy="7077185"/>
          </a:xfrm>
          <a:custGeom>
            <a:avLst/>
            <a:gdLst/>
            <a:ahLst/>
            <a:cxnLst/>
            <a:rect r="r" b="b" t="t" l="l"/>
            <a:pathLst>
              <a:path h="7077185" w="17860404">
                <a:moveTo>
                  <a:pt x="0" y="0"/>
                </a:moveTo>
                <a:lnTo>
                  <a:pt x="17860404" y="0"/>
                </a:lnTo>
                <a:lnTo>
                  <a:pt x="17860404" y="7077185"/>
                </a:lnTo>
                <a:lnTo>
                  <a:pt x="0" y="7077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66675" cap="sq">
            <a:solidFill>
              <a:srgbClr val="D24545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296170" y="987647"/>
            <a:ext cx="96410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BACKLOG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192597" y="9179437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2912" y="2140455"/>
            <a:ext cx="11301259" cy="5368098"/>
          </a:xfrm>
          <a:custGeom>
            <a:avLst/>
            <a:gdLst/>
            <a:ahLst/>
            <a:cxnLst/>
            <a:rect r="r" b="b" t="t" l="l"/>
            <a:pathLst>
              <a:path h="5368098" w="11301259">
                <a:moveTo>
                  <a:pt x="0" y="0"/>
                </a:moveTo>
                <a:lnTo>
                  <a:pt x="11301259" y="0"/>
                </a:lnTo>
                <a:lnTo>
                  <a:pt x="11301259" y="5368098"/>
                </a:lnTo>
                <a:lnTo>
                  <a:pt x="0" y="5368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43542" y="4824504"/>
            <a:ext cx="11301259" cy="4590761"/>
          </a:xfrm>
          <a:custGeom>
            <a:avLst/>
            <a:gdLst/>
            <a:ahLst/>
            <a:cxnLst/>
            <a:rect r="r" b="b" t="t" l="l"/>
            <a:pathLst>
              <a:path h="4590761" w="11301259">
                <a:moveTo>
                  <a:pt x="0" y="0"/>
                </a:moveTo>
                <a:lnTo>
                  <a:pt x="11301259" y="0"/>
                </a:lnTo>
                <a:lnTo>
                  <a:pt x="11301259" y="4590761"/>
                </a:lnTo>
                <a:lnTo>
                  <a:pt x="0" y="4590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668" r="0" b="-657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27391" y="812378"/>
            <a:ext cx="14633218" cy="87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7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 INSTITUCIONAL ESTÁTICO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87868" y="831211"/>
            <a:ext cx="10934046" cy="9178621"/>
            <a:chOff x="0" y="0"/>
            <a:chExt cx="374717" cy="314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4717" cy="314558"/>
            </a:xfrm>
            <a:custGeom>
              <a:avLst/>
              <a:gdLst/>
              <a:ahLst/>
              <a:cxnLst/>
              <a:rect r="r" b="b" t="t" l="l"/>
              <a:pathLst>
                <a:path h="314558" w="374717">
                  <a:moveTo>
                    <a:pt x="0" y="0"/>
                  </a:moveTo>
                  <a:lnTo>
                    <a:pt x="374717" y="0"/>
                  </a:lnTo>
                  <a:lnTo>
                    <a:pt x="374717" y="314558"/>
                  </a:lnTo>
                  <a:lnTo>
                    <a:pt x="0" y="314558"/>
                  </a:lnTo>
                  <a:close/>
                </a:path>
              </a:pathLst>
            </a:custGeom>
            <a:solidFill>
              <a:srgbClr val="FCFCFC"/>
            </a:solidFill>
            <a:ln w="161925" cap="sq">
              <a:solidFill>
                <a:srgbClr val="0B2E5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4717" cy="352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11906" y="5405825"/>
            <a:ext cx="6955328" cy="4051478"/>
          </a:xfrm>
          <a:custGeom>
            <a:avLst/>
            <a:gdLst/>
            <a:ahLst/>
            <a:cxnLst/>
            <a:rect r="r" b="b" t="t" l="l"/>
            <a:pathLst>
              <a:path h="4051478" w="6955328">
                <a:moveTo>
                  <a:pt x="0" y="0"/>
                </a:moveTo>
                <a:lnTo>
                  <a:pt x="6955328" y="0"/>
                </a:lnTo>
                <a:lnTo>
                  <a:pt x="6955328" y="4051478"/>
                </a:lnTo>
                <a:lnTo>
                  <a:pt x="0" y="4051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>
            <a:hlinkClick r:id="rId4" tooltip="https://www.figma.com/design/A4rv3wIj17aX1Y6EukJ8Wv/wireframe?node-id=0-1&amp;p=f&amp;t=WOJnL59aTSOobAxY-0"/>
          </p:cNvPr>
          <p:cNvSpPr/>
          <p:nvPr/>
        </p:nvSpPr>
        <p:spPr>
          <a:xfrm flipH="false" flipV="false" rot="0">
            <a:off x="1829463" y="2603898"/>
            <a:ext cx="4177720" cy="6266580"/>
          </a:xfrm>
          <a:custGeom>
            <a:avLst/>
            <a:gdLst/>
            <a:ahLst/>
            <a:cxnLst/>
            <a:rect r="r" b="b" t="t" l="l"/>
            <a:pathLst>
              <a:path h="6266580" w="4177720">
                <a:moveTo>
                  <a:pt x="0" y="0"/>
                </a:moveTo>
                <a:lnTo>
                  <a:pt x="4177719" y="0"/>
                </a:lnTo>
                <a:lnTo>
                  <a:pt x="4177719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41970" y="1359848"/>
            <a:ext cx="5278199" cy="3535502"/>
          </a:xfrm>
          <a:custGeom>
            <a:avLst/>
            <a:gdLst/>
            <a:ahLst/>
            <a:cxnLst/>
            <a:rect r="r" b="b" t="t" l="l"/>
            <a:pathLst>
              <a:path h="3535502" w="5278199">
                <a:moveTo>
                  <a:pt x="0" y="0"/>
                </a:moveTo>
                <a:lnTo>
                  <a:pt x="5278199" y="0"/>
                </a:lnTo>
                <a:lnTo>
                  <a:pt x="5278199" y="3535502"/>
                </a:lnTo>
                <a:lnTo>
                  <a:pt x="0" y="3535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57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54934" y="1489276"/>
            <a:ext cx="4972370" cy="3406074"/>
          </a:xfrm>
          <a:custGeom>
            <a:avLst/>
            <a:gdLst/>
            <a:ahLst/>
            <a:cxnLst/>
            <a:rect r="r" b="b" t="t" l="l"/>
            <a:pathLst>
              <a:path h="3406074" w="4972370">
                <a:moveTo>
                  <a:pt x="0" y="0"/>
                </a:moveTo>
                <a:lnTo>
                  <a:pt x="4972370" y="0"/>
                </a:lnTo>
                <a:lnTo>
                  <a:pt x="4972370" y="3406074"/>
                </a:lnTo>
                <a:lnTo>
                  <a:pt x="0" y="34060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7446" y="1031236"/>
            <a:ext cx="631042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WIREFRAME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-3192597" y="9179437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4" y="0"/>
                </a:lnTo>
                <a:lnTo>
                  <a:pt x="6385194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4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430077" y="5242076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5" y="0"/>
                </a:lnTo>
                <a:lnTo>
                  <a:pt x="6385195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5273" y="1833347"/>
            <a:ext cx="15474027" cy="7746213"/>
          </a:xfrm>
          <a:custGeom>
            <a:avLst/>
            <a:gdLst/>
            <a:ahLst/>
            <a:cxnLst/>
            <a:rect r="r" b="b" t="t" l="l"/>
            <a:pathLst>
              <a:path h="7746213" w="15474027">
                <a:moveTo>
                  <a:pt x="0" y="0"/>
                </a:moveTo>
                <a:lnTo>
                  <a:pt x="15474027" y="0"/>
                </a:lnTo>
                <a:lnTo>
                  <a:pt x="15474027" y="7746213"/>
                </a:lnTo>
                <a:lnTo>
                  <a:pt x="0" y="7746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18655" y="3519540"/>
            <a:ext cx="945062" cy="308363"/>
          </a:xfrm>
          <a:custGeom>
            <a:avLst/>
            <a:gdLst/>
            <a:ahLst/>
            <a:cxnLst/>
            <a:rect r="r" b="b" t="t" l="l"/>
            <a:pathLst>
              <a:path h="308363" w="945062">
                <a:moveTo>
                  <a:pt x="0" y="0"/>
                </a:moveTo>
                <a:lnTo>
                  <a:pt x="945062" y="0"/>
                </a:lnTo>
                <a:lnTo>
                  <a:pt x="945062" y="308364"/>
                </a:lnTo>
                <a:lnTo>
                  <a:pt x="0" y="308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1192" r="0" b="-487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53140" y="700088"/>
            <a:ext cx="1338172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 DA SOLUÇÃO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0969" y="2160802"/>
            <a:ext cx="1311359" cy="1320221"/>
            <a:chOff x="0" y="0"/>
            <a:chExt cx="80734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0969" y="4712413"/>
            <a:ext cx="1311359" cy="1320221"/>
            <a:chOff x="0" y="0"/>
            <a:chExt cx="80734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0969" y="7380757"/>
            <a:ext cx="1311359" cy="1320221"/>
            <a:chOff x="0" y="0"/>
            <a:chExt cx="80734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5340" y="7632833"/>
            <a:ext cx="642618" cy="892526"/>
          </a:xfrm>
          <a:custGeom>
            <a:avLst/>
            <a:gdLst/>
            <a:ahLst/>
            <a:cxnLst/>
            <a:rect r="r" b="b" t="t" l="l"/>
            <a:pathLst>
              <a:path h="892526" w="642618">
                <a:moveTo>
                  <a:pt x="0" y="0"/>
                </a:moveTo>
                <a:lnTo>
                  <a:pt x="642618" y="0"/>
                </a:lnTo>
                <a:lnTo>
                  <a:pt x="642618" y="892526"/>
                </a:lnTo>
                <a:lnTo>
                  <a:pt x="0" y="89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1607" y="5080919"/>
            <a:ext cx="903045" cy="573023"/>
          </a:xfrm>
          <a:custGeom>
            <a:avLst/>
            <a:gdLst/>
            <a:ahLst/>
            <a:cxnLst/>
            <a:rect r="r" b="b" t="t" l="l"/>
            <a:pathLst>
              <a:path h="573023" w="903045">
                <a:moveTo>
                  <a:pt x="0" y="0"/>
                </a:moveTo>
                <a:lnTo>
                  <a:pt x="903045" y="0"/>
                </a:lnTo>
                <a:lnTo>
                  <a:pt x="903045" y="573023"/>
                </a:lnTo>
                <a:lnTo>
                  <a:pt x="0" y="57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6000" y="2444549"/>
            <a:ext cx="1001299" cy="752728"/>
          </a:xfrm>
          <a:custGeom>
            <a:avLst/>
            <a:gdLst/>
            <a:ahLst/>
            <a:cxnLst/>
            <a:rect r="r" b="b" t="t" l="l"/>
            <a:pathLst>
              <a:path h="752728" w="1001299">
                <a:moveTo>
                  <a:pt x="0" y="0"/>
                </a:moveTo>
                <a:lnTo>
                  <a:pt x="1001298" y="0"/>
                </a:lnTo>
                <a:lnTo>
                  <a:pt x="1001298" y="752728"/>
                </a:lnTo>
                <a:lnTo>
                  <a:pt x="0" y="752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685795"/>
            <a:ext cx="1487055" cy="87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7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65948" y="2633820"/>
            <a:ext cx="12099834" cy="48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39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Configuração de ambiente Linux em nuvem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65948" y="4959393"/>
            <a:ext cx="12099834" cy="93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39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Configuração de acesso remoto ao ambiente em nuvem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65948" y="7627737"/>
            <a:ext cx="12099834" cy="93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39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Definição de usuários e papéis (roles) com camada de segurança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13602325" y="4911322"/>
            <a:ext cx="6385195" cy="928756"/>
          </a:xfrm>
          <a:custGeom>
            <a:avLst/>
            <a:gdLst/>
            <a:ahLst/>
            <a:cxnLst/>
            <a:rect r="r" b="b" t="t" l="l"/>
            <a:pathLst>
              <a:path h="928756" w="6385195">
                <a:moveTo>
                  <a:pt x="0" y="0"/>
                </a:moveTo>
                <a:lnTo>
                  <a:pt x="6385195" y="0"/>
                </a:lnTo>
                <a:lnTo>
                  <a:pt x="6385195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9522" y="2627765"/>
            <a:ext cx="6508955" cy="6508955"/>
          </a:xfrm>
          <a:custGeom>
            <a:avLst/>
            <a:gdLst/>
            <a:ahLst/>
            <a:cxnLst/>
            <a:rect r="r" b="b" t="t" l="l"/>
            <a:pathLst>
              <a:path h="6508955" w="6508955">
                <a:moveTo>
                  <a:pt x="0" y="0"/>
                </a:moveTo>
                <a:lnTo>
                  <a:pt x="6508956" y="0"/>
                </a:lnTo>
                <a:lnTo>
                  <a:pt x="6508956" y="6508956"/>
                </a:lnTo>
                <a:lnTo>
                  <a:pt x="0" y="6508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4153" y="854254"/>
            <a:ext cx="1481969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 via co</a:t>
            </a: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NSOLE COM DATAS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3883243" y="5882243"/>
            <a:ext cx="4404757" cy="4404757"/>
          </a:xfrm>
          <a:custGeom>
            <a:avLst/>
            <a:gdLst/>
            <a:ahLst/>
            <a:cxnLst/>
            <a:rect r="r" b="b" t="t" l="l"/>
            <a:pathLst>
              <a:path h="4404757" w="4404757">
                <a:moveTo>
                  <a:pt x="0" y="0"/>
                </a:moveTo>
                <a:lnTo>
                  <a:pt x="4404757" y="0"/>
                </a:lnTo>
                <a:lnTo>
                  <a:pt x="4404757" y="4404757"/>
                </a:lnTo>
                <a:lnTo>
                  <a:pt x="0" y="4404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4897" y="2217356"/>
            <a:ext cx="11698206" cy="4372204"/>
          </a:xfrm>
          <a:custGeom>
            <a:avLst/>
            <a:gdLst/>
            <a:ahLst/>
            <a:cxnLst/>
            <a:rect r="r" b="b" t="t" l="l"/>
            <a:pathLst>
              <a:path h="4372204" w="11698206">
                <a:moveTo>
                  <a:pt x="0" y="0"/>
                </a:moveTo>
                <a:lnTo>
                  <a:pt x="11698206" y="0"/>
                </a:lnTo>
                <a:lnTo>
                  <a:pt x="11698206" y="4372204"/>
                </a:lnTo>
                <a:lnTo>
                  <a:pt x="0" y="4372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94897" y="6949336"/>
            <a:ext cx="11698206" cy="1512013"/>
          </a:xfrm>
          <a:custGeom>
            <a:avLst/>
            <a:gdLst/>
            <a:ahLst/>
            <a:cxnLst/>
            <a:rect r="r" b="b" t="t" l="l"/>
            <a:pathLst>
              <a:path h="1512013" w="11698206">
                <a:moveTo>
                  <a:pt x="0" y="0"/>
                </a:moveTo>
                <a:lnTo>
                  <a:pt x="11698206" y="0"/>
                </a:lnTo>
                <a:lnTo>
                  <a:pt x="11698206" y="1512013"/>
                </a:lnTo>
                <a:lnTo>
                  <a:pt x="0" y="1512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4897" y="8823425"/>
            <a:ext cx="11698206" cy="1164967"/>
          </a:xfrm>
          <a:custGeom>
            <a:avLst/>
            <a:gdLst/>
            <a:ahLst/>
            <a:cxnLst/>
            <a:rect r="r" b="b" t="t" l="l"/>
            <a:pathLst>
              <a:path h="1164967" w="11698206">
                <a:moveTo>
                  <a:pt x="0" y="0"/>
                </a:moveTo>
                <a:lnTo>
                  <a:pt x="11698206" y="0"/>
                </a:lnTo>
                <a:lnTo>
                  <a:pt x="11698206" y="1164966"/>
                </a:lnTo>
                <a:lnTo>
                  <a:pt x="0" y="1164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7828" y="304800"/>
            <a:ext cx="17430172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tru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de dados</a:t>
            </a: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NECESSÁRIOS - DICIONÁRIO DE DADOS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2887" y="1819275"/>
            <a:ext cx="9442302" cy="8289240"/>
          </a:xfrm>
          <a:custGeom>
            <a:avLst/>
            <a:gdLst/>
            <a:ahLst/>
            <a:cxnLst/>
            <a:rect r="r" b="b" t="t" l="l"/>
            <a:pathLst>
              <a:path h="8289240" w="9442302">
                <a:moveTo>
                  <a:pt x="0" y="0"/>
                </a:moveTo>
                <a:lnTo>
                  <a:pt x="9442302" y="0"/>
                </a:lnTo>
                <a:lnTo>
                  <a:pt x="9442302" y="8289240"/>
                </a:lnTo>
                <a:lnTo>
                  <a:pt x="0" y="8289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5233" y="-85725"/>
            <a:ext cx="7780603" cy="10194240"/>
          </a:xfrm>
          <a:custGeom>
            <a:avLst/>
            <a:gdLst/>
            <a:ahLst/>
            <a:cxnLst/>
            <a:rect r="r" b="b" t="t" l="l"/>
            <a:pathLst>
              <a:path h="10194240" w="7780603">
                <a:moveTo>
                  <a:pt x="0" y="0"/>
                </a:moveTo>
                <a:lnTo>
                  <a:pt x="7780604" y="0"/>
                </a:lnTo>
                <a:lnTo>
                  <a:pt x="7780604" y="10194240"/>
                </a:lnTo>
                <a:lnTo>
                  <a:pt x="0" y="10194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008" y="57150"/>
            <a:ext cx="8116519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 b="true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de dados</a:t>
            </a:r>
            <a:r>
              <a:rPr lang="en-US" b="true" sz="4800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NECESSÁRIOS - DICIONÁRIO DE DADOS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4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67962" y="5284727"/>
            <a:ext cx="1834922" cy="1576886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93065" y="7681414"/>
            <a:ext cx="1834922" cy="157688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36650" y="5457094"/>
            <a:ext cx="4222650" cy="3628840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-16755" t="0" r="-1675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77706" y="1028700"/>
            <a:ext cx="1756724" cy="1509685"/>
            <a:chOff x="0" y="0"/>
            <a:chExt cx="8128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5665" y="3323247"/>
            <a:ext cx="1756724" cy="1509685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1193721"/>
            <a:ext cx="4042695" cy="3474191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-16755" t="0" r="-16755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503748" y="6804541"/>
            <a:ext cx="3288453" cy="93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b="true" sz="3938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VISITA AGENDADA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5400000">
            <a:off x="14381003" y="6272949"/>
            <a:ext cx="4025028" cy="4025028"/>
          </a:xfrm>
          <a:custGeom>
            <a:avLst/>
            <a:gdLst/>
            <a:ahLst/>
            <a:cxnLst/>
            <a:rect r="r" b="b" t="t" l="l"/>
            <a:pathLst>
              <a:path h="4025028" w="4025028">
                <a:moveTo>
                  <a:pt x="0" y="0"/>
                </a:moveTo>
                <a:lnTo>
                  <a:pt x="4025029" y="0"/>
                </a:lnTo>
                <a:lnTo>
                  <a:pt x="4025029" y="4025028"/>
                </a:lnTo>
                <a:lnTo>
                  <a:pt x="0" y="4025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0" y="0"/>
            <a:ext cx="3962068" cy="3962068"/>
          </a:xfrm>
          <a:custGeom>
            <a:avLst/>
            <a:gdLst/>
            <a:ahLst/>
            <a:cxnLst/>
            <a:rect r="r" b="b" t="t" l="l"/>
            <a:pathLst>
              <a:path h="3962068" w="3962068">
                <a:moveTo>
                  <a:pt x="0" y="0"/>
                </a:moveTo>
                <a:lnTo>
                  <a:pt x="3962068" y="0"/>
                </a:lnTo>
                <a:lnTo>
                  <a:pt x="3962068" y="3962068"/>
                </a:lnTo>
                <a:lnTo>
                  <a:pt x="0" y="3962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67750" y="2704107"/>
            <a:ext cx="2764595" cy="46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b="true" sz="3770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SIMBIOSE</a:t>
            </a:r>
          </a:p>
        </p:txBody>
      </p:sp>
      <p:sp>
        <p:nvSpPr>
          <p:cNvPr name="AutoShape 22" id="22"/>
          <p:cNvSpPr/>
          <p:nvPr/>
        </p:nvSpPr>
        <p:spPr>
          <a:xfrm>
            <a:off x="2790728" y="3308881"/>
            <a:ext cx="518639" cy="0"/>
          </a:xfrm>
          <a:prstGeom prst="line">
            <a:avLst/>
          </a:prstGeom>
          <a:ln cap="flat" w="28575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4967962" y="7891338"/>
            <a:ext cx="541725" cy="0"/>
          </a:xfrm>
          <a:prstGeom prst="line">
            <a:avLst/>
          </a:prstGeom>
          <a:ln cap="flat" w="28575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5442182" y="1997019"/>
            <a:ext cx="1319021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b="true" sz="229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Opção 1: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5405" y="6382952"/>
            <a:ext cx="1274052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49"/>
              </a:lnSpc>
              <a:spcBef>
                <a:spcPct val="0"/>
              </a:spcBef>
            </a:pPr>
            <a:r>
              <a:rPr lang="en-US" b="true" sz="229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Plano A: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42182" y="2371983"/>
            <a:ext cx="5239017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Segundo alternativa de nuvem Oracle para a simbiose (não tiraremos a AWS como principal)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90850" y="1914359"/>
            <a:ext cx="14014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b="true" sz="229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Opção 2: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90850" y="2289323"/>
            <a:ext cx="5799538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Usaremos a ferramenta Databricks para transformação e limpeza do dado para melhor manuseamento desses dados.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4665" y="6382952"/>
            <a:ext cx="1274052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49"/>
              </a:lnSpc>
              <a:spcBef>
                <a:spcPct val="0"/>
              </a:spcBef>
            </a:pPr>
            <a:r>
              <a:rPr lang="en-US" b="true" sz="229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Plano B: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87793" y="6733472"/>
            <a:ext cx="5648856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Colaboradoro(a): Luana Tejon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Cliente: Elizangela Aranegea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Área: Corretora 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Visita: Não marcado por enquanto.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5405" y="6733472"/>
            <a:ext cx="5792814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Colaboradoro(a):Gustavo Rucaglia 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Cliente: Pessoas do setor imobiliario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Área: Setor imobiliário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FCFCFC"/>
                </a:solidFill>
                <a:latin typeface="Open Sans"/>
                <a:ea typeface="Open Sans"/>
                <a:cs typeface="Open Sans"/>
                <a:sym typeface="Open Sans"/>
              </a:rPr>
              <a:t>Visita: Aguardando a resposta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50756" y="0"/>
            <a:ext cx="9737244" cy="10175307"/>
          </a:xfrm>
          <a:custGeom>
            <a:avLst/>
            <a:gdLst/>
            <a:ahLst/>
            <a:cxnLst/>
            <a:rect r="r" b="b" t="t" l="l"/>
            <a:pathLst>
              <a:path h="10175307" w="9737244">
                <a:moveTo>
                  <a:pt x="0" y="0"/>
                </a:moveTo>
                <a:lnTo>
                  <a:pt x="9737244" y="0"/>
                </a:lnTo>
                <a:lnTo>
                  <a:pt x="9737244" y="10175307"/>
                </a:lnTo>
                <a:lnTo>
                  <a:pt x="0" y="10175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01" t="-68288" r="-137747" b="-7032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675277" cy="3798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5277" cy="379844"/>
            </a:xfrm>
            <a:custGeom>
              <a:avLst/>
              <a:gdLst/>
              <a:ahLst/>
              <a:cxnLst/>
              <a:rect r="r" b="b" t="t" l="l"/>
              <a:pathLst>
                <a:path h="379844" w="675277">
                  <a:moveTo>
                    <a:pt x="0" y="0"/>
                  </a:moveTo>
                  <a:lnTo>
                    <a:pt x="675277" y="0"/>
                  </a:lnTo>
                  <a:lnTo>
                    <a:pt x="675277" y="379844"/>
                  </a:lnTo>
                  <a:lnTo>
                    <a:pt x="0" y="379844"/>
                  </a:lnTo>
                  <a:close/>
                </a:path>
              </a:pathLst>
            </a:custGeom>
            <a:solidFill>
              <a:srgbClr val="0B2E57">
                <a:alpha val="4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5277" cy="417944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1093" y="7347749"/>
            <a:ext cx="11144170" cy="2438722"/>
            <a:chOff x="0" y="0"/>
            <a:chExt cx="411494" cy="90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94" cy="90049"/>
            </a:xfrm>
            <a:custGeom>
              <a:avLst/>
              <a:gdLst/>
              <a:ahLst/>
              <a:cxnLst/>
              <a:rect r="r" b="b" t="t" l="l"/>
              <a:pathLst>
                <a:path h="90049" w="411494">
                  <a:moveTo>
                    <a:pt x="0" y="0"/>
                  </a:moveTo>
                  <a:lnTo>
                    <a:pt x="411494" y="0"/>
                  </a:lnTo>
                  <a:lnTo>
                    <a:pt x="411494" y="90049"/>
                  </a:lnTo>
                  <a:lnTo>
                    <a:pt x="0" y="90049"/>
                  </a:lnTo>
                  <a:close/>
                </a:path>
              </a:pathLst>
            </a:custGeom>
            <a:gradFill rotWithShape="true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1494" cy="128149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07480" y="7704118"/>
            <a:ext cx="588041" cy="5880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07480" y="8814953"/>
            <a:ext cx="588041" cy="5880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766336" y="8973809"/>
            <a:ext cx="270330" cy="270330"/>
          </a:xfrm>
          <a:custGeom>
            <a:avLst/>
            <a:gdLst/>
            <a:ahLst/>
            <a:cxnLst/>
            <a:rect r="r" b="b" t="t" l="l"/>
            <a:pathLst>
              <a:path h="270330" w="270330">
                <a:moveTo>
                  <a:pt x="0" y="0"/>
                </a:moveTo>
                <a:lnTo>
                  <a:pt x="270330" y="0"/>
                </a:lnTo>
                <a:lnTo>
                  <a:pt x="270330" y="270330"/>
                </a:lnTo>
                <a:lnTo>
                  <a:pt x="0" y="27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66336" y="7862973"/>
            <a:ext cx="270330" cy="270330"/>
          </a:xfrm>
          <a:custGeom>
            <a:avLst/>
            <a:gdLst/>
            <a:ahLst/>
            <a:cxnLst/>
            <a:rect r="r" b="b" t="t" l="l"/>
            <a:pathLst>
              <a:path h="270330" w="270330">
                <a:moveTo>
                  <a:pt x="0" y="0"/>
                </a:moveTo>
                <a:lnTo>
                  <a:pt x="270330" y="0"/>
                </a:lnTo>
                <a:lnTo>
                  <a:pt x="270330" y="270330"/>
                </a:lnTo>
                <a:lnTo>
                  <a:pt x="0" y="27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25128" y="7704118"/>
            <a:ext cx="588041" cy="58804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5128" y="8814953"/>
            <a:ext cx="588041" cy="5880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67812" y="7869503"/>
            <a:ext cx="302672" cy="257272"/>
          </a:xfrm>
          <a:custGeom>
            <a:avLst/>
            <a:gdLst/>
            <a:ahLst/>
            <a:cxnLst/>
            <a:rect r="r" b="b" t="t" l="l"/>
            <a:pathLst>
              <a:path h="257272" w="302672">
                <a:moveTo>
                  <a:pt x="0" y="0"/>
                </a:moveTo>
                <a:lnTo>
                  <a:pt x="302672" y="0"/>
                </a:lnTo>
                <a:lnTo>
                  <a:pt x="302672" y="257271"/>
                </a:lnTo>
                <a:lnTo>
                  <a:pt x="0" y="2572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3983" y="9007747"/>
            <a:ext cx="270330" cy="202453"/>
          </a:xfrm>
          <a:custGeom>
            <a:avLst/>
            <a:gdLst/>
            <a:ahLst/>
            <a:cxnLst/>
            <a:rect r="r" b="b" t="t" l="l"/>
            <a:pathLst>
              <a:path h="202453" w="270330">
                <a:moveTo>
                  <a:pt x="0" y="0"/>
                </a:moveTo>
                <a:lnTo>
                  <a:pt x="270330" y="0"/>
                </a:lnTo>
                <a:lnTo>
                  <a:pt x="270330" y="202454"/>
                </a:lnTo>
                <a:lnTo>
                  <a:pt x="0" y="202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25128" y="2404714"/>
            <a:ext cx="7613920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</a:t>
            </a:r>
            <a:r>
              <a:rPr lang="en-US" b="true" sz="6999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INTELLIGENCE</a:t>
            </a:r>
            <a:r>
              <a:rPr lang="en-US" b="true" sz="6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AGRADECE PELA ATENÇÃO!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956" y="6823874"/>
            <a:ext cx="307084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3999">
                <a:solidFill>
                  <a:srgbClr val="0B2E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CONTATO: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38396" y="7792765"/>
            <a:ext cx="231393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(11) 3589-4043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38396" y="8903601"/>
            <a:ext cx="462787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safetyintelligence.com.br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2602" y="7666018"/>
            <a:ext cx="443440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Rua Haddock Lobo, 595 - Cerqueira César, São Paulo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2602" y="8903601"/>
            <a:ext cx="486912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contato@safetyintelligence.com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5128" y="833089"/>
            <a:ext cx="617637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D2454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5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42435" y="2219536"/>
            <a:ext cx="10381715" cy="8067464"/>
            <a:chOff x="0" y="0"/>
            <a:chExt cx="1751479" cy="1361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79" cy="1361046"/>
            </a:xfrm>
            <a:custGeom>
              <a:avLst/>
              <a:gdLst/>
              <a:ahLst/>
              <a:cxnLst/>
              <a:rect r="r" b="b" t="t" l="l"/>
              <a:pathLst>
                <a:path h="1361046" w="1751479">
                  <a:moveTo>
                    <a:pt x="0" y="0"/>
                  </a:moveTo>
                  <a:lnTo>
                    <a:pt x="1751479" y="0"/>
                  </a:lnTo>
                  <a:lnTo>
                    <a:pt x="1751479" y="1361046"/>
                  </a:lnTo>
                  <a:lnTo>
                    <a:pt x="0" y="1361046"/>
                  </a:lnTo>
                  <a:close/>
                </a:path>
              </a:pathLst>
            </a:custGeom>
            <a:blipFill>
              <a:blip r:embed="rId2"/>
              <a:stretch>
                <a:fillRect l="-19074" t="0" r="-190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88583" y="2940763"/>
            <a:ext cx="2393316" cy="2338553"/>
            <a:chOff x="0" y="0"/>
            <a:chExt cx="88349" cy="86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349" cy="86327"/>
            </a:xfrm>
            <a:custGeom>
              <a:avLst/>
              <a:gdLst/>
              <a:ahLst/>
              <a:cxnLst/>
              <a:rect r="r" b="b" t="t" l="l"/>
              <a:pathLst>
                <a:path h="86327" w="88349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5759" y="2678274"/>
            <a:ext cx="2226132" cy="7269004"/>
          </a:xfrm>
          <a:custGeom>
            <a:avLst/>
            <a:gdLst/>
            <a:ahLst/>
            <a:cxnLst/>
            <a:rect r="r" b="b" t="t" l="l"/>
            <a:pathLst>
              <a:path h="7269004" w="2226132">
                <a:moveTo>
                  <a:pt x="0" y="0"/>
                </a:moveTo>
                <a:lnTo>
                  <a:pt x="2226133" y="0"/>
                </a:lnTo>
                <a:lnTo>
                  <a:pt x="2226133" y="7269004"/>
                </a:lnTo>
                <a:lnTo>
                  <a:pt x="0" y="7269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34989" y="700088"/>
            <a:ext cx="916870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AGRADECIMENTOS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33114" y="3900490"/>
            <a:ext cx="1891491" cy="36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Professores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663369" y="4262439"/>
            <a:ext cx="2393316" cy="2338553"/>
            <a:chOff x="0" y="0"/>
            <a:chExt cx="88349" cy="86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349" cy="86327"/>
            </a:xfrm>
            <a:custGeom>
              <a:avLst/>
              <a:gdLst/>
              <a:ahLst/>
              <a:cxnLst/>
              <a:rect r="r" b="b" t="t" l="l"/>
              <a:pathLst>
                <a:path h="86327" w="88349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28726" y="5222166"/>
            <a:ext cx="1062603" cy="36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184328" y="5374565"/>
            <a:ext cx="2393316" cy="2338553"/>
            <a:chOff x="0" y="0"/>
            <a:chExt cx="88349" cy="863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349" cy="86327"/>
            </a:xfrm>
            <a:custGeom>
              <a:avLst/>
              <a:gdLst/>
              <a:ahLst/>
              <a:cxnLst/>
              <a:rect r="r" b="b" t="t" l="l"/>
              <a:pathLst>
                <a:path h="86327" w="88349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696884" y="6143792"/>
            <a:ext cx="1376713" cy="7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Todos presentes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661242" y="6696241"/>
            <a:ext cx="2393316" cy="2338553"/>
            <a:chOff x="0" y="0"/>
            <a:chExt cx="88349" cy="863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349" cy="86327"/>
            </a:xfrm>
            <a:custGeom>
              <a:avLst/>
              <a:gdLst/>
              <a:ahLst/>
              <a:cxnLst/>
              <a:rect r="r" b="b" t="t" l="l"/>
              <a:pathLst>
                <a:path h="86327" w="88349">
                  <a:moveTo>
                    <a:pt x="0" y="0"/>
                  </a:moveTo>
                  <a:lnTo>
                    <a:pt x="88349" y="0"/>
                  </a:lnTo>
                  <a:lnTo>
                    <a:pt x="88349" y="86327"/>
                  </a:lnTo>
                  <a:lnTo>
                    <a:pt x="0" y="86327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8349" cy="12442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297676" y="7665493"/>
            <a:ext cx="1124703" cy="36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4189" y="851718"/>
            <a:ext cx="16439623" cy="9103441"/>
          </a:xfrm>
          <a:custGeom>
            <a:avLst/>
            <a:gdLst/>
            <a:ahLst/>
            <a:cxnLst/>
            <a:rect r="r" b="b" t="t" l="l"/>
            <a:pathLst>
              <a:path h="9103441" w="16439623">
                <a:moveTo>
                  <a:pt x="0" y="0"/>
                </a:moveTo>
                <a:lnTo>
                  <a:pt x="16439622" y="0"/>
                </a:lnTo>
                <a:lnTo>
                  <a:pt x="16439622" y="9103442"/>
                </a:lnTo>
                <a:lnTo>
                  <a:pt x="0" y="9103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46581" y="299268"/>
            <a:ext cx="1359483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4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PLANO DE RESPOSTA - LIÇÕES APRENDIDAS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DAHB5BjB00s</dc:identifier>
  <dcterms:modified xsi:type="dcterms:W3CDTF">2011-08-01T06:04:30Z</dcterms:modified>
  <cp:revision>1</cp:revision>
  <dc:title>Safety Intelligence - Sprint 1</dc:title>
</cp:coreProperties>
</file>