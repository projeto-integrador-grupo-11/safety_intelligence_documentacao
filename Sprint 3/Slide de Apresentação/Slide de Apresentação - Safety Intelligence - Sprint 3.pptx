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Montserrat" charset="1" panose="00000500000000000000"/>
      <p:regular r:id="rId33"/>
    </p:embeddedFont>
    <p:embeddedFont>
      <p:font typeface="Montserrat Bold" charset="1" panose="00000800000000000000"/>
      <p:regular r:id="rId34"/>
    </p:embeddedFont>
    <p:embeddedFont>
      <p:font typeface="Open Sans Bold" charset="1" panose="020B0806030504020204"/>
      <p:regular r:id="rId35"/>
    </p:embeddedFont>
    <p:embeddedFont>
      <p:font typeface="Montserrat Italics" charset="1" panose="000005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12" Target="../media/image12.png" Type="http://schemas.openxmlformats.org/officeDocument/2006/relationships/image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Relationship Id="rId7" Target="../media/image7.jpe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8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4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43.png" Type="http://schemas.openxmlformats.org/officeDocument/2006/relationships/image"/><Relationship Id="rId8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44399" y="0"/>
            <a:ext cx="13343601" cy="10287000"/>
            <a:chOff x="0" y="0"/>
            <a:chExt cx="206727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7273" cy="1593725"/>
            </a:xfrm>
            <a:custGeom>
              <a:avLst/>
              <a:gdLst/>
              <a:ahLst/>
              <a:cxnLst/>
              <a:rect r="r" b="b" t="t" l="l"/>
              <a:pathLst>
                <a:path h="1593725" w="2067273">
                  <a:moveTo>
                    <a:pt x="0" y="0"/>
                  </a:moveTo>
                  <a:lnTo>
                    <a:pt x="2067273" y="0"/>
                  </a:lnTo>
                  <a:lnTo>
                    <a:pt x="206727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4856" r="0" b="-1485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3041" y="2685499"/>
            <a:ext cx="2581173" cy="3542970"/>
            <a:chOff x="0" y="0"/>
            <a:chExt cx="550551" cy="7556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2"/>
              <a:stretch>
                <a:fillRect l="-7525" t="0" r="-752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08568" y="2685499"/>
            <a:ext cx="2581173" cy="3542970"/>
            <a:chOff x="0" y="0"/>
            <a:chExt cx="550551" cy="7556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3"/>
              <a:stretch>
                <a:fillRect l="-7525" t="0" r="-752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07645" y="2685499"/>
            <a:ext cx="2581173" cy="3542970"/>
            <a:chOff x="0" y="0"/>
            <a:chExt cx="550551" cy="7556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4"/>
              <a:stretch>
                <a:fillRect l="-7774" t="0" r="-777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03172" y="2685499"/>
            <a:ext cx="2581173" cy="3542970"/>
            <a:chOff x="0" y="0"/>
            <a:chExt cx="550551" cy="7556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5"/>
              <a:stretch>
                <a:fillRect l="0" t="-1370" r="0" b="-137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09751" y="6210591"/>
            <a:ext cx="2581173" cy="1963788"/>
            <a:chOff x="0" y="0"/>
            <a:chExt cx="131217" cy="998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217" cy="99831"/>
            </a:xfrm>
            <a:custGeom>
              <a:avLst/>
              <a:gdLst/>
              <a:ahLst/>
              <a:cxnLst/>
              <a:rect r="r" b="b" t="t" l="l"/>
              <a:pathLst>
                <a:path h="99831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99831"/>
                  </a:lnTo>
                  <a:lnTo>
                    <a:pt x="0" y="998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1217" cy="137931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3041" y="6210591"/>
            <a:ext cx="2581173" cy="1963788"/>
            <a:chOff x="0" y="0"/>
            <a:chExt cx="131217" cy="998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1217" cy="99831"/>
            </a:xfrm>
            <a:custGeom>
              <a:avLst/>
              <a:gdLst/>
              <a:ahLst/>
              <a:cxnLst/>
              <a:rect r="r" b="b" t="t" l="l"/>
              <a:pathLst>
                <a:path h="99831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99831"/>
                  </a:lnTo>
                  <a:lnTo>
                    <a:pt x="0" y="998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1217" cy="137931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03172" y="6210591"/>
            <a:ext cx="2581173" cy="1963788"/>
            <a:chOff x="0" y="0"/>
            <a:chExt cx="131217" cy="998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217" cy="99831"/>
            </a:xfrm>
            <a:custGeom>
              <a:avLst/>
              <a:gdLst/>
              <a:ahLst/>
              <a:cxnLst/>
              <a:rect r="r" b="b" t="t" l="l"/>
              <a:pathLst>
                <a:path h="99831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99831"/>
                  </a:lnTo>
                  <a:lnTo>
                    <a:pt x="0" y="998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1217" cy="137931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06462" y="6210591"/>
            <a:ext cx="2581173" cy="1963788"/>
            <a:chOff x="0" y="0"/>
            <a:chExt cx="131217" cy="998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217" cy="99831"/>
            </a:xfrm>
            <a:custGeom>
              <a:avLst/>
              <a:gdLst/>
              <a:ahLst/>
              <a:cxnLst/>
              <a:rect r="r" b="b" t="t" l="l"/>
              <a:pathLst>
                <a:path h="99831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99831"/>
                  </a:lnTo>
                  <a:lnTo>
                    <a:pt x="0" y="998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1217" cy="137931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97076" y="2685499"/>
            <a:ext cx="2581173" cy="3542970"/>
            <a:chOff x="0" y="0"/>
            <a:chExt cx="550551" cy="7556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6"/>
              <a:stretch>
                <a:fillRect l="0" t="-849" r="0" b="-849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092603" y="2685499"/>
            <a:ext cx="2581173" cy="3542970"/>
            <a:chOff x="0" y="0"/>
            <a:chExt cx="550551" cy="7556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0551" cy="755697"/>
            </a:xfrm>
            <a:custGeom>
              <a:avLst/>
              <a:gdLst/>
              <a:ahLst/>
              <a:cxnLst/>
              <a:rect r="r" b="b" t="t" l="l"/>
              <a:pathLst>
                <a:path h="755697" w="550551">
                  <a:moveTo>
                    <a:pt x="0" y="0"/>
                  </a:moveTo>
                  <a:lnTo>
                    <a:pt x="550551" y="0"/>
                  </a:lnTo>
                  <a:lnTo>
                    <a:pt x="550551" y="755697"/>
                  </a:lnTo>
                  <a:lnTo>
                    <a:pt x="0" y="755697"/>
                  </a:lnTo>
                  <a:close/>
                </a:path>
              </a:pathLst>
            </a:custGeom>
            <a:blipFill>
              <a:blip r:embed="rId7"/>
              <a:stretch>
                <a:fillRect l="0" t="-978" r="0" b="-97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093786" y="6210591"/>
            <a:ext cx="2581173" cy="1963788"/>
            <a:chOff x="0" y="0"/>
            <a:chExt cx="131217" cy="998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1217" cy="99831"/>
            </a:xfrm>
            <a:custGeom>
              <a:avLst/>
              <a:gdLst/>
              <a:ahLst/>
              <a:cxnLst/>
              <a:rect r="r" b="b" t="t" l="l"/>
              <a:pathLst>
                <a:path h="99831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99831"/>
                  </a:lnTo>
                  <a:lnTo>
                    <a:pt x="0" y="998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1217" cy="137931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197076" y="6210591"/>
            <a:ext cx="2581173" cy="1963788"/>
            <a:chOff x="0" y="0"/>
            <a:chExt cx="131217" cy="998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1217" cy="99831"/>
            </a:xfrm>
            <a:custGeom>
              <a:avLst/>
              <a:gdLst/>
              <a:ahLst/>
              <a:cxnLst/>
              <a:rect r="r" b="b" t="t" l="l"/>
              <a:pathLst>
                <a:path h="99831" w="131217">
                  <a:moveTo>
                    <a:pt x="0" y="0"/>
                  </a:moveTo>
                  <a:lnTo>
                    <a:pt x="131217" y="0"/>
                  </a:lnTo>
                  <a:lnTo>
                    <a:pt x="131217" y="99831"/>
                  </a:lnTo>
                  <a:lnTo>
                    <a:pt x="0" y="998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31217" cy="137931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897" t="-62971" r="-134602" b="-72731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30497" y="6659467"/>
            <a:ext cx="1746260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Bozetti Santiago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64000" y="6434263"/>
            <a:ext cx="2479254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Gustavo Rucaglia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795428" y="6659467"/>
            <a:ext cx="2009818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 Silva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32667" y="6434263"/>
            <a:ext cx="2335342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Kayke Rodrigues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11120" y="6659467"/>
            <a:ext cx="1971856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Feitosa da Silva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524758" y="6434263"/>
            <a:ext cx="2344580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Leonardo Tomas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20629" y="6659467"/>
            <a:ext cx="1746260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Aranega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20629" y="6434263"/>
            <a:ext cx="1746260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Luana Tejon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14533" y="6659467"/>
            <a:ext cx="1746260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Bambino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248035" y="6434263"/>
            <a:ext cx="2479254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Paulo Henrique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379464" y="6659467"/>
            <a:ext cx="2009818" cy="25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45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 Silva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216702" y="6434263"/>
            <a:ext cx="2335342" cy="22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Rafael Alexandre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6493310" y="7302266"/>
            <a:ext cx="2419337" cy="610042"/>
          </a:xfrm>
          <a:custGeom>
            <a:avLst/>
            <a:gdLst/>
            <a:ahLst/>
            <a:cxnLst/>
            <a:rect r="r" b="b" t="t" l="l"/>
            <a:pathLst>
              <a:path h="610042" w="2419337">
                <a:moveTo>
                  <a:pt x="0" y="0"/>
                </a:moveTo>
                <a:lnTo>
                  <a:pt x="2419337" y="0"/>
                </a:lnTo>
                <a:lnTo>
                  <a:pt x="2419337" y="610042"/>
                </a:lnTo>
                <a:lnTo>
                  <a:pt x="0" y="6100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3" t="0" r="-13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3576729" y="7376567"/>
            <a:ext cx="2458257" cy="471296"/>
          </a:xfrm>
          <a:custGeom>
            <a:avLst/>
            <a:gdLst/>
            <a:ahLst/>
            <a:cxnLst/>
            <a:rect r="r" b="b" t="t" l="l"/>
            <a:pathLst>
              <a:path h="471296" w="2458257">
                <a:moveTo>
                  <a:pt x="0" y="0"/>
                </a:moveTo>
                <a:lnTo>
                  <a:pt x="2458258" y="0"/>
                </a:lnTo>
                <a:lnTo>
                  <a:pt x="2458258" y="471295"/>
                </a:lnTo>
                <a:lnTo>
                  <a:pt x="0" y="4712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3" t="0" r="-13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716105" y="7208848"/>
            <a:ext cx="2393596" cy="629489"/>
          </a:xfrm>
          <a:custGeom>
            <a:avLst/>
            <a:gdLst/>
            <a:ahLst/>
            <a:cxnLst/>
            <a:rect r="r" b="b" t="t" l="l"/>
            <a:pathLst>
              <a:path h="629489" w="2393596">
                <a:moveTo>
                  <a:pt x="0" y="0"/>
                </a:moveTo>
                <a:lnTo>
                  <a:pt x="2393596" y="0"/>
                </a:lnTo>
                <a:lnTo>
                  <a:pt x="2393596" y="629489"/>
                </a:lnTo>
                <a:lnTo>
                  <a:pt x="0" y="62948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3" t="0" r="-13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5187824" y="7192485"/>
            <a:ext cx="2384804" cy="754774"/>
          </a:xfrm>
          <a:custGeom>
            <a:avLst/>
            <a:gdLst/>
            <a:ahLst/>
            <a:cxnLst/>
            <a:rect r="r" b="b" t="t" l="l"/>
            <a:pathLst>
              <a:path h="754774" w="2384804">
                <a:moveTo>
                  <a:pt x="0" y="0"/>
                </a:moveTo>
                <a:lnTo>
                  <a:pt x="2384804" y="0"/>
                </a:lnTo>
                <a:lnTo>
                  <a:pt x="2384804" y="754775"/>
                </a:lnTo>
                <a:lnTo>
                  <a:pt x="0" y="754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3" t="0" r="-13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647392" y="505458"/>
            <a:ext cx="1033274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NOSSA EQUIPE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2284395" y="7272304"/>
            <a:ext cx="2419337" cy="610042"/>
          </a:xfrm>
          <a:custGeom>
            <a:avLst/>
            <a:gdLst/>
            <a:ahLst/>
            <a:cxnLst/>
            <a:rect r="r" b="b" t="t" l="l"/>
            <a:pathLst>
              <a:path h="610042" w="2419337">
                <a:moveTo>
                  <a:pt x="0" y="0"/>
                </a:moveTo>
                <a:lnTo>
                  <a:pt x="2419337" y="0"/>
                </a:lnTo>
                <a:lnTo>
                  <a:pt x="2419337" y="610042"/>
                </a:lnTo>
                <a:lnTo>
                  <a:pt x="0" y="6100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3" t="0" r="-13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387684" y="7234827"/>
            <a:ext cx="2384804" cy="754774"/>
          </a:xfrm>
          <a:custGeom>
            <a:avLst/>
            <a:gdLst/>
            <a:ahLst/>
            <a:cxnLst/>
            <a:rect r="r" b="b" t="t" l="l"/>
            <a:pathLst>
              <a:path h="754774" w="2384804">
                <a:moveTo>
                  <a:pt x="0" y="0"/>
                </a:moveTo>
                <a:lnTo>
                  <a:pt x="2384804" y="0"/>
                </a:lnTo>
                <a:lnTo>
                  <a:pt x="2384804" y="754775"/>
                </a:lnTo>
                <a:lnTo>
                  <a:pt x="0" y="754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3" t="0" r="-13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7392" y="505458"/>
            <a:ext cx="1033274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CONTEXTUALIZAÇÃO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47392" y="1518887"/>
            <a:ext cx="17371483" cy="3092644"/>
            <a:chOff x="0" y="0"/>
            <a:chExt cx="641266" cy="1141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1266" cy="114165"/>
            </a:xfrm>
            <a:custGeom>
              <a:avLst/>
              <a:gdLst/>
              <a:ahLst/>
              <a:cxnLst/>
              <a:rect r="r" b="b" t="t" l="l"/>
              <a:pathLst>
                <a:path h="114165" w="641266">
                  <a:moveTo>
                    <a:pt x="0" y="0"/>
                  </a:moveTo>
                  <a:lnTo>
                    <a:pt x="641266" y="0"/>
                  </a:lnTo>
                  <a:lnTo>
                    <a:pt x="641266" y="114165"/>
                  </a:lnTo>
                  <a:lnTo>
                    <a:pt x="0" y="114165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41266" cy="152265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3450" y="1927716"/>
            <a:ext cx="331608" cy="333848"/>
            <a:chOff x="0" y="0"/>
            <a:chExt cx="807344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06143" y="1933860"/>
            <a:ext cx="15844480" cy="28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Setor Imobiliário e sua relação direta com IDHM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regiões com IDH baixo podem enfrentar maiores dificuldades em atrair investidores e compradores fator crucial levado em conta por construtoras, segundo dados da  fipzap.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647392" y="4976907"/>
            <a:ext cx="17371483" cy="4397216"/>
            <a:chOff x="0" y="0"/>
            <a:chExt cx="641223" cy="1623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1223" cy="162352"/>
            </a:xfrm>
            <a:custGeom>
              <a:avLst/>
              <a:gdLst/>
              <a:ahLst/>
              <a:cxnLst/>
              <a:rect r="r" b="b" t="t" l="l"/>
              <a:pathLst>
                <a:path h="162352" w="641223">
                  <a:moveTo>
                    <a:pt x="641223" y="0"/>
                  </a:moveTo>
                  <a:lnTo>
                    <a:pt x="641223" y="162352"/>
                  </a:lnTo>
                  <a:lnTo>
                    <a:pt x="0" y="1623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1223" cy="200452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61317" y="4938045"/>
            <a:ext cx="16165279" cy="494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segurança como fator de desenvolvimento regional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Imóveis em áreas de alta criminalidade podem sofrer</a:t>
            </a:r>
            <a:r>
              <a:rPr lang="en-US" sz="3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desvalorização</a:t>
            </a: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até </a:t>
            </a:r>
            <a:r>
              <a:rPr lang="en-US" sz="3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~30%</a:t>
            </a: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segundo dados do Fórum Brasileiro de Segurança Pública e IPEA.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Bayer &amp; Dantas analisaram bairros no RN em que área com altas taxas de roubos e furtos, as pessoas buscam solucionar o problema com morádias em côndominios.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33450" y="5348955"/>
            <a:ext cx="331608" cy="333848"/>
            <a:chOff x="0" y="0"/>
            <a:chExt cx="807344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7392" y="534033"/>
            <a:ext cx="1221317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ENTREVISTA REALIZADA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47392" y="2030912"/>
            <a:ext cx="7906363" cy="7227388"/>
            <a:chOff x="0" y="0"/>
            <a:chExt cx="291862" cy="266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862" cy="266798"/>
            </a:xfrm>
            <a:custGeom>
              <a:avLst/>
              <a:gdLst/>
              <a:ahLst/>
              <a:cxnLst/>
              <a:rect r="r" b="b" t="t" l="l"/>
              <a:pathLst>
                <a:path h="266798" w="291862">
                  <a:moveTo>
                    <a:pt x="0" y="0"/>
                  </a:moveTo>
                  <a:lnTo>
                    <a:pt x="291862" y="0"/>
                  </a:lnTo>
                  <a:lnTo>
                    <a:pt x="291862" y="266798"/>
                  </a:lnTo>
                  <a:lnTo>
                    <a:pt x="0" y="266798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1862" cy="30489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621938"/>
            <a:ext cx="7196039" cy="637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sz="3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Para entendermos melhor o problema realizamos uma visita agendada com a Elizangela Aranega que afirmou que a criminalidade afeta sim a venda e compra de imóveis.</a:t>
            </a: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  <a:r>
              <a:rPr lang="en-US" sz="3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Principais informações do setor:</a:t>
            </a:r>
          </a:p>
          <a:p>
            <a:pPr algn="l">
              <a:lnSpc>
                <a:spcPts val="2843"/>
              </a:lnSpc>
            </a:pPr>
          </a:p>
          <a:p>
            <a:pPr algn="l" marL="682020" indent="-341010" lvl="1">
              <a:lnSpc>
                <a:spcPts val="2843"/>
              </a:lnSpc>
              <a:buFont typeface="Arial"/>
              <a:buChar char="•"/>
            </a:pPr>
            <a:r>
              <a:rPr lang="en-US" sz="3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b="true" sz="315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crimanilidade</a:t>
            </a:r>
            <a:r>
              <a:rPr lang="en-US" sz="3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é um dos principais </a:t>
            </a:r>
            <a:r>
              <a:rPr lang="en-US" b="true" sz="315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fatores</a:t>
            </a:r>
            <a:r>
              <a:rPr lang="en-US" sz="3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na decisão dos compradores, afetando o valor do imóvel.</a:t>
            </a:r>
          </a:p>
          <a:p>
            <a:pPr algn="l">
              <a:lnSpc>
                <a:spcPts val="2843"/>
              </a:lnSpc>
            </a:pPr>
          </a:p>
          <a:p>
            <a:pPr algn="l" marL="682020" indent="-341010" lvl="1">
              <a:lnSpc>
                <a:spcPts val="2843"/>
              </a:lnSpc>
              <a:buFont typeface="Arial"/>
              <a:buChar char="•"/>
            </a:pPr>
            <a:r>
              <a:rPr lang="en-US" sz="3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Sugestão de permitir que corretores avaliem e forneçam um feedback de cada local.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4246" y="2030912"/>
            <a:ext cx="7525054" cy="7227388"/>
            <a:chOff x="0" y="0"/>
            <a:chExt cx="277786" cy="2667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7786" cy="266798"/>
            </a:xfrm>
            <a:custGeom>
              <a:avLst/>
              <a:gdLst/>
              <a:ahLst/>
              <a:cxnLst/>
              <a:rect r="r" b="b" t="t" l="l"/>
              <a:pathLst>
                <a:path h="266798" w="277786">
                  <a:moveTo>
                    <a:pt x="0" y="0"/>
                  </a:moveTo>
                  <a:lnTo>
                    <a:pt x="277786" y="0"/>
                  </a:lnTo>
                  <a:lnTo>
                    <a:pt x="277786" y="266798"/>
                  </a:lnTo>
                  <a:lnTo>
                    <a:pt x="0" y="266798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7786" cy="30489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212926" y="2621938"/>
            <a:ext cx="256769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ELIZANGELA</a:t>
            </a:r>
            <a:r>
              <a:rPr lang="en-US" b="true" sz="3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ARANEGA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656125" y="3743928"/>
            <a:ext cx="3681296" cy="4908395"/>
          </a:xfrm>
          <a:custGeom>
            <a:avLst/>
            <a:gdLst/>
            <a:ahLst/>
            <a:cxnLst/>
            <a:rect r="r" b="b" t="t" l="l"/>
            <a:pathLst>
              <a:path h="4908395" w="3681296">
                <a:moveTo>
                  <a:pt x="0" y="0"/>
                </a:moveTo>
                <a:lnTo>
                  <a:pt x="3681296" y="0"/>
                </a:lnTo>
                <a:lnTo>
                  <a:pt x="3681296" y="4908395"/>
                </a:lnTo>
                <a:lnTo>
                  <a:pt x="0" y="4908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380" y="1497649"/>
            <a:ext cx="5640950" cy="8233532"/>
          </a:xfrm>
          <a:custGeom>
            <a:avLst/>
            <a:gdLst/>
            <a:ahLst/>
            <a:cxnLst/>
            <a:rect r="r" b="b" t="t" l="l"/>
            <a:pathLst>
              <a:path h="8233532" w="5640950">
                <a:moveTo>
                  <a:pt x="0" y="0"/>
                </a:moveTo>
                <a:lnTo>
                  <a:pt x="5640950" y="0"/>
                </a:lnTo>
                <a:lnTo>
                  <a:pt x="5640950" y="8233531"/>
                </a:lnTo>
                <a:lnTo>
                  <a:pt x="0" y="8233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958" r="0" b="-8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95323" y="5219358"/>
            <a:ext cx="1934493" cy="561003"/>
          </a:xfrm>
          <a:custGeom>
            <a:avLst/>
            <a:gdLst/>
            <a:ahLst/>
            <a:cxnLst/>
            <a:rect r="r" b="b" t="t" l="l"/>
            <a:pathLst>
              <a:path h="561003" w="1934493">
                <a:moveTo>
                  <a:pt x="0" y="0"/>
                </a:moveTo>
                <a:lnTo>
                  <a:pt x="1934493" y="0"/>
                </a:lnTo>
                <a:lnTo>
                  <a:pt x="1934493" y="561003"/>
                </a:lnTo>
                <a:lnTo>
                  <a:pt x="0" y="56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37770" y="1618145"/>
            <a:ext cx="123539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IDHM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035366" y="1741970"/>
            <a:ext cx="7103857" cy="7703962"/>
          </a:xfrm>
          <a:custGeom>
            <a:avLst/>
            <a:gdLst/>
            <a:ahLst/>
            <a:cxnLst/>
            <a:rect r="r" b="b" t="t" l="l"/>
            <a:pathLst>
              <a:path h="7703962" w="7103857">
                <a:moveTo>
                  <a:pt x="0" y="0"/>
                </a:moveTo>
                <a:lnTo>
                  <a:pt x="7103857" y="0"/>
                </a:lnTo>
                <a:lnTo>
                  <a:pt x="7103857" y="7703962"/>
                </a:lnTo>
                <a:lnTo>
                  <a:pt x="0" y="7703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0694" t="0" r="-10540" b="-539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567708" y="1805470"/>
            <a:ext cx="344555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PREÇO / METRO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7392" y="505458"/>
            <a:ext cx="1033274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CONTEXTUALIZAÇÃO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380" y="1553787"/>
            <a:ext cx="5755580" cy="7892145"/>
          </a:xfrm>
          <a:custGeom>
            <a:avLst/>
            <a:gdLst/>
            <a:ahLst/>
            <a:cxnLst/>
            <a:rect r="r" b="b" t="t" l="l"/>
            <a:pathLst>
              <a:path h="7892145" w="5755580">
                <a:moveTo>
                  <a:pt x="0" y="0"/>
                </a:moveTo>
                <a:lnTo>
                  <a:pt x="5755580" y="0"/>
                </a:lnTo>
                <a:lnTo>
                  <a:pt x="5755580" y="7892145"/>
                </a:lnTo>
                <a:lnTo>
                  <a:pt x="0" y="7892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014" r="-5366" b="-239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53354" y="1549882"/>
            <a:ext cx="163663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CRIMES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7392" y="505458"/>
            <a:ext cx="1033274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CONTEXTUALIZAÇÃO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295323" y="5219358"/>
            <a:ext cx="1934493" cy="561003"/>
          </a:xfrm>
          <a:custGeom>
            <a:avLst/>
            <a:gdLst/>
            <a:ahLst/>
            <a:cxnLst/>
            <a:rect r="r" b="b" t="t" l="l"/>
            <a:pathLst>
              <a:path h="561003" w="1934493">
                <a:moveTo>
                  <a:pt x="0" y="0"/>
                </a:moveTo>
                <a:lnTo>
                  <a:pt x="1934493" y="0"/>
                </a:lnTo>
                <a:lnTo>
                  <a:pt x="1934493" y="561003"/>
                </a:lnTo>
                <a:lnTo>
                  <a:pt x="0" y="56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35366" y="1741970"/>
            <a:ext cx="7103857" cy="7703962"/>
          </a:xfrm>
          <a:custGeom>
            <a:avLst/>
            <a:gdLst/>
            <a:ahLst/>
            <a:cxnLst/>
            <a:rect r="r" b="b" t="t" l="l"/>
            <a:pathLst>
              <a:path h="7703962" w="7103857">
                <a:moveTo>
                  <a:pt x="0" y="0"/>
                </a:moveTo>
                <a:lnTo>
                  <a:pt x="7103857" y="0"/>
                </a:lnTo>
                <a:lnTo>
                  <a:pt x="7103857" y="7703962"/>
                </a:lnTo>
                <a:lnTo>
                  <a:pt x="0" y="7703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0694" t="0" r="-10540" b="-539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567708" y="1805470"/>
            <a:ext cx="344555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PREÇO / METRO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04810" y="1919110"/>
            <a:ext cx="14678380" cy="7339190"/>
            <a:chOff x="0" y="0"/>
            <a:chExt cx="19571173" cy="97855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71173" cy="9785586"/>
            </a:xfrm>
            <a:custGeom>
              <a:avLst/>
              <a:gdLst/>
              <a:ahLst/>
              <a:cxnLst/>
              <a:rect r="r" b="b" t="t" l="l"/>
              <a:pathLst>
                <a:path h="9785586" w="19571173">
                  <a:moveTo>
                    <a:pt x="0" y="0"/>
                  </a:moveTo>
                  <a:lnTo>
                    <a:pt x="19571173" y="0"/>
                  </a:lnTo>
                  <a:lnTo>
                    <a:pt x="19571173" y="9785586"/>
                  </a:lnTo>
                  <a:lnTo>
                    <a:pt x="0" y="97855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7728186" y="919941"/>
              <a:ext cx="3952941" cy="1012510"/>
              <a:chOff x="0" y="0"/>
              <a:chExt cx="780828" cy="20000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80828" cy="200002"/>
              </a:xfrm>
              <a:custGeom>
                <a:avLst/>
                <a:gdLst/>
                <a:ahLst/>
                <a:cxnLst/>
                <a:rect r="r" b="b" t="t" l="l"/>
                <a:pathLst>
                  <a:path h="200002" w="780828">
                    <a:moveTo>
                      <a:pt x="0" y="0"/>
                    </a:moveTo>
                    <a:lnTo>
                      <a:pt x="780828" y="0"/>
                    </a:lnTo>
                    <a:lnTo>
                      <a:pt x="780828" y="200002"/>
                    </a:lnTo>
                    <a:lnTo>
                      <a:pt x="0" y="20000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780828" cy="2381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8" id="8"/>
          <p:cNvSpPr txBox="true"/>
          <p:nvPr/>
        </p:nvSpPr>
        <p:spPr>
          <a:xfrm rot="0">
            <a:off x="647392" y="534033"/>
            <a:ext cx="1170641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0525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METODOLOGIA SCRUM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7392" y="534033"/>
            <a:ext cx="74485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FERRAMENTAS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64600" y="3202252"/>
            <a:ext cx="4999272" cy="6056048"/>
            <a:chOff x="0" y="0"/>
            <a:chExt cx="184547" cy="223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4547" cy="223558"/>
            </a:xfrm>
            <a:custGeom>
              <a:avLst/>
              <a:gdLst/>
              <a:ahLst/>
              <a:cxnLst/>
              <a:rect r="r" b="b" t="t" l="l"/>
              <a:pathLst>
                <a:path h="223558" w="184547">
                  <a:moveTo>
                    <a:pt x="0" y="0"/>
                  </a:moveTo>
                  <a:lnTo>
                    <a:pt x="184547" y="0"/>
                  </a:lnTo>
                  <a:lnTo>
                    <a:pt x="184547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4547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44364" y="3202252"/>
            <a:ext cx="4999272" cy="6056048"/>
            <a:chOff x="0" y="0"/>
            <a:chExt cx="184547" cy="2235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4547" cy="223558"/>
            </a:xfrm>
            <a:custGeom>
              <a:avLst/>
              <a:gdLst/>
              <a:ahLst/>
              <a:cxnLst/>
              <a:rect r="r" b="b" t="t" l="l"/>
              <a:pathLst>
                <a:path h="223558" w="184547">
                  <a:moveTo>
                    <a:pt x="0" y="0"/>
                  </a:moveTo>
                  <a:lnTo>
                    <a:pt x="184547" y="0"/>
                  </a:lnTo>
                  <a:lnTo>
                    <a:pt x="184547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4547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24128" y="3202252"/>
            <a:ext cx="4999272" cy="6056048"/>
            <a:chOff x="0" y="0"/>
            <a:chExt cx="184547" cy="2235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4547" cy="223558"/>
            </a:xfrm>
            <a:custGeom>
              <a:avLst/>
              <a:gdLst/>
              <a:ahLst/>
              <a:cxnLst/>
              <a:rect r="r" b="b" t="t" l="l"/>
              <a:pathLst>
                <a:path h="223558" w="184547">
                  <a:moveTo>
                    <a:pt x="0" y="0"/>
                  </a:moveTo>
                  <a:lnTo>
                    <a:pt x="184547" y="0"/>
                  </a:lnTo>
                  <a:lnTo>
                    <a:pt x="184547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4547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912873" y="5252486"/>
            <a:ext cx="2093066" cy="2093066"/>
          </a:xfrm>
          <a:custGeom>
            <a:avLst/>
            <a:gdLst/>
            <a:ahLst/>
            <a:cxnLst/>
            <a:rect r="r" b="b" t="t" l="l"/>
            <a:pathLst>
              <a:path h="2093066" w="2093066">
                <a:moveTo>
                  <a:pt x="0" y="0"/>
                </a:moveTo>
                <a:lnTo>
                  <a:pt x="2093066" y="0"/>
                </a:lnTo>
                <a:lnTo>
                  <a:pt x="2093066" y="2093066"/>
                </a:lnTo>
                <a:lnTo>
                  <a:pt x="0" y="2093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095941" y="5252486"/>
            <a:ext cx="2092676" cy="2092676"/>
          </a:xfrm>
          <a:custGeom>
            <a:avLst/>
            <a:gdLst/>
            <a:ahLst/>
            <a:cxnLst/>
            <a:rect r="r" b="b" t="t" l="l"/>
            <a:pathLst>
              <a:path h="2092676" w="2092676">
                <a:moveTo>
                  <a:pt x="0" y="0"/>
                </a:moveTo>
                <a:lnTo>
                  <a:pt x="2092675" y="0"/>
                </a:lnTo>
                <a:lnTo>
                  <a:pt x="2092675" y="2092676"/>
                </a:lnTo>
                <a:lnTo>
                  <a:pt x="0" y="2092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4273788" y="5252486"/>
            <a:ext cx="2099952" cy="1955580"/>
          </a:xfrm>
          <a:custGeom>
            <a:avLst/>
            <a:gdLst/>
            <a:ahLst/>
            <a:cxnLst/>
            <a:rect r="r" b="b" t="t" l="l"/>
            <a:pathLst>
              <a:path h="1955580" w="2099952">
                <a:moveTo>
                  <a:pt x="0" y="0"/>
                </a:moveTo>
                <a:lnTo>
                  <a:pt x="2099952" y="0"/>
                </a:lnTo>
                <a:lnTo>
                  <a:pt x="2099952" y="1955580"/>
                </a:lnTo>
                <a:lnTo>
                  <a:pt x="0" y="1955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60610" y="1246579"/>
            <a:ext cx="13957694" cy="8583982"/>
          </a:xfrm>
          <a:custGeom>
            <a:avLst/>
            <a:gdLst/>
            <a:ahLst/>
            <a:cxnLst/>
            <a:rect r="r" b="b" t="t" l="l"/>
            <a:pathLst>
              <a:path h="8583982" w="13957694">
                <a:moveTo>
                  <a:pt x="0" y="0"/>
                </a:moveTo>
                <a:lnTo>
                  <a:pt x="13957694" y="0"/>
                </a:lnTo>
                <a:lnTo>
                  <a:pt x="13957694" y="8583982"/>
                </a:lnTo>
                <a:lnTo>
                  <a:pt x="0" y="8583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60610" y="534033"/>
            <a:ext cx="74485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GITHUB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6604" y="1995757"/>
            <a:ext cx="17372695" cy="5081513"/>
          </a:xfrm>
          <a:custGeom>
            <a:avLst/>
            <a:gdLst/>
            <a:ahLst/>
            <a:cxnLst/>
            <a:rect r="r" b="b" t="t" l="l"/>
            <a:pathLst>
              <a:path h="5081513" w="17372695">
                <a:moveTo>
                  <a:pt x="0" y="0"/>
                </a:moveTo>
                <a:lnTo>
                  <a:pt x="17372695" y="0"/>
                </a:lnTo>
                <a:lnTo>
                  <a:pt x="17372695" y="5081513"/>
                </a:lnTo>
                <a:lnTo>
                  <a:pt x="0" y="508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40239" y="675631"/>
            <a:ext cx="74485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PLANNER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829385"/>
            <a:ext cx="18269317" cy="6428915"/>
          </a:xfrm>
          <a:custGeom>
            <a:avLst/>
            <a:gdLst/>
            <a:ahLst/>
            <a:cxnLst/>
            <a:rect r="r" b="b" t="t" l="l"/>
            <a:pathLst>
              <a:path h="6428915" w="18269317">
                <a:moveTo>
                  <a:pt x="0" y="0"/>
                </a:moveTo>
                <a:lnTo>
                  <a:pt x="18269317" y="0"/>
                </a:lnTo>
                <a:lnTo>
                  <a:pt x="18269317" y="6428915"/>
                </a:lnTo>
                <a:lnTo>
                  <a:pt x="0" y="6428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731" r="-2848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97" t="-62971" r="-134602" b="-7273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5912" y="846836"/>
            <a:ext cx="1049941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BACKLOG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536408"/>
            <a:ext cx="18288000" cy="2560320"/>
          </a:xfrm>
          <a:custGeom>
            <a:avLst/>
            <a:gdLst/>
            <a:ahLst/>
            <a:cxnLst/>
            <a:rect r="r" b="b" t="t" l="l"/>
            <a:pathLst>
              <a:path h="2560320" w="18288000">
                <a:moveTo>
                  <a:pt x="0" y="0"/>
                </a:moveTo>
                <a:lnTo>
                  <a:pt x="18288000" y="0"/>
                </a:lnTo>
                <a:lnTo>
                  <a:pt x="18288000" y="2560320"/>
                </a:lnTo>
                <a:lnTo>
                  <a:pt x="0" y="2560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5912" y="846836"/>
            <a:ext cx="1049941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BACKLOG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5979" y="1690952"/>
            <a:ext cx="16912242" cy="7906473"/>
          </a:xfrm>
          <a:custGeom>
            <a:avLst/>
            <a:gdLst/>
            <a:ahLst/>
            <a:cxnLst/>
            <a:rect r="r" b="b" t="t" l="l"/>
            <a:pathLst>
              <a:path h="7906473" w="16912242">
                <a:moveTo>
                  <a:pt x="0" y="0"/>
                </a:moveTo>
                <a:lnTo>
                  <a:pt x="16912242" y="0"/>
                </a:lnTo>
                <a:lnTo>
                  <a:pt x="16912242" y="7906473"/>
                </a:lnTo>
                <a:lnTo>
                  <a:pt x="0" y="7906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7392" y="534033"/>
            <a:ext cx="148780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ARQUITETURA DA SOLUÇÃO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51655" y="1633695"/>
            <a:ext cx="5772139" cy="8196866"/>
          </a:xfrm>
          <a:custGeom>
            <a:avLst/>
            <a:gdLst/>
            <a:ahLst/>
            <a:cxnLst/>
            <a:rect r="r" b="b" t="t" l="l"/>
            <a:pathLst>
              <a:path h="8196866" w="5772139">
                <a:moveTo>
                  <a:pt x="0" y="0"/>
                </a:moveTo>
                <a:lnTo>
                  <a:pt x="5772139" y="0"/>
                </a:lnTo>
                <a:lnTo>
                  <a:pt x="5772139" y="8196866"/>
                </a:lnTo>
                <a:lnTo>
                  <a:pt x="0" y="8196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72462" y="1633695"/>
            <a:ext cx="5663882" cy="8196866"/>
          </a:xfrm>
          <a:custGeom>
            <a:avLst/>
            <a:gdLst/>
            <a:ahLst/>
            <a:cxnLst/>
            <a:rect r="r" b="b" t="t" l="l"/>
            <a:pathLst>
              <a:path h="8196866" w="5663882">
                <a:moveTo>
                  <a:pt x="0" y="0"/>
                </a:moveTo>
                <a:lnTo>
                  <a:pt x="5663883" y="0"/>
                </a:lnTo>
                <a:lnTo>
                  <a:pt x="5663883" y="8196866"/>
                </a:lnTo>
                <a:lnTo>
                  <a:pt x="0" y="8196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6105" y="549676"/>
            <a:ext cx="868369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DOCUMENTAÇÃO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53986" y="1429383"/>
            <a:ext cx="14580027" cy="8583991"/>
          </a:xfrm>
          <a:custGeom>
            <a:avLst/>
            <a:gdLst/>
            <a:ahLst/>
            <a:cxnLst/>
            <a:rect r="r" b="b" t="t" l="l"/>
            <a:pathLst>
              <a:path h="8583991" w="14580027">
                <a:moveTo>
                  <a:pt x="0" y="0"/>
                </a:moveTo>
                <a:lnTo>
                  <a:pt x="14580028" y="0"/>
                </a:lnTo>
                <a:lnTo>
                  <a:pt x="14580028" y="8583991"/>
                </a:lnTo>
                <a:lnTo>
                  <a:pt x="0" y="8583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7392" y="534033"/>
            <a:ext cx="959133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08353" y="1553380"/>
            <a:ext cx="12233462" cy="8547589"/>
          </a:xfrm>
          <a:custGeom>
            <a:avLst/>
            <a:gdLst/>
            <a:ahLst/>
            <a:cxnLst/>
            <a:rect r="r" b="b" t="t" l="l"/>
            <a:pathLst>
              <a:path h="8547589" w="12233462">
                <a:moveTo>
                  <a:pt x="0" y="0"/>
                </a:moveTo>
                <a:lnTo>
                  <a:pt x="12233462" y="0"/>
                </a:lnTo>
                <a:lnTo>
                  <a:pt x="12233462" y="8547589"/>
                </a:lnTo>
                <a:lnTo>
                  <a:pt x="0" y="8547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82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97" t="-62971" r="-134602" b="-7273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7392" y="534033"/>
            <a:ext cx="148780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CLASSES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4855" y="1553380"/>
            <a:ext cx="5231809" cy="8547589"/>
            <a:chOff x="0" y="0"/>
            <a:chExt cx="193131" cy="3155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3131" cy="315533"/>
            </a:xfrm>
            <a:custGeom>
              <a:avLst/>
              <a:gdLst/>
              <a:ahLst/>
              <a:cxnLst/>
              <a:rect r="r" b="b" t="t" l="l"/>
              <a:pathLst>
                <a:path h="315533" w="193131">
                  <a:moveTo>
                    <a:pt x="0" y="0"/>
                  </a:moveTo>
                  <a:lnTo>
                    <a:pt x="193131" y="0"/>
                  </a:lnTo>
                  <a:lnTo>
                    <a:pt x="193131" y="315533"/>
                  </a:lnTo>
                  <a:lnTo>
                    <a:pt x="0" y="315533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3131" cy="353633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00207" y="1846395"/>
            <a:ext cx="4670257" cy="791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>
                <a:solidFill>
                  <a:srgbClr val="232325"/>
                </a:solidFill>
                <a:latin typeface="Montserrat"/>
                <a:ea typeface="Montserrat"/>
                <a:cs typeface="Montserrat"/>
                <a:sym typeface="Montserrat"/>
              </a:rPr>
              <a:t>Representa a estrutura do código da aplicação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3000">
                <a:solidFill>
                  <a:srgbClr val="232325"/>
                </a:solidFill>
                <a:latin typeface="Montserrat"/>
                <a:ea typeface="Montserrat"/>
                <a:cs typeface="Montserrat"/>
                <a:sym typeface="Montserrat"/>
              </a:rPr>
              <a:t>A entidade principal é município, que reúne informações de IDHM, população e indicadores de criminalidade. 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3000">
                <a:solidFill>
                  <a:srgbClr val="232325"/>
                </a:solidFill>
                <a:latin typeface="Montserrat"/>
                <a:ea typeface="Montserrat"/>
                <a:cs typeface="Montserrat"/>
                <a:sym typeface="Montserrat"/>
              </a:rPr>
              <a:t>Os dados são lidos de planilhas Excel por meio da classe leitor_excel, que acessa arquivos armazenados no S3. 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3000">
                <a:solidFill>
                  <a:srgbClr val="232325"/>
                </a:solidFill>
                <a:latin typeface="Montserrat"/>
                <a:ea typeface="Montserrat"/>
                <a:cs typeface="Montserrat"/>
                <a:sym typeface="Montserrat"/>
              </a:rPr>
              <a:t>Após o processamento, os dados são salvos no banco através do municipio_repository, enquanto o log_repository registra os logs da operação.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14042" y="1883414"/>
            <a:ext cx="279042" cy="280928"/>
            <a:chOff x="0" y="0"/>
            <a:chExt cx="807344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4042" y="2944584"/>
            <a:ext cx="279042" cy="280928"/>
            <a:chOff x="0" y="0"/>
            <a:chExt cx="807344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14042" y="5335933"/>
            <a:ext cx="279042" cy="280928"/>
            <a:chOff x="0" y="0"/>
            <a:chExt cx="807344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71192" y="7372289"/>
            <a:ext cx="279042" cy="280928"/>
            <a:chOff x="0" y="0"/>
            <a:chExt cx="807344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7344" cy="812800"/>
            </a:xfrm>
            <a:custGeom>
              <a:avLst/>
              <a:gdLst/>
              <a:ahLst/>
              <a:cxnLst/>
              <a:rect r="r" b="b" t="t" l="l"/>
              <a:pathLst>
                <a:path h="812800" w="807344">
                  <a:moveTo>
                    <a:pt x="403672" y="0"/>
                  </a:moveTo>
                  <a:cubicBezTo>
                    <a:pt x="180730" y="0"/>
                    <a:pt x="0" y="181951"/>
                    <a:pt x="0" y="406400"/>
                  </a:cubicBezTo>
                  <a:cubicBezTo>
                    <a:pt x="0" y="630849"/>
                    <a:pt x="180730" y="812800"/>
                    <a:pt x="403672" y="812800"/>
                  </a:cubicBezTo>
                  <a:cubicBezTo>
                    <a:pt x="626614" y="812800"/>
                    <a:pt x="807344" y="630849"/>
                    <a:pt x="807344" y="406400"/>
                  </a:cubicBezTo>
                  <a:cubicBezTo>
                    <a:pt x="807344" y="181951"/>
                    <a:pt x="626614" y="0"/>
                    <a:pt x="403672" y="0"/>
                  </a:cubicBez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5689" y="38100"/>
              <a:ext cx="655967" cy="69850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09853" y="1619324"/>
            <a:ext cx="11068294" cy="8211238"/>
          </a:xfrm>
          <a:custGeom>
            <a:avLst/>
            <a:gdLst/>
            <a:ahLst/>
            <a:cxnLst/>
            <a:rect r="r" b="b" t="t" l="l"/>
            <a:pathLst>
              <a:path h="8211238" w="11068294">
                <a:moveTo>
                  <a:pt x="0" y="0"/>
                </a:moveTo>
                <a:lnTo>
                  <a:pt x="11068294" y="0"/>
                </a:lnTo>
                <a:lnTo>
                  <a:pt x="11068294" y="8211237"/>
                </a:lnTo>
                <a:lnTo>
                  <a:pt x="0" y="8211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73" t="-739" r="-235" b="-882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7392" y="534033"/>
            <a:ext cx="148780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SEQUÊNCIA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85605" y="1391283"/>
            <a:ext cx="10716790" cy="8236917"/>
          </a:xfrm>
          <a:custGeom>
            <a:avLst/>
            <a:gdLst/>
            <a:ahLst/>
            <a:cxnLst/>
            <a:rect r="r" b="b" t="t" l="l"/>
            <a:pathLst>
              <a:path h="8236917" w="10716790">
                <a:moveTo>
                  <a:pt x="0" y="0"/>
                </a:moveTo>
                <a:lnTo>
                  <a:pt x="10716790" y="0"/>
                </a:lnTo>
                <a:lnTo>
                  <a:pt x="10716790" y="8236917"/>
                </a:lnTo>
                <a:lnTo>
                  <a:pt x="0" y="82369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55" t="0" r="0" b="-1209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7392" y="534033"/>
            <a:ext cx="148780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SEQUÊNCIA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32646" y="1391283"/>
            <a:ext cx="12022709" cy="8336806"/>
          </a:xfrm>
          <a:custGeom>
            <a:avLst/>
            <a:gdLst/>
            <a:ahLst/>
            <a:cxnLst/>
            <a:rect r="r" b="b" t="t" l="l"/>
            <a:pathLst>
              <a:path h="8336806" w="12022709">
                <a:moveTo>
                  <a:pt x="0" y="0"/>
                </a:moveTo>
                <a:lnTo>
                  <a:pt x="12022708" y="0"/>
                </a:lnTo>
                <a:lnTo>
                  <a:pt x="12022708" y="8336806"/>
                </a:lnTo>
                <a:lnTo>
                  <a:pt x="0" y="8336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162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7392" y="534033"/>
            <a:ext cx="148780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SEQUÊNCIA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6778" y="6366843"/>
            <a:ext cx="16313883" cy="3602556"/>
            <a:chOff x="0" y="0"/>
            <a:chExt cx="609844" cy="134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844" cy="134670"/>
            </a:xfrm>
            <a:custGeom>
              <a:avLst/>
              <a:gdLst/>
              <a:ahLst/>
              <a:cxnLst/>
              <a:rect r="r" b="b" t="t" l="l"/>
              <a:pathLst>
                <a:path h="134670" w="609844">
                  <a:moveTo>
                    <a:pt x="0" y="0"/>
                  </a:moveTo>
                  <a:lnTo>
                    <a:pt x="609844" y="0"/>
                  </a:lnTo>
                  <a:lnTo>
                    <a:pt x="609844" y="134670"/>
                  </a:lnTo>
                  <a:lnTo>
                    <a:pt x="0" y="134670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9844" cy="17277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5303" y="6042699"/>
            <a:ext cx="4407147" cy="648287"/>
            <a:chOff x="0" y="0"/>
            <a:chExt cx="164748" cy="242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48" cy="24234"/>
            </a:xfrm>
            <a:custGeom>
              <a:avLst/>
              <a:gdLst/>
              <a:ahLst/>
              <a:cxnLst/>
              <a:rect r="r" b="b" t="t" l="l"/>
              <a:pathLst>
                <a:path h="24234" w="164748">
                  <a:moveTo>
                    <a:pt x="0" y="0"/>
                  </a:moveTo>
                  <a:lnTo>
                    <a:pt x="164748" y="0"/>
                  </a:lnTo>
                  <a:lnTo>
                    <a:pt x="164748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4748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05196" y="2017082"/>
            <a:ext cx="6717084" cy="3793067"/>
            <a:chOff x="0" y="0"/>
            <a:chExt cx="251097" cy="1417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097" cy="141792"/>
            </a:xfrm>
            <a:custGeom>
              <a:avLst/>
              <a:gdLst/>
              <a:ahLst/>
              <a:cxnLst/>
              <a:rect r="r" b="b" t="t" l="l"/>
              <a:pathLst>
                <a:path h="141792" w="251097">
                  <a:moveTo>
                    <a:pt x="0" y="0"/>
                  </a:moveTo>
                  <a:lnTo>
                    <a:pt x="251097" y="0"/>
                  </a:lnTo>
                  <a:lnTo>
                    <a:pt x="251097" y="141792"/>
                  </a:lnTo>
                  <a:lnTo>
                    <a:pt x="0" y="141792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1097" cy="179892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68757" y="1692939"/>
            <a:ext cx="1982210" cy="648287"/>
            <a:chOff x="0" y="0"/>
            <a:chExt cx="74099" cy="242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099" cy="24234"/>
            </a:xfrm>
            <a:custGeom>
              <a:avLst/>
              <a:gdLst/>
              <a:ahLst/>
              <a:cxnLst/>
              <a:rect r="r" b="b" t="t" l="l"/>
              <a:pathLst>
                <a:path h="24234" w="74099">
                  <a:moveTo>
                    <a:pt x="0" y="0"/>
                  </a:moveTo>
                  <a:lnTo>
                    <a:pt x="74099" y="0"/>
                  </a:lnTo>
                  <a:lnTo>
                    <a:pt x="74099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4099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42216" y="2017082"/>
            <a:ext cx="7138445" cy="3793067"/>
            <a:chOff x="0" y="0"/>
            <a:chExt cx="266849" cy="141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6849" cy="141792"/>
            </a:xfrm>
            <a:custGeom>
              <a:avLst/>
              <a:gdLst/>
              <a:ahLst/>
              <a:cxnLst/>
              <a:rect r="r" b="b" t="t" l="l"/>
              <a:pathLst>
                <a:path h="141792" w="266849">
                  <a:moveTo>
                    <a:pt x="0" y="0"/>
                  </a:moveTo>
                  <a:lnTo>
                    <a:pt x="266849" y="0"/>
                  </a:lnTo>
                  <a:lnTo>
                    <a:pt x="266849" y="141792"/>
                  </a:lnTo>
                  <a:lnTo>
                    <a:pt x="0" y="141792"/>
                  </a:lnTo>
                  <a:close/>
                </a:path>
              </a:pathLst>
            </a:custGeom>
            <a:solidFill>
              <a:srgbClr val="23232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66849" cy="179892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05776" y="1692939"/>
            <a:ext cx="1982210" cy="648287"/>
            <a:chOff x="0" y="0"/>
            <a:chExt cx="74099" cy="242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099" cy="24234"/>
            </a:xfrm>
            <a:custGeom>
              <a:avLst/>
              <a:gdLst/>
              <a:ahLst/>
              <a:cxnLst/>
              <a:rect r="r" b="b" t="t" l="l"/>
              <a:pathLst>
                <a:path h="24234" w="74099">
                  <a:moveTo>
                    <a:pt x="0" y="0"/>
                  </a:moveTo>
                  <a:lnTo>
                    <a:pt x="74099" y="0"/>
                  </a:lnTo>
                  <a:lnTo>
                    <a:pt x="74099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D2454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4099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71094" y="540414"/>
            <a:ext cx="933928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PROTO-PERSONA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72659" y="6226819"/>
            <a:ext cx="4399791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Dores / Necessidades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80553" y="2547109"/>
            <a:ext cx="6166372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Nome: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Teresa Cristina</a:t>
            </a:r>
          </a:p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Cargo: </a:t>
            </a: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Diretora de Investimentos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Frase:</a:t>
            </a:r>
          </a:p>
          <a:p>
            <a:pPr algn="l">
              <a:lnSpc>
                <a:spcPts val="3000"/>
              </a:lnSpc>
            </a:pPr>
            <a:r>
              <a:rPr lang="en-US" sz="200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"Não posso aprovar um novo empreendimento baseada só em feeling. Preciso de dados concretos sobre segurança e perfil da região."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76113" y="1877059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13132" y="1877059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Perfil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13132" y="2556634"/>
            <a:ext cx="6477812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Estratégica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Analítico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Toma decisões de alto impacto financeiro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Cobra previsibilidade e mitigação de risco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Trabalha com conselho e investidores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Orientada a indicadores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Tem pouco tempo para análises manuais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Valoriza dashboards claros e objetivos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65303" y="7052936"/>
            <a:ext cx="15795697" cy="240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Alto risco financeiro ao escolher uma localização inadequada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Falta de integração entre dados de criminalidade e indicadores socioeconômicos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Relatórios complexos e pouco visuais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Pressão para expandir sem comprometer a marca da empresa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Necessidade de justificar decisões com embasamento técnico</a:t>
            </a:r>
          </a:p>
          <a:p>
            <a:pPr algn="l">
              <a:lnSpc>
                <a:spcPts val="3258"/>
              </a:lnSpc>
            </a:pPr>
            <a:r>
              <a:rPr lang="en-US" sz="21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Quer reduzir subjetividade nas decisões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371094" y="2080337"/>
            <a:ext cx="2788418" cy="3666558"/>
          </a:xfrm>
          <a:custGeom>
            <a:avLst/>
            <a:gdLst/>
            <a:ahLst/>
            <a:cxnLst/>
            <a:rect r="r" b="b" t="t" l="l"/>
            <a:pathLst>
              <a:path h="3666558" w="2788418">
                <a:moveTo>
                  <a:pt x="0" y="0"/>
                </a:moveTo>
                <a:lnTo>
                  <a:pt x="2788418" y="0"/>
                </a:lnTo>
                <a:lnTo>
                  <a:pt x="2788418" y="3666558"/>
                </a:lnTo>
                <a:lnTo>
                  <a:pt x="0" y="3666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683" t="0" r="-19385" b="-43755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97" t="-62971" r="-134602" b="-72731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44364" y="3202252"/>
            <a:ext cx="4999272" cy="6056048"/>
            <a:chOff x="0" y="0"/>
            <a:chExt cx="184547" cy="223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4547" cy="223558"/>
            </a:xfrm>
            <a:custGeom>
              <a:avLst/>
              <a:gdLst/>
              <a:ahLst/>
              <a:cxnLst/>
              <a:rect r="r" b="b" t="t" l="l"/>
              <a:pathLst>
                <a:path h="223558" w="184547">
                  <a:moveTo>
                    <a:pt x="0" y="0"/>
                  </a:moveTo>
                  <a:lnTo>
                    <a:pt x="184547" y="0"/>
                  </a:lnTo>
                  <a:lnTo>
                    <a:pt x="184547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4547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839868" y="5207913"/>
            <a:ext cx="4608264" cy="2044726"/>
          </a:xfrm>
          <a:custGeom>
            <a:avLst/>
            <a:gdLst/>
            <a:ahLst/>
            <a:cxnLst/>
            <a:rect r="r" b="b" t="t" l="l"/>
            <a:pathLst>
              <a:path h="2044726" w="4608264">
                <a:moveTo>
                  <a:pt x="0" y="0"/>
                </a:moveTo>
                <a:lnTo>
                  <a:pt x="4608264" y="0"/>
                </a:lnTo>
                <a:lnTo>
                  <a:pt x="4608264" y="2044726"/>
                </a:lnTo>
                <a:lnTo>
                  <a:pt x="0" y="2044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7392" y="534033"/>
            <a:ext cx="148780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SITE INSTITUCIONAL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1431" y="1028700"/>
            <a:ext cx="18419431" cy="9258300"/>
          </a:xfrm>
          <a:custGeom>
            <a:avLst/>
            <a:gdLst/>
            <a:ahLst/>
            <a:cxnLst/>
            <a:rect r="r" b="b" t="t" l="l"/>
            <a:pathLst>
              <a:path h="9258300" w="18419431">
                <a:moveTo>
                  <a:pt x="0" y="0"/>
                </a:moveTo>
                <a:lnTo>
                  <a:pt x="18419431" y="0"/>
                </a:lnTo>
                <a:lnTo>
                  <a:pt x="18419431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9" r="0" b="-3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4646" y="171450"/>
            <a:ext cx="1476151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MAPA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407965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97" t="-62971" r="-134602" b="-72731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83" y="1160183"/>
            <a:ext cx="18253635" cy="9126817"/>
          </a:xfrm>
          <a:custGeom>
            <a:avLst/>
            <a:gdLst/>
            <a:ahLst/>
            <a:cxnLst/>
            <a:rect r="r" b="b" t="t" l="l"/>
            <a:pathLst>
              <a:path h="9126817" w="18253635">
                <a:moveTo>
                  <a:pt x="0" y="0"/>
                </a:moveTo>
                <a:lnTo>
                  <a:pt x="18253634" y="0"/>
                </a:lnTo>
                <a:lnTo>
                  <a:pt x="18253634" y="9126817"/>
                </a:lnTo>
                <a:lnTo>
                  <a:pt x="0" y="9126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90783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4" y="0"/>
                </a:lnTo>
                <a:lnTo>
                  <a:pt x="880034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97" t="-62971" r="-134602" b="-7273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4646" y="171450"/>
            <a:ext cx="1476151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ESTADO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28700"/>
            <a:ext cx="18470424" cy="9258300"/>
          </a:xfrm>
          <a:custGeom>
            <a:avLst/>
            <a:gdLst/>
            <a:ahLst/>
            <a:cxnLst/>
            <a:rect r="r" b="b" t="t" l="l"/>
            <a:pathLst>
              <a:path h="9258300" w="18470424">
                <a:moveTo>
                  <a:pt x="0" y="0"/>
                </a:moveTo>
                <a:lnTo>
                  <a:pt x="18470424" y="0"/>
                </a:lnTo>
                <a:lnTo>
                  <a:pt x="1847042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2618" y="200025"/>
            <a:ext cx="1476151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MUNICÍPIO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407965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97" t="-62971" r="-134602" b="-72731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04860" y="0"/>
            <a:ext cx="10383140" cy="10287000"/>
            <a:chOff x="0" y="0"/>
            <a:chExt cx="1608620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8620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08620">
                  <a:moveTo>
                    <a:pt x="0" y="0"/>
                  </a:moveTo>
                  <a:lnTo>
                    <a:pt x="1608620" y="0"/>
                  </a:lnTo>
                  <a:lnTo>
                    <a:pt x="160862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467" r="0" b="-46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8249" y="3902392"/>
            <a:ext cx="7443139" cy="234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23"/>
              </a:lnSpc>
              <a:spcBef>
                <a:spcPct val="0"/>
              </a:spcBef>
            </a:pPr>
            <a:r>
              <a:rPr lang="en-US" b="true" sz="6731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OBRIGADO </a:t>
            </a:r>
            <a:r>
              <a:rPr lang="en-US" b="true" sz="6731">
                <a:solidFill>
                  <a:srgbClr val="FEFEF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PELA ATENÇÃO!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9107" y="895350"/>
            <a:ext cx="5681424" cy="114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14"/>
              </a:lnSpc>
              <a:spcBef>
                <a:spcPct val="0"/>
              </a:spcBef>
            </a:pPr>
            <a:r>
              <a:rPr lang="en-US" b="true" sz="6653">
                <a:solidFill>
                  <a:srgbClr val="EBEB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CONCLUSÃO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952500"/>
            <a:ext cx="16145583" cy="9142436"/>
          </a:xfrm>
          <a:custGeom>
            <a:avLst/>
            <a:gdLst/>
            <a:ahLst/>
            <a:cxnLst/>
            <a:rect r="r" b="b" t="t" l="l"/>
            <a:pathLst>
              <a:path h="9142436" w="16145583">
                <a:moveTo>
                  <a:pt x="0" y="0"/>
                </a:moveTo>
                <a:lnTo>
                  <a:pt x="16145583" y="0"/>
                </a:lnTo>
                <a:lnTo>
                  <a:pt x="16145583" y="9142436"/>
                </a:lnTo>
                <a:lnTo>
                  <a:pt x="0" y="9142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28070" y="7641525"/>
            <a:ext cx="1524863" cy="87709"/>
          </a:xfrm>
          <a:custGeom>
            <a:avLst/>
            <a:gdLst/>
            <a:ahLst/>
            <a:cxnLst/>
            <a:rect r="r" b="b" t="t" l="l"/>
            <a:pathLst>
              <a:path h="87709" w="1524863">
                <a:moveTo>
                  <a:pt x="0" y="0"/>
                </a:moveTo>
                <a:lnTo>
                  <a:pt x="1524863" y="0"/>
                </a:lnTo>
                <a:lnTo>
                  <a:pt x="1524863" y="87710"/>
                </a:lnTo>
                <a:lnTo>
                  <a:pt x="0" y="87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8699" t="-360000" r="-466572" b="-310423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43074" y="7982725"/>
            <a:ext cx="1578749" cy="112879"/>
          </a:xfrm>
          <a:custGeom>
            <a:avLst/>
            <a:gdLst/>
            <a:ahLst/>
            <a:cxnLst/>
            <a:rect r="r" b="b" t="t" l="l"/>
            <a:pathLst>
              <a:path h="112879" w="1578749">
                <a:moveTo>
                  <a:pt x="0" y="0"/>
                </a:moveTo>
                <a:lnTo>
                  <a:pt x="1578749" y="0"/>
                </a:lnTo>
                <a:lnTo>
                  <a:pt x="1578749" y="112879"/>
                </a:lnTo>
                <a:lnTo>
                  <a:pt x="0" y="112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85651" r="-43674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4126" y="333375"/>
            <a:ext cx="1633511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b="true" sz="4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LIÇÕES APRENDIDAS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2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0099" y="3202252"/>
            <a:ext cx="4002120" cy="6056048"/>
            <a:chOff x="0" y="0"/>
            <a:chExt cx="147738" cy="2235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738" cy="223558"/>
            </a:xfrm>
            <a:custGeom>
              <a:avLst/>
              <a:gdLst/>
              <a:ahLst/>
              <a:cxnLst/>
              <a:rect r="r" b="b" t="t" l="l"/>
              <a:pathLst>
                <a:path h="223558" w="147738">
                  <a:moveTo>
                    <a:pt x="0" y="0"/>
                  </a:moveTo>
                  <a:lnTo>
                    <a:pt x="147738" y="0"/>
                  </a:lnTo>
                  <a:lnTo>
                    <a:pt x="147738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7738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389282" y="9374123"/>
            <a:ext cx="880035" cy="912877"/>
          </a:xfrm>
          <a:custGeom>
            <a:avLst/>
            <a:gdLst/>
            <a:ahLst/>
            <a:cxnLst/>
            <a:rect r="r" b="b" t="t" l="l"/>
            <a:pathLst>
              <a:path h="912877" w="880035">
                <a:moveTo>
                  <a:pt x="0" y="0"/>
                </a:moveTo>
                <a:lnTo>
                  <a:pt x="880035" y="0"/>
                </a:lnTo>
                <a:lnTo>
                  <a:pt x="880035" y="912877"/>
                </a:lnTo>
                <a:lnTo>
                  <a:pt x="0" y="91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7" t="-62971" r="-134602" b="-727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473828" y="3202252"/>
            <a:ext cx="4997898" cy="6056048"/>
            <a:chOff x="0" y="0"/>
            <a:chExt cx="6663863" cy="807473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663863" cy="8074730"/>
              <a:chOff x="0" y="0"/>
              <a:chExt cx="184497" cy="22355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84497" cy="223558"/>
              </a:xfrm>
              <a:custGeom>
                <a:avLst/>
                <a:gdLst/>
                <a:ahLst/>
                <a:cxnLst/>
                <a:rect r="r" b="b" t="t" l="l"/>
                <a:pathLst>
                  <a:path h="223558" w="184497">
                    <a:moveTo>
                      <a:pt x="0" y="0"/>
                    </a:moveTo>
                    <a:lnTo>
                      <a:pt x="184497" y="0"/>
                    </a:lnTo>
                    <a:lnTo>
                      <a:pt x="184497" y="223558"/>
                    </a:lnTo>
                    <a:lnTo>
                      <a:pt x="0" y="22355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84497" cy="261658"/>
              </a:xfrm>
              <a:prstGeom prst="rect">
                <a:avLst/>
              </a:prstGeom>
            </p:spPr>
            <p:txBody>
              <a:bodyPr anchor="ctr" rtlCol="false" tIns="362440" lIns="362440" bIns="362440" rIns="36244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590137" y="6181598"/>
              <a:ext cx="5483589" cy="1382701"/>
            </a:xfrm>
            <a:custGeom>
              <a:avLst/>
              <a:gdLst/>
              <a:ahLst/>
              <a:cxnLst/>
              <a:rect r="r" b="b" t="t" l="l"/>
              <a:pathLst>
                <a:path h="1382701" w="5483589">
                  <a:moveTo>
                    <a:pt x="0" y="0"/>
                  </a:moveTo>
                  <a:lnTo>
                    <a:pt x="5483589" y="0"/>
                  </a:lnTo>
                  <a:lnTo>
                    <a:pt x="5483589" y="1382701"/>
                  </a:lnTo>
                  <a:lnTo>
                    <a:pt x="0" y="1382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" t="0" r="-13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69480" y="2597222"/>
              <a:ext cx="4924903" cy="944199"/>
            </a:xfrm>
            <a:custGeom>
              <a:avLst/>
              <a:gdLst/>
              <a:ahLst/>
              <a:cxnLst/>
              <a:rect r="r" b="b" t="t" l="l"/>
              <a:pathLst>
                <a:path h="944199" w="4924903">
                  <a:moveTo>
                    <a:pt x="0" y="0"/>
                  </a:moveTo>
                  <a:lnTo>
                    <a:pt x="4924903" y="0"/>
                  </a:lnTo>
                  <a:lnTo>
                    <a:pt x="4924903" y="944199"/>
                  </a:lnTo>
                  <a:lnTo>
                    <a:pt x="0" y="944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t="0" r="-13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18762" y="510431"/>
              <a:ext cx="5426340" cy="1427068"/>
            </a:xfrm>
            <a:custGeom>
              <a:avLst/>
              <a:gdLst/>
              <a:ahLst/>
              <a:cxnLst/>
              <a:rect r="r" b="b" t="t" l="l"/>
              <a:pathLst>
                <a:path h="1427068" w="5426340">
                  <a:moveTo>
                    <a:pt x="0" y="0"/>
                  </a:moveTo>
                  <a:lnTo>
                    <a:pt x="5426340" y="0"/>
                  </a:lnTo>
                  <a:lnTo>
                    <a:pt x="5426340" y="1427068"/>
                  </a:lnTo>
                  <a:lnTo>
                    <a:pt x="0" y="1427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" t="0" r="-13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68675" y="4112853"/>
              <a:ext cx="4726513" cy="1495910"/>
            </a:xfrm>
            <a:custGeom>
              <a:avLst/>
              <a:gdLst/>
              <a:ahLst/>
              <a:cxnLst/>
              <a:rect r="r" b="b" t="t" l="l"/>
              <a:pathLst>
                <a:path h="1495910" w="4726513">
                  <a:moveTo>
                    <a:pt x="0" y="0"/>
                  </a:moveTo>
                  <a:lnTo>
                    <a:pt x="4726513" y="0"/>
                  </a:lnTo>
                  <a:lnTo>
                    <a:pt x="4726513" y="1495910"/>
                  </a:lnTo>
                  <a:lnTo>
                    <a:pt x="0" y="1495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" t="0" r="-13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53691" y="4916252"/>
            <a:ext cx="3688547" cy="2074807"/>
          </a:xfrm>
          <a:custGeom>
            <a:avLst/>
            <a:gdLst/>
            <a:ahLst/>
            <a:cxnLst/>
            <a:rect r="r" b="b" t="t" l="l"/>
            <a:pathLst>
              <a:path h="2074807" w="3688547">
                <a:moveTo>
                  <a:pt x="0" y="0"/>
                </a:moveTo>
                <a:lnTo>
                  <a:pt x="3688547" y="0"/>
                </a:lnTo>
                <a:lnTo>
                  <a:pt x="3688547" y="2074807"/>
                </a:lnTo>
                <a:lnTo>
                  <a:pt x="0" y="20748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47392" y="534033"/>
            <a:ext cx="930880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AGRADECIMENTOS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725526" y="3202252"/>
            <a:ext cx="4002120" cy="6056048"/>
            <a:chOff x="0" y="0"/>
            <a:chExt cx="147738" cy="2235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7738" cy="223558"/>
            </a:xfrm>
            <a:custGeom>
              <a:avLst/>
              <a:gdLst/>
              <a:ahLst/>
              <a:cxnLst/>
              <a:rect r="r" b="b" t="t" l="l"/>
              <a:pathLst>
                <a:path h="223558" w="147738">
                  <a:moveTo>
                    <a:pt x="0" y="0"/>
                  </a:moveTo>
                  <a:lnTo>
                    <a:pt x="147738" y="0"/>
                  </a:lnTo>
                  <a:lnTo>
                    <a:pt x="147738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7738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3615385" y="4174146"/>
            <a:ext cx="4112260" cy="4112260"/>
          </a:xfrm>
          <a:custGeom>
            <a:avLst/>
            <a:gdLst/>
            <a:ahLst/>
            <a:cxnLst/>
            <a:rect r="r" b="b" t="t" l="l"/>
            <a:pathLst>
              <a:path h="4112260" w="4112260">
                <a:moveTo>
                  <a:pt x="0" y="0"/>
                </a:moveTo>
                <a:lnTo>
                  <a:pt x="4112261" y="0"/>
                </a:lnTo>
                <a:lnTo>
                  <a:pt x="4112261" y="4112260"/>
                </a:lnTo>
                <a:lnTo>
                  <a:pt x="0" y="4112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613265" y="3202252"/>
            <a:ext cx="4002120" cy="6056048"/>
            <a:chOff x="0" y="0"/>
            <a:chExt cx="147738" cy="2235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7738" cy="223558"/>
            </a:xfrm>
            <a:custGeom>
              <a:avLst/>
              <a:gdLst/>
              <a:ahLst/>
              <a:cxnLst/>
              <a:rect r="r" b="b" t="t" l="l"/>
              <a:pathLst>
                <a:path h="223558" w="147738">
                  <a:moveTo>
                    <a:pt x="0" y="0"/>
                  </a:moveTo>
                  <a:lnTo>
                    <a:pt x="147738" y="0"/>
                  </a:lnTo>
                  <a:lnTo>
                    <a:pt x="147738" y="223558"/>
                  </a:lnTo>
                  <a:lnTo>
                    <a:pt x="0" y="2235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7738" cy="261658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016584" y="4099955"/>
            <a:ext cx="3195482" cy="4260643"/>
          </a:xfrm>
          <a:custGeom>
            <a:avLst/>
            <a:gdLst/>
            <a:ahLst/>
            <a:cxnLst/>
            <a:rect r="r" b="b" t="t" l="l"/>
            <a:pathLst>
              <a:path h="4260643" w="3195482">
                <a:moveTo>
                  <a:pt x="0" y="0"/>
                </a:moveTo>
                <a:lnTo>
                  <a:pt x="3195482" y="0"/>
                </a:lnTo>
                <a:lnTo>
                  <a:pt x="3195482" y="4260643"/>
                </a:lnTo>
                <a:lnTo>
                  <a:pt x="0" y="42606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704146" y="3375838"/>
            <a:ext cx="3820358" cy="50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</a:pPr>
            <a:r>
              <a:rPr lang="en-US" sz="297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Elizangela Aranega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DAHB5BjB00s</dc:identifier>
  <dcterms:modified xsi:type="dcterms:W3CDTF">2011-08-01T06:04:30Z</dcterms:modified>
  <cp:revision>1</cp:revision>
  <dc:title>Slide de Apresentação - Safety Intelligence - Sprint 3</dc:title>
</cp:coreProperties>
</file>